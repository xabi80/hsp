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74920"/>
            <a:ext cx="12191695" cy="1783080"/>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10515600" cy="2377440"/>
          </a:xfrm>
          <a:prstGeom prst="rect">
            <a:avLst/>
          </a:prstGeom>
          <a:noFill/>
        </p:spPr>
        <p:txBody>
          <a:bodyPr wrap="square">
            <a:spAutoFit/>
          </a:bodyPr>
          <a:lstStyle/>
          <a:p>
            <a:r>
              <a:rPr sz="1600" b="1">
                <a:solidFill>
                  <a:srgbClr val="0C8B96"/>
                </a:solidFill>
                <a:latin typeface="Segoe UI"/>
              </a:rPr>
              <a:t>PLAIN-ENGLISH SUMMARY</a:t>
            </a:r>
          </a:p>
          <a:p>
            <a:pPr>
              <a:spcBef>
                <a:spcPts val="600"/>
              </a:spcBef>
            </a:pPr>
            <a:r>
              <a:rPr sz="4200" b="1">
                <a:solidFill>
                  <a:srgbClr val="25323A"/>
                </a:solidFill>
                <a:latin typeface="Segoe UI"/>
              </a:rPr>
              <a:t>Will the flume walls spoil
our platform test?</a:t>
            </a:r>
          </a:p>
        </p:txBody>
      </p:sp>
      <p:sp>
        <p:nvSpPr>
          <p:cNvPr id="5" name="TextBox 4"/>
          <p:cNvSpPr txBox="1"/>
          <p:nvPr/>
        </p:nvSpPr>
        <p:spPr>
          <a:xfrm>
            <a:off x="868680" y="5303520"/>
            <a:ext cx="10515600" cy="1280160"/>
          </a:xfrm>
          <a:prstGeom prst="rect">
            <a:avLst/>
          </a:prstGeom>
          <a:noFill/>
        </p:spPr>
        <p:txBody>
          <a:bodyPr wrap="square">
            <a:spAutoFit/>
          </a:bodyPr>
          <a:lstStyle/>
          <a:p>
            <a:r>
              <a:rPr sz="2000" b="1">
                <a:solidFill>
                  <a:srgbClr val="FFFFFF"/>
                </a:solidFill>
                <a:latin typeface="Segoe UI"/>
              </a:rPr>
              <a:t>Short answer: no. The 2.4 m, 16-buoy platform is fine in the OSU wave flume.</a:t>
            </a:r>
          </a:p>
          <a:p>
            <a:r>
              <a:rPr sz="1400">
                <a:solidFill>
                  <a:srgbClr val="EEF6F7"/>
                </a:solidFill>
                <a:latin typeface="Segoe UI"/>
              </a:rPr>
              <a:t>Here is the concern, how we checked it, and what we found — in simple terms.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THE QUESTION</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The concern a reviewer raised</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lume_blockage_rot45_sq2p4.png"/>
          <p:cNvPicPr>
            <a:picLocks noChangeAspect="1"/>
          </p:cNvPicPr>
          <p:nvPr/>
        </p:nvPicPr>
        <p:blipFill>
          <a:blip r:embed="rId2"/>
          <a:stretch>
            <a:fillRect/>
          </a:stretch>
        </p:blipFill>
        <p:spPr>
          <a:xfrm>
            <a:off x="6537960" y="1691640"/>
            <a:ext cx="4041669" cy="4206240"/>
          </a:xfrm>
          <a:prstGeom prst="rect">
            <a:avLst/>
          </a:prstGeom>
        </p:spPr>
      </p:pic>
      <p:sp>
        <p:nvSpPr>
          <p:cNvPr id="6" name="TextBox 5"/>
          <p:cNvSpPr txBox="1"/>
          <p:nvPr/>
        </p:nvSpPr>
        <p:spPr>
          <a:xfrm>
            <a:off x="777240" y="1920240"/>
            <a:ext cx="5669280" cy="4572000"/>
          </a:xfrm>
          <a:prstGeom prst="rect">
            <a:avLst/>
          </a:prstGeom>
          <a:noFill/>
        </p:spPr>
        <p:txBody>
          <a:bodyPr wrap="square">
            <a:spAutoFit/>
          </a:bodyPr>
          <a:lstStyle/>
          <a:p>
            <a:pPr>
              <a:spcBef>
                <a:spcPts val="200"/>
              </a:spcBef>
              <a:spcAft>
                <a:spcPts val="1400"/>
              </a:spcAft>
            </a:pPr>
            <a:r>
              <a:rPr sz="1900">
                <a:solidFill>
                  <a:srgbClr val="0C8B96"/>
                </a:solidFill>
                <a:latin typeface="Segoe UI"/>
              </a:rPr>
              <a:t>•  </a:t>
            </a:r>
            <a:r>
              <a:rPr sz="1900" b="0" i="0">
                <a:solidFill>
                  <a:srgbClr val="25323A"/>
                </a:solidFill>
                <a:latin typeface="Segoe UI"/>
              </a:rPr>
              <a:t>We want to test a floating platform — 16 buoys on a 2.4 m square frame — in OSU's wave flume (a long tank, </a:t>
            </a:r>
            <a:r>
              <a:rPr sz="1900" b="1" i="0">
                <a:solidFill>
                  <a:srgbClr val="25323A"/>
                </a:solidFill>
                <a:latin typeface="Segoe UI"/>
              </a:rPr>
              <a:t>3.66 m wide</a:t>
            </a:r>
            <a:r>
              <a:rPr sz="1900" b="0" i="0">
                <a:solidFill>
                  <a:srgbClr val="25323A"/>
                </a:solidFill>
                <a:latin typeface="Segoe UI"/>
              </a:rPr>
              <a:t>).</a:t>
            </a:r>
          </a:p>
          <a:p>
            <a:pPr>
              <a:spcBef>
                <a:spcPts val="200"/>
              </a:spcBef>
              <a:spcAft>
                <a:spcPts val="1400"/>
              </a:spcAft>
            </a:pPr>
            <a:r>
              <a:rPr sz="1900">
                <a:solidFill>
                  <a:srgbClr val="0C8B96"/>
                </a:solidFill>
                <a:latin typeface="Segoe UI"/>
              </a:rPr>
              <a:t>•  </a:t>
            </a:r>
            <a:r>
              <a:rPr sz="1900" b="0" i="0">
                <a:solidFill>
                  <a:srgbClr val="25323A"/>
                </a:solidFill>
                <a:latin typeface="Segoe UI"/>
              </a:rPr>
              <a:t>It sits square to the tank in the middle, about half a metre (0.49 m) from each wall. A reviewer worried:</a:t>
            </a:r>
          </a:p>
          <a:p>
            <a:pPr lvl="1">
              <a:spcBef>
                <a:spcPts val="200"/>
              </a:spcBef>
              <a:spcAft>
                <a:spcPts val="1400"/>
              </a:spcAft>
            </a:pPr>
            <a:r>
              <a:rPr sz="1600">
                <a:solidFill>
                  <a:srgbClr val="54636D"/>
                </a:solidFill>
                <a:latin typeface="Segoe UI"/>
              </a:rPr>
              <a:t>      –  </a:t>
            </a:r>
            <a:r>
              <a:rPr sz="1600" b="0" i="1">
                <a:solidFill>
                  <a:srgbClr val="0A5560"/>
                </a:solidFill>
                <a:latin typeface="Segoe UI"/>
              </a:rPr>
              <a:t>“the platform makes waves, they bounce off the side walls, come back, and corrupt the measured data.”</a:t>
            </a:r>
          </a:p>
          <a:p>
            <a:pPr>
              <a:spcBef>
                <a:spcPts val="200"/>
              </a:spcBef>
              <a:spcAft>
                <a:spcPts val="1400"/>
              </a:spcAft>
            </a:pPr>
            <a:r>
              <a:rPr sz="1900">
                <a:solidFill>
                  <a:srgbClr val="0C8B96"/>
                </a:solidFill>
                <a:latin typeface="Segoe UI"/>
              </a:rPr>
              <a:t>•  </a:t>
            </a:r>
            <a:r>
              <a:rPr sz="1900" b="1" i="0">
                <a:solidFill>
                  <a:srgbClr val="25323A"/>
                </a:solidFill>
                <a:latin typeface="Segoe UI"/>
              </a:rPr>
              <a:t>Fair question. So we tested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WHY IT'S OK</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The key idea — our platform barely makes waves</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10698480" cy="4572000"/>
          </a:xfrm>
          <a:prstGeom prst="rect">
            <a:avLst/>
          </a:prstGeom>
          <a:noFill/>
        </p:spPr>
        <p:txBody>
          <a:bodyPr wrap="square">
            <a:spAutoFit/>
          </a:bodyPr>
          <a:lstStyle/>
          <a:p>
            <a:pPr>
              <a:spcBef>
                <a:spcPts val="200"/>
              </a:spcBef>
              <a:spcAft>
                <a:spcPts val="1600"/>
              </a:spcAft>
            </a:pPr>
            <a:r>
              <a:rPr sz="1900">
                <a:solidFill>
                  <a:srgbClr val="0C8B96"/>
                </a:solidFill>
                <a:latin typeface="Segoe UI"/>
              </a:rPr>
              <a:t>•  </a:t>
            </a:r>
            <a:r>
              <a:rPr sz="1900" b="0" i="0">
                <a:solidFill>
                  <a:srgbClr val="25323A"/>
                </a:solidFill>
                <a:latin typeface="Segoe UI"/>
              </a:rPr>
              <a:t>“Wall reflections” only matter if the platform </a:t>
            </a:r>
            <a:r>
              <a:rPr sz="1900" b="1" i="0">
                <a:solidFill>
                  <a:srgbClr val="25323A"/>
                </a:solidFill>
                <a:latin typeface="Segoe UI"/>
              </a:rPr>
              <a:t>makes strong waves</a:t>
            </a:r>
            <a:r>
              <a:rPr sz="1900" b="0" i="0">
                <a:solidFill>
                  <a:srgbClr val="25323A"/>
                </a:solidFill>
                <a:latin typeface="Segoe UI"/>
              </a:rPr>
              <a:t> to reflect.</a:t>
            </a:r>
          </a:p>
          <a:p>
            <a:pPr>
              <a:spcBef>
                <a:spcPts val="200"/>
              </a:spcBef>
              <a:spcAft>
                <a:spcPts val="1600"/>
              </a:spcAft>
            </a:pPr>
            <a:r>
              <a:rPr sz="1900">
                <a:solidFill>
                  <a:srgbClr val="0C8B96"/>
                </a:solidFill>
                <a:latin typeface="Segoe UI"/>
              </a:rPr>
              <a:t>•  </a:t>
            </a:r>
            <a:r>
              <a:rPr sz="1900" b="0" i="0">
                <a:solidFill>
                  <a:srgbClr val="25323A"/>
                </a:solidFill>
                <a:latin typeface="Segoe UI"/>
              </a:rPr>
              <a:t>Ours doesn't. It's a sparse cluster of </a:t>
            </a:r>
            <a:r>
              <a:rPr sz="1900" b="1" i="0">
                <a:solidFill>
                  <a:srgbClr val="25323A"/>
                </a:solidFill>
                <a:latin typeface="Segoe UI"/>
              </a:rPr>
              <a:t>thin floats with drag plates</a:t>
            </a:r>
            <a:r>
              <a:rPr sz="1900" b="0" i="0">
                <a:solidFill>
                  <a:srgbClr val="25323A"/>
                </a:solidFill>
                <a:latin typeface="Segoe UI"/>
              </a:rPr>
              <a:t> — a </a:t>
            </a:r>
            <a:r>
              <a:rPr sz="1900" b="1" i="0">
                <a:solidFill>
                  <a:srgbClr val="0A5560"/>
                </a:solidFill>
                <a:latin typeface="Segoe UI"/>
              </a:rPr>
              <a:t>poor wavemaker</a:t>
            </a:r>
            <a:r>
              <a:rPr sz="1900" b="0" i="0">
                <a:solidFill>
                  <a:srgbClr val="25323A"/>
                </a:solidFill>
                <a:latin typeface="Segoe UI"/>
              </a:rPr>
              <a:t>.</a:t>
            </a:r>
          </a:p>
          <a:p>
            <a:pPr>
              <a:spcBef>
                <a:spcPts val="200"/>
              </a:spcBef>
              <a:spcAft>
                <a:spcPts val="1600"/>
              </a:spcAft>
            </a:pPr>
            <a:r>
              <a:rPr sz="1900">
                <a:solidFill>
                  <a:srgbClr val="0C8B96"/>
                </a:solidFill>
                <a:latin typeface="Segoe UI"/>
              </a:rPr>
              <a:t>•  </a:t>
            </a:r>
            <a:r>
              <a:rPr sz="1900" b="0" i="0">
                <a:solidFill>
                  <a:srgbClr val="25323A"/>
                </a:solidFill>
                <a:latin typeface="Segoe UI"/>
              </a:rPr>
              <a:t>When it bobs, almost all its energy goes into </a:t>
            </a:r>
            <a:r>
              <a:rPr sz="1900" b="1" i="0">
                <a:solidFill>
                  <a:srgbClr val="25323A"/>
                </a:solidFill>
                <a:latin typeface="Segoe UI"/>
              </a:rPr>
              <a:t>water friction (drag)</a:t>
            </a:r>
            <a:r>
              <a:rPr sz="1900" b="0" i="0">
                <a:solidFill>
                  <a:srgbClr val="25323A"/>
                </a:solidFill>
                <a:latin typeface="Segoe UI"/>
              </a:rPr>
              <a:t>, not into radiated waves.</a:t>
            </a:r>
          </a:p>
          <a:p>
            <a:pPr>
              <a:spcBef>
                <a:spcPts val="200"/>
              </a:spcBef>
              <a:spcAft>
                <a:spcPts val="1600"/>
              </a:spcAft>
            </a:pPr>
            <a:r>
              <a:rPr sz="1900">
                <a:solidFill>
                  <a:srgbClr val="0C8B96"/>
                </a:solidFill>
                <a:latin typeface="Segoe UI"/>
              </a:rPr>
              <a:t>•  </a:t>
            </a:r>
            <a:r>
              <a:rPr sz="1900" b="0" i="0">
                <a:solidFill>
                  <a:srgbClr val="25323A"/>
                </a:solidFill>
                <a:latin typeface="Segoe UI"/>
              </a:rPr>
              <a:t>No waves out → </a:t>
            </a:r>
            <a:r>
              <a:rPr sz="1900" b="1" i="0">
                <a:solidFill>
                  <a:srgbClr val="0A5560"/>
                </a:solidFill>
                <a:latin typeface="Segoe UI"/>
              </a:rPr>
              <a:t>nothing to bounce off the walls and come back</a:t>
            </a:r>
            <a:r>
              <a:rPr sz="1900" b="0" i="0">
                <a:solidFill>
                  <a:srgbClr val="25323A"/>
                </a:solidFill>
                <a:latin typeface="Segoe UI"/>
              </a:rPr>
              <a:t>. That's the whole story.</a:t>
            </a:r>
          </a:p>
        </p:txBody>
      </p:sp>
      <p:sp>
        <p:nvSpPr>
          <p:cNvPr id="6" name="Rectangle 5"/>
          <p:cNvSpPr/>
          <p:nvPr/>
        </p:nvSpPr>
        <p:spPr>
          <a:xfrm>
            <a:off x="777240" y="5989320"/>
            <a:ext cx="10607040" cy="73152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6025896"/>
            <a:ext cx="10241280" cy="658368"/>
          </a:xfrm>
          <a:prstGeom prst="rect">
            <a:avLst/>
          </a:prstGeom>
          <a:noFill/>
        </p:spPr>
        <p:txBody>
          <a:bodyPr wrap="square" anchor="ctr">
            <a:spAutoFit/>
          </a:bodyPr>
          <a:lstStyle/>
          <a:p>
            <a:pPr algn="ctr"/>
            <a:r>
              <a:rPr sz="1400" b="0" i="0">
                <a:solidFill>
                  <a:srgbClr val="25323A"/>
                </a:solidFill>
                <a:latin typeface="Segoe UI"/>
              </a:rPr>
              <a:t>In numbers: only about </a:t>
            </a:r>
            <a:r>
              <a:rPr sz="1400" b="1" i="0">
                <a:solidFill>
                  <a:srgbClr val="0A5560"/>
                </a:solidFill>
                <a:latin typeface="Segoe UI"/>
              </a:rPr>
              <a:t>6–7% </a:t>
            </a:r>
            <a:r>
              <a:rPr sz="1400" b="0" i="0">
                <a:solidFill>
                  <a:srgbClr val="25323A"/>
                </a:solidFill>
                <a:latin typeface="Segoe UI"/>
              </a:rPr>
              <a:t>of the bobbing energy leaves as waves — the rest is friction. So even perfect wall reflections could barely touch the result.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THE METHOD</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How we checked it — three ways, each more thorough</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10698480" cy="4572000"/>
          </a:xfrm>
          <a:prstGeom prst="rect">
            <a:avLst/>
          </a:prstGeom>
          <a:noFill/>
        </p:spPr>
        <p:txBody>
          <a:bodyPr wrap="square">
            <a:spAutoFit/>
          </a:bodyPr>
          <a:lstStyle/>
          <a:p>
            <a:pPr>
              <a:spcBef>
                <a:spcPts val="200"/>
              </a:spcBef>
              <a:spcAft>
                <a:spcPts val="1600"/>
              </a:spcAft>
            </a:pPr>
            <a:r>
              <a:rPr sz="1900">
                <a:solidFill>
                  <a:srgbClr val="0C8B96"/>
                </a:solidFill>
                <a:latin typeface="Segoe UI"/>
              </a:rPr>
              <a:t>•  </a:t>
            </a:r>
            <a:r>
              <a:rPr sz="1900" b="1" i="0">
                <a:solidFill>
                  <a:srgbClr val="0A5560"/>
                </a:solidFill>
                <a:latin typeface="Segoe UI"/>
              </a:rPr>
              <a:t>1.  Pen-and-paper physics</a:t>
            </a:r>
            <a:r>
              <a:rPr sz="1900" b="0" i="0">
                <a:solidFill>
                  <a:srgbClr val="25323A"/>
                </a:solidFill>
                <a:latin typeface="Segoe UI"/>
              </a:rPr>
              <a:t> — where reflections could build up, and by how much.</a:t>
            </a:r>
          </a:p>
          <a:p>
            <a:pPr>
              <a:spcBef>
                <a:spcPts val="200"/>
              </a:spcBef>
              <a:spcAft>
                <a:spcPts val="1600"/>
              </a:spcAft>
            </a:pPr>
            <a:r>
              <a:rPr sz="1900">
                <a:solidFill>
                  <a:srgbClr val="0C8B96"/>
                </a:solidFill>
                <a:latin typeface="Segoe UI"/>
              </a:rPr>
              <a:t>•  </a:t>
            </a:r>
            <a:r>
              <a:rPr sz="1900" b="1" i="0">
                <a:solidFill>
                  <a:srgbClr val="0A5560"/>
                </a:solidFill>
                <a:latin typeface="Segoe UI"/>
              </a:rPr>
              <a:t>2.  A computer flow-simulation of one buoy</a:t>
            </a:r>
            <a:r>
              <a:rPr sz="1900" b="0" i="0">
                <a:solidFill>
                  <a:srgbClr val="25323A"/>
                </a:solidFill>
                <a:latin typeface="Segoe UI"/>
              </a:rPr>
              <a:t>, with and without the walls.</a:t>
            </a:r>
          </a:p>
          <a:p>
            <a:pPr>
              <a:spcBef>
                <a:spcPts val="200"/>
              </a:spcBef>
              <a:spcAft>
                <a:spcPts val="1600"/>
              </a:spcAft>
            </a:pPr>
            <a:r>
              <a:rPr sz="1900">
                <a:solidFill>
                  <a:srgbClr val="0C8B96"/>
                </a:solidFill>
                <a:latin typeface="Segoe UI"/>
              </a:rPr>
              <a:t>•  </a:t>
            </a:r>
            <a:r>
              <a:rPr sz="1900" b="1" i="0">
                <a:solidFill>
                  <a:srgbClr val="0A5560"/>
                </a:solidFill>
                <a:latin typeface="Segoe UI"/>
              </a:rPr>
              <a:t>3.  A full simulation of the whole 21-piece platform</a:t>
            </a:r>
            <a:r>
              <a:rPr sz="1900" b="0" i="0">
                <a:solidFill>
                  <a:srgbClr val="25323A"/>
                </a:solidFill>
                <a:latin typeface="Segoe UI"/>
              </a:rPr>
              <a:t> inside the flume — every buoy, every joint, the real drag — walls in vs walls out.</a:t>
            </a:r>
          </a:p>
          <a:p>
            <a:pPr>
              <a:spcBef>
                <a:spcPts val="200"/>
              </a:spcBef>
              <a:spcAft>
                <a:spcPts val="1600"/>
              </a:spcAft>
            </a:pPr>
            <a:r>
              <a:rPr sz="1900">
                <a:solidFill>
                  <a:srgbClr val="0C8B96"/>
                </a:solidFill>
                <a:latin typeface="Segoe UI"/>
              </a:rPr>
              <a:t>•  </a:t>
            </a:r>
            <a:r>
              <a:rPr sz="1900" b="0" i="0">
                <a:solidFill>
                  <a:srgbClr val="25323A"/>
                </a:solidFill>
                <a:latin typeface="Segoe UI"/>
              </a:rPr>
              <a:t>The full-platform model (3) is the one we trust; the simpler checks point the same way near the platform's natural bobbing period.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THE MODEL</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What is the “21-piece” platform?</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20240"/>
            <a:ext cx="10698480" cy="4572000"/>
          </a:xfrm>
          <a:prstGeom prst="rect">
            <a:avLst/>
          </a:prstGeom>
          <a:noFill/>
        </p:spPr>
        <p:txBody>
          <a:bodyPr wrap="square">
            <a:spAutoFit/>
          </a:bodyPr>
          <a:lstStyle/>
          <a:p>
            <a:pPr>
              <a:spcBef>
                <a:spcPts val="200"/>
              </a:spcBef>
              <a:spcAft>
                <a:spcPts val="1300"/>
              </a:spcAft>
            </a:pPr>
            <a:r>
              <a:rPr sz="1900">
                <a:solidFill>
                  <a:srgbClr val="0C8B96"/>
                </a:solidFill>
                <a:latin typeface="Segoe UI"/>
              </a:rPr>
              <a:t>•  </a:t>
            </a:r>
            <a:r>
              <a:rPr sz="1900" b="0" i="0">
                <a:solidFill>
                  <a:srgbClr val="25323A"/>
                </a:solidFill>
                <a:latin typeface="Segoe UI"/>
              </a:rPr>
              <a:t>The platform is not one solid raft — it's an </a:t>
            </a:r>
            <a:r>
              <a:rPr sz="1900" b="1" i="0">
                <a:solidFill>
                  <a:srgbClr val="25323A"/>
                </a:solidFill>
                <a:latin typeface="Segoe UI"/>
              </a:rPr>
              <a:t>articulated (jointed) structure</a:t>
            </a:r>
            <a:r>
              <a:rPr sz="1900" b="0" i="0">
                <a:solidFill>
                  <a:srgbClr val="25323A"/>
                </a:solidFill>
                <a:latin typeface="Segoe UI"/>
              </a:rPr>
              <a:t>:</a:t>
            </a:r>
          </a:p>
          <a:p>
            <a:pPr lvl="1">
              <a:spcBef>
                <a:spcPts val="200"/>
              </a:spcBef>
              <a:spcAft>
                <a:spcPts val="1300"/>
              </a:spcAft>
            </a:pPr>
            <a:r>
              <a:rPr sz="1600">
                <a:solidFill>
                  <a:srgbClr val="54636D"/>
                </a:solidFill>
                <a:latin typeface="Segoe UI"/>
              </a:rPr>
              <a:t>      –  </a:t>
            </a:r>
            <a:r>
              <a:rPr sz="1600" b="1" i="0">
                <a:solidFill>
                  <a:srgbClr val="0A5560"/>
                </a:solidFill>
                <a:latin typeface="Segoe UI"/>
              </a:rPr>
              <a:t>16 buoys</a:t>
            </a:r>
            <a:r>
              <a:rPr sz="1600" b="0" i="0">
                <a:solidFill>
                  <a:srgbClr val="25323A"/>
                </a:solidFill>
                <a:latin typeface="Segoe UI"/>
              </a:rPr>
              <a:t> — the floats (spar + drag plate)</a:t>
            </a:r>
          </a:p>
          <a:p>
            <a:pPr lvl="1">
              <a:spcBef>
                <a:spcPts val="200"/>
              </a:spcBef>
              <a:spcAft>
                <a:spcPts val="1300"/>
              </a:spcAft>
            </a:pPr>
            <a:r>
              <a:rPr sz="1600">
                <a:solidFill>
                  <a:srgbClr val="54636D"/>
                </a:solidFill>
                <a:latin typeface="Segoe UI"/>
              </a:rPr>
              <a:t>      –  </a:t>
            </a:r>
            <a:r>
              <a:rPr sz="1600" b="1" i="0">
                <a:solidFill>
                  <a:srgbClr val="0A5560"/>
                </a:solidFill>
                <a:latin typeface="Segoe UI"/>
              </a:rPr>
              <a:t>4 cluster hubs</a:t>
            </a:r>
            <a:r>
              <a:rPr sz="1600" b="0" i="0">
                <a:solidFill>
                  <a:srgbClr val="25323A"/>
                </a:solidFill>
                <a:latin typeface="Segoe UI"/>
              </a:rPr>
              <a:t> — each holds 4 buoys on gimbal pins</a:t>
            </a:r>
          </a:p>
          <a:p>
            <a:pPr lvl="1">
              <a:spcBef>
                <a:spcPts val="200"/>
              </a:spcBef>
              <a:spcAft>
                <a:spcPts val="1300"/>
              </a:spcAft>
            </a:pPr>
            <a:r>
              <a:rPr sz="1600">
                <a:solidFill>
                  <a:srgbClr val="54636D"/>
                </a:solidFill>
                <a:latin typeface="Segoe UI"/>
              </a:rPr>
              <a:t>      –  </a:t>
            </a:r>
            <a:r>
              <a:rPr sz="1600" b="1" i="0">
                <a:solidFill>
                  <a:srgbClr val="0A5560"/>
                </a:solidFill>
                <a:latin typeface="Segoe UI"/>
              </a:rPr>
              <a:t>1 central deck</a:t>
            </a:r>
            <a:r>
              <a:rPr sz="1600" b="0" i="0">
                <a:solidFill>
                  <a:srgbClr val="25323A"/>
                </a:solidFill>
                <a:latin typeface="Segoe UI"/>
              </a:rPr>
              <a:t> — the 4 arms connect to it</a:t>
            </a:r>
          </a:p>
          <a:p>
            <a:pPr>
              <a:spcBef>
                <a:spcPts val="200"/>
              </a:spcBef>
              <a:spcAft>
                <a:spcPts val="1300"/>
              </a:spcAft>
            </a:pPr>
            <a:r>
              <a:rPr sz="1900">
                <a:solidFill>
                  <a:srgbClr val="0C8B96"/>
                </a:solidFill>
                <a:latin typeface="Segoe UI"/>
              </a:rPr>
              <a:t>•  </a:t>
            </a:r>
            <a:r>
              <a:rPr sz="1900" b="0" i="0">
                <a:solidFill>
                  <a:srgbClr val="25323A"/>
                </a:solidFill>
                <a:latin typeface="Segoe UI"/>
              </a:rPr>
              <a:t>16 + 4 + 1 = </a:t>
            </a:r>
            <a:r>
              <a:rPr sz="1900" b="1" i="0">
                <a:solidFill>
                  <a:srgbClr val="25323A"/>
                </a:solidFill>
                <a:latin typeface="Segoe UI"/>
              </a:rPr>
              <a:t>21 pieces</a:t>
            </a:r>
            <a:r>
              <a:rPr sz="1900" b="0" i="0">
                <a:solidFill>
                  <a:srgbClr val="25323A"/>
                </a:solidFill>
                <a:latin typeface="Segoe UI"/>
              </a:rPr>
              <a:t>. The </a:t>
            </a:r>
            <a:r>
              <a:rPr sz="1900" b="1" i="0">
                <a:solidFill>
                  <a:srgbClr val="0A5560"/>
                </a:solidFill>
                <a:latin typeface="Segoe UI"/>
              </a:rPr>
              <a:t>gimbal pins</a:t>
            </a:r>
            <a:r>
              <a:rPr sz="1900" b="0" i="0">
                <a:solidFill>
                  <a:srgbClr val="25323A"/>
                </a:solidFill>
                <a:latin typeface="Segoe UI"/>
              </a:rPr>
              <a:t> let each buoy tilt on its own — that's why we model all 21, not one rigid block.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RESULTS</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Result 1 — the up-and-down bobbing</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10698480" cy="4572000"/>
          </a:xfrm>
          <a:prstGeom prst="rect">
            <a:avLst/>
          </a:prstGeom>
          <a:noFill/>
        </p:spPr>
        <p:txBody>
          <a:bodyPr wrap="square">
            <a:spAutoFit/>
          </a:bodyPr>
          <a:lstStyle/>
          <a:p>
            <a:pPr>
              <a:spcBef>
                <a:spcPts val="200"/>
              </a:spcBef>
              <a:spcAft>
                <a:spcPts val="1500"/>
              </a:spcAft>
            </a:pPr>
            <a:r>
              <a:rPr sz="1900">
                <a:solidFill>
                  <a:srgbClr val="0C8B96"/>
                </a:solidFill>
                <a:latin typeface="Segoe UI"/>
              </a:rPr>
              <a:t>•  </a:t>
            </a:r>
            <a:r>
              <a:rPr sz="1900" b="0" i="0">
                <a:solidFill>
                  <a:srgbClr val="25323A"/>
                </a:solidFill>
                <a:latin typeface="Segoe UI"/>
              </a:rPr>
              <a:t>We push the platform down and let it bob back (a “free-decay” test).</a:t>
            </a:r>
          </a:p>
          <a:p>
            <a:pPr>
              <a:spcBef>
                <a:spcPts val="200"/>
              </a:spcBef>
              <a:spcAft>
                <a:spcPts val="1500"/>
              </a:spcAft>
            </a:pPr>
            <a:r>
              <a:rPr sz="1900">
                <a:solidFill>
                  <a:srgbClr val="0C8B96"/>
                </a:solidFill>
                <a:latin typeface="Segoe UI"/>
              </a:rPr>
              <a:t>•  </a:t>
            </a:r>
            <a:r>
              <a:rPr sz="1900" b="0" i="0">
                <a:solidFill>
                  <a:srgbClr val="25323A"/>
                </a:solidFill>
                <a:latin typeface="Segoe UI"/>
              </a:rPr>
              <a:t>With the walls in vs out, the bobbing </a:t>
            </a:r>
            <a:r>
              <a:rPr sz="1900" b="1" i="0">
                <a:solidFill>
                  <a:srgbClr val="0A5560"/>
                </a:solidFill>
                <a:latin typeface="Segoe UI"/>
              </a:rPr>
              <a:t>speed changes by about half a percent</a:t>
            </a:r>
            <a:r>
              <a:rPr sz="1900" b="0" i="0">
                <a:solidFill>
                  <a:srgbClr val="25323A"/>
                </a:solidFill>
                <a:latin typeface="Segoe UI"/>
              </a:rPr>
              <a:t> …</a:t>
            </a:r>
          </a:p>
          <a:p>
            <a:pPr>
              <a:spcBef>
                <a:spcPts val="200"/>
              </a:spcBef>
              <a:spcAft>
                <a:spcPts val="1500"/>
              </a:spcAft>
            </a:pPr>
            <a:r>
              <a:rPr sz="1900">
                <a:solidFill>
                  <a:srgbClr val="0C8B96"/>
                </a:solidFill>
                <a:latin typeface="Segoe UI"/>
              </a:rPr>
              <a:t>•  </a:t>
            </a:r>
            <a:r>
              <a:rPr sz="1900" b="0" i="0">
                <a:solidFill>
                  <a:srgbClr val="25323A"/>
                </a:solidFill>
                <a:latin typeface="Segoe UI"/>
              </a:rPr>
              <a:t>… and </a:t>
            </a:r>
            <a:r>
              <a:rPr sz="1900" b="1" i="0">
                <a:solidFill>
                  <a:srgbClr val="0A5560"/>
                </a:solidFill>
                <a:latin typeface="Segoe UI"/>
              </a:rPr>
              <a:t>how fast it settles doesn't change at all</a:t>
            </a:r>
            <a:r>
              <a:rPr sz="1900" b="0" i="0">
                <a:solidFill>
                  <a:srgbClr val="25323A"/>
                </a:solidFill>
                <a:latin typeface="Segoe UI"/>
              </a:rPr>
              <a:t> (the friction is unchanged by the walls).</a:t>
            </a:r>
          </a:p>
          <a:p>
            <a:pPr>
              <a:spcBef>
                <a:spcPts val="200"/>
              </a:spcBef>
              <a:spcAft>
                <a:spcPts val="1500"/>
              </a:spcAft>
            </a:pPr>
            <a:r>
              <a:rPr sz="1900">
                <a:solidFill>
                  <a:srgbClr val="0C8B96"/>
                </a:solidFill>
                <a:latin typeface="Segoe UI"/>
              </a:rPr>
              <a:t>•  </a:t>
            </a:r>
            <a:r>
              <a:rPr sz="1900" b="0" i="0">
                <a:solidFill>
                  <a:srgbClr val="25323A"/>
                </a:solidFill>
                <a:latin typeface="Segoe UI"/>
              </a:rPr>
              <a:t>The buoys' tilting on their gimbals is </a:t>
            </a:r>
            <a:r>
              <a:rPr sz="1900" b="1" i="0">
                <a:solidFill>
                  <a:srgbClr val="25323A"/>
                </a:solidFill>
                <a:latin typeface="Segoe UI"/>
              </a:rPr>
              <a:t>barely affected</a:t>
            </a:r>
            <a:r>
              <a:rPr sz="1900" b="0" i="0">
                <a:solidFill>
                  <a:srgbClr val="25323A"/>
                </a:solidFill>
                <a:latin typeface="Segoe UI"/>
              </a:rPr>
              <a:t> too.</a:t>
            </a:r>
          </a:p>
        </p:txBody>
      </p:sp>
      <p:sp>
        <p:nvSpPr>
          <p:cNvPr id="6" name="Rectangle 5"/>
          <p:cNvSpPr/>
          <p:nvPr/>
        </p:nvSpPr>
        <p:spPr>
          <a:xfrm>
            <a:off x="777240" y="5989320"/>
            <a:ext cx="10607040" cy="73152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6025896"/>
            <a:ext cx="10241280" cy="658368"/>
          </a:xfrm>
          <a:prstGeom prst="rect">
            <a:avLst/>
          </a:prstGeom>
          <a:noFill/>
        </p:spPr>
        <p:txBody>
          <a:bodyPr wrap="square" anchor="ctr">
            <a:spAutoFit/>
          </a:bodyPr>
          <a:lstStyle/>
          <a:p>
            <a:pPr algn="ctr"/>
            <a:r>
              <a:rPr sz="1400" b="0" i="0">
                <a:solidFill>
                  <a:srgbClr val="25323A"/>
                </a:solidFill>
                <a:latin typeface="Segoe UI"/>
              </a:rPr>
              <a:t>Half a percent is far smaller than the </a:t>
            </a:r>
            <a:r>
              <a:rPr sz="1400" b="1" i="0">
                <a:solidFill>
                  <a:srgbClr val="0A5560"/>
                </a:solidFill>
                <a:latin typeface="Segoe UI"/>
              </a:rPr>
              <a:t>±3–5% you'd expect just from run-to-run scatter</a:t>
            </a:r>
            <a:r>
              <a:rPr sz="1400" b="0" i="0">
                <a:solidFill>
                  <a:srgbClr val="25323A"/>
                </a:solidFill>
                <a:latin typeface="Segoe UI"/>
              </a:rPr>
              <a:t> in a physical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RESULTS</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Result 2 — the response to waves</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ticulated_summary_rot45_sq2p4.png"/>
          <p:cNvPicPr>
            <a:picLocks noChangeAspect="1"/>
          </p:cNvPicPr>
          <p:nvPr/>
        </p:nvPicPr>
        <p:blipFill>
          <a:blip r:embed="rId2"/>
          <a:stretch>
            <a:fillRect/>
          </a:stretch>
        </p:blipFill>
        <p:spPr>
          <a:xfrm>
            <a:off x="960120" y="1691640"/>
            <a:ext cx="10241280" cy="3790781"/>
          </a:xfrm>
          <a:prstGeom prst="rect">
            <a:avLst/>
          </a:prstGeom>
        </p:spPr>
      </p:pic>
      <p:sp>
        <p:nvSpPr>
          <p:cNvPr id="6" name="Rectangle 5"/>
          <p:cNvSpPr/>
          <p:nvPr/>
        </p:nvSpPr>
        <p:spPr>
          <a:xfrm>
            <a:off x="777240" y="5897880"/>
            <a:ext cx="10607040" cy="73152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934456"/>
            <a:ext cx="10241280" cy="658368"/>
          </a:xfrm>
          <a:prstGeom prst="rect">
            <a:avLst/>
          </a:prstGeom>
          <a:noFill/>
        </p:spPr>
        <p:txBody>
          <a:bodyPr wrap="square" anchor="ctr">
            <a:spAutoFit/>
          </a:bodyPr>
          <a:lstStyle/>
          <a:p>
            <a:pPr algn="ctr"/>
            <a:r>
              <a:rPr sz="1300" b="0" i="0">
                <a:solidFill>
                  <a:srgbClr val="25323A"/>
                </a:solidFill>
                <a:latin typeface="Segoe UI"/>
              </a:rPr>
              <a:t>Across every wave period we'll test, the full articulated-platform simulation shows the walls change the response by </a:t>
            </a:r>
            <a:r>
              <a:rPr sz="1300" b="1" i="0">
                <a:solidFill>
                  <a:srgbClr val="0A5560"/>
                </a:solidFill>
                <a:latin typeface="Segoe UI"/>
              </a:rPr>
              <a:t>at most about 3%</a:t>
            </a:r>
            <a:r>
              <a:rPr sz="1300" b="0" i="0">
                <a:solidFill>
                  <a:srgbClr val="25323A"/>
                </a:solidFill>
                <a:latin typeface="Segoe UI"/>
              </a:rPr>
              <a:t> — and it doesn't grow at long waves.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RESULTS</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Result 3 — the shallow water matters more than the walls</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wall_vs_depth_rot45_sq2p4.png"/>
          <p:cNvPicPr>
            <a:picLocks noChangeAspect="1"/>
          </p:cNvPicPr>
          <p:nvPr/>
        </p:nvPicPr>
        <p:blipFill>
          <a:blip r:embed="rId2"/>
          <a:stretch>
            <a:fillRect/>
          </a:stretch>
        </p:blipFill>
        <p:spPr>
          <a:xfrm>
            <a:off x="1234440" y="1783080"/>
            <a:ext cx="9692640" cy="4567513"/>
          </a:xfrm>
          <a:prstGeom prst="rect">
            <a:avLst/>
          </a:prstGeom>
        </p:spPr>
      </p:pic>
      <p:sp>
        <p:nvSpPr>
          <p:cNvPr id="6" name="Rectangle 5"/>
          <p:cNvSpPr/>
          <p:nvPr/>
        </p:nvSpPr>
        <p:spPr>
          <a:xfrm>
            <a:off x="777240" y="5852160"/>
            <a:ext cx="10607040" cy="77724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888736"/>
            <a:ext cx="10241280" cy="704088"/>
          </a:xfrm>
          <a:prstGeom prst="rect">
            <a:avLst/>
          </a:prstGeom>
          <a:noFill/>
        </p:spPr>
        <p:txBody>
          <a:bodyPr wrap="square" anchor="ctr">
            <a:spAutoFit/>
          </a:bodyPr>
          <a:lstStyle/>
          <a:p>
            <a:pPr algn="ctr"/>
            <a:r>
              <a:rPr sz="1300" b="0" i="0">
                <a:solidFill>
                  <a:srgbClr val="25323A"/>
                </a:solidFill>
                <a:latin typeface="Segoe UI"/>
              </a:rPr>
              <a:t>The walls (teal) stay </a:t>
            </a:r>
            <a:r>
              <a:rPr sz="1300" b="1" i="0">
                <a:solidFill>
                  <a:srgbClr val="0A5560"/>
                </a:solidFill>
                <a:latin typeface="Segoe UI"/>
              </a:rPr>
              <a:t>small at every wave period</a:t>
            </a:r>
            <a:r>
              <a:rPr sz="1300" b="0" i="0">
                <a:solidFill>
                  <a:srgbClr val="25323A"/>
                </a:solidFill>
                <a:latin typeface="Segoe UI"/>
              </a:rPr>
              <a:t>; it's the </a:t>
            </a:r>
            <a:r>
              <a:rPr sz="1300" b="1" i="0">
                <a:solidFill>
                  <a:srgbClr val="D1543A"/>
                </a:solidFill>
                <a:latin typeface="Segoe UI"/>
              </a:rPr>
              <a:t>shallow 2.7 m water</a:t>
            </a:r>
            <a:r>
              <a:rPr sz="1300" b="0" i="0">
                <a:solidFill>
                  <a:srgbClr val="25323A"/>
                </a:solidFill>
                <a:latin typeface="Segoe UI"/>
              </a:rPr>
              <a:t> (red) that grows at long waves — and that's a </a:t>
            </a:r>
            <a:r>
              <a:rPr sz="1300" b="1" i="0">
                <a:solidFill>
                  <a:srgbClr val="0A5560"/>
                </a:solidFill>
                <a:latin typeface="Segoe UI"/>
              </a:rPr>
              <a:t>known, routine correction</a:t>
            </a:r>
            <a:r>
              <a:rPr sz="1300" b="0" i="0">
                <a:solidFill>
                  <a:srgbClr val="25323A"/>
                </a:solidFill>
                <a:latin typeface="Segoe UI"/>
              </a:rPr>
              <a:t> every flume test already applies.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RESULTS</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Result 4 — every direction, not just up-down</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ccel_multidof_rot45_sq2p4.png"/>
          <p:cNvPicPr>
            <a:picLocks noChangeAspect="1"/>
          </p:cNvPicPr>
          <p:nvPr/>
        </p:nvPicPr>
        <p:blipFill>
          <a:blip r:embed="rId2"/>
          <a:stretch>
            <a:fillRect/>
          </a:stretch>
        </p:blipFill>
        <p:spPr>
          <a:xfrm>
            <a:off x="1051560" y="1874519"/>
            <a:ext cx="10058400" cy="3013064"/>
          </a:xfrm>
          <a:prstGeom prst="rect">
            <a:avLst/>
          </a:prstGeom>
        </p:spPr>
      </p:pic>
      <p:sp>
        <p:nvSpPr>
          <p:cNvPr id="6" name="Rectangle 5"/>
          <p:cNvSpPr/>
          <p:nvPr/>
        </p:nvSpPr>
        <p:spPr>
          <a:xfrm>
            <a:off x="777240" y="5532120"/>
            <a:ext cx="10607040" cy="105156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568696"/>
            <a:ext cx="10241280" cy="978407"/>
          </a:xfrm>
          <a:prstGeom prst="rect">
            <a:avLst/>
          </a:prstGeom>
          <a:noFill/>
        </p:spPr>
        <p:txBody>
          <a:bodyPr wrap="square" anchor="ctr">
            <a:spAutoFit/>
          </a:bodyPr>
          <a:lstStyle/>
          <a:p>
            <a:pPr algn="ctr"/>
            <a:r>
              <a:rPr sz="1300" b="0" i="0">
                <a:solidFill>
                  <a:srgbClr val="25323A"/>
                </a:solidFill>
                <a:latin typeface="Segoe UI"/>
              </a:rPr>
              <a:t>We checked the accelerometers in </a:t>
            </a:r>
            <a:r>
              <a:rPr sz="1300" b="1" i="0">
                <a:solidFill>
                  <a:srgbClr val="0A5560"/>
                </a:solidFill>
                <a:latin typeface="Segoe UI"/>
              </a:rPr>
              <a:t>every direction they can move</a:t>
            </a:r>
            <a:r>
              <a:rPr sz="1300" b="0" i="0">
                <a:solidFill>
                  <a:srgbClr val="25323A"/>
                </a:solidFill>
                <a:latin typeface="Segoe UI"/>
              </a:rPr>
              <a:t> — fore-aft, up-down, and tilt (pitch). Near the natural period, walls in vs out changes each one by </a:t>
            </a:r>
            <a:r>
              <a:rPr sz="1300" b="1" i="0">
                <a:solidFill>
                  <a:srgbClr val="0A5560"/>
                </a:solidFill>
                <a:latin typeface="Segoe UI"/>
              </a:rPr>
              <a:t>about 3% or less</a:t>
            </a:r>
            <a:r>
              <a:rPr sz="1300" b="0" i="0">
                <a:solidFill>
                  <a:srgbClr val="25323A"/>
                </a:solidFill>
                <a:latin typeface="Segoe UI"/>
              </a:rPr>
              <a:t>, at the deck centre and all four cluster points. Side-to-side and twist stay essentially zero (the waves come straight down the flume).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THE DEPTH EFFECT</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Why long waves feel the bottom</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epth_effect_explained.png"/>
          <p:cNvPicPr>
            <a:picLocks noChangeAspect="1"/>
          </p:cNvPicPr>
          <p:nvPr/>
        </p:nvPicPr>
        <p:blipFill>
          <a:blip r:embed="rId2"/>
          <a:stretch>
            <a:fillRect/>
          </a:stretch>
        </p:blipFill>
        <p:spPr>
          <a:xfrm>
            <a:off x="1234440" y="1600200"/>
            <a:ext cx="9692640" cy="3670655"/>
          </a:xfrm>
          <a:prstGeom prst="rect">
            <a:avLst/>
          </a:prstGeom>
        </p:spPr>
      </p:pic>
      <p:sp>
        <p:nvSpPr>
          <p:cNvPr id="6" name="Rectangle 5"/>
          <p:cNvSpPr/>
          <p:nvPr/>
        </p:nvSpPr>
        <p:spPr>
          <a:xfrm>
            <a:off x="777240" y="5349240"/>
            <a:ext cx="10607040" cy="1051560"/>
          </a:xfrm>
          <a:prstGeom prst="rect">
            <a:avLst/>
          </a:prstGeom>
          <a:solidFill>
            <a:srgbClr val="EE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385816"/>
            <a:ext cx="10241280" cy="978407"/>
          </a:xfrm>
          <a:prstGeom prst="rect">
            <a:avLst/>
          </a:prstGeom>
          <a:noFill/>
        </p:spPr>
        <p:txBody>
          <a:bodyPr wrap="square" anchor="ctr">
            <a:spAutoFit/>
          </a:bodyPr>
          <a:lstStyle/>
          <a:p>
            <a:pPr algn="ctr"/>
            <a:r>
              <a:rPr sz="1300" b="0" i="0">
                <a:solidFill>
                  <a:srgbClr val="25323A"/>
                </a:solidFill>
                <a:latin typeface="Segoe UI"/>
              </a:rPr>
              <a:t>Under a wave, the water moves in little loops. Short waves only stir the top layer, so the flume feels like the open sea. Long waves reach all the way down, and the 2.7 m floor </a:t>
            </a:r>
            <a:r>
              <a:rPr sz="1300" b="1" i="0">
                <a:solidFill>
                  <a:srgbClr val="D1543A"/>
                </a:solidFill>
                <a:latin typeface="Segoe UI"/>
              </a:rPr>
              <a:t>squashes the loops flat</a:t>
            </a:r>
            <a:r>
              <a:rPr sz="1300" b="0" i="0">
                <a:solidFill>
                  <a:srgbClr val="25323A"/>
                </a:solidFill>
                <a:latin typeface="Segoe UI"/>
              </a:rPr>
              <a:t> — so there's less up-and-down push on the buoys' plates. That's the depth effect: well understood, and </a:t>
            </a:r>
            <a:r>
              <a:rPr sz="1300" b="1" i="0">
                <a:solidFill>
                  <a:srgbClr val="0A5560"/>
                </a:solidFill>
                <a:latin typeface="Segoe UI"/>
              </a:rPr>
              <a:t>corrected as standard</a:t>
            </a:r>
            <a:r>
              <a:rPr sz="1300" b="0" i="0">
                <a:solidFill>
                  <a:srgbClr val="25323A"/>
                </a:solidFill>
                <a:latin typeface="Segoe U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THE CAVEAT</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The one thing to watch</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10698480" cy="4572000"/>
          </a:xfrm>
          <a:prstGeom prst="rect">
            <a:avLst/>
          </a:prstGeom>
          <a:noFill/>
        </p:spPr>
        <p:txBody>
          <a:bodyPr wrap="square">
            <a:spAutoFit/>
          </a:bodyPr>
          <a:lstStyle/>
          <a:p>
            <a:pPr>
              <a:spcBef>
                <a:spcPts val="200"/>
              </a:spcBef>
              <a:spcAft>
                <a:spcPts val="1400"/>
              </a:spcAft>
            </a:pPr>
            <a:r>
              <a:rPr sz="1900">
                <a:solidFill>
                  <a:srgbClr val="0C8B96"/>
                </a:solidFill>
                <a:latin typeface="Segoe UI"/>
              </a:rPr>
              <a:t>•  </a:t>
            </a:r>
            <a:r>
              <a:rPr sz="1900" b="0" i="0">
                <a:solidFill>
                  <a:srgbClr val="25323A"/>
                </a:solidFill>
                <a:latin typeface="Segoe UI"/>
              </a:rPr>
              <a:t>A flume can “ring” sideways like a bathtub at a few special wave periods </a:t>
            </a:r>
            <a:r>
              <a:rPr sz="1900" b="1" i="0">
                <a:solidFill>
                  <a:srgbClr val="D1543A"/>
                </a:solidFill>
                <a:latin typeface="Segoe UI"/>
              </a:rPr>
              <a:t>(≈ 2.2, 1.5, 1.25 s)</a:t>
            </a:r>
            <a:r>
              <a:rPr sz="1900" b="0" i="0">
                <a:solidFill>
                  <a:srgbClr val="25323A"/>
                </a:solidFill>
                <a:latin typeface="Segoe UI"/>
              </a:rPr>
              <a:t>.</a:t>
            </a:r>
          </a:p>
          <a:p>
            <a:pPr>
              <a:spcBef>
                <a:spcPts val="200"/>
              </a:spcBef>
              <a:spcAft>
                <a:spcPts val="1400"/>
              </a:spcAft>
            </a:pPr>
            <a:r>
              <a:rPr sz="1900">
                <a:solidFill>
                  <a:srgbClr val="0C8B96"/>
                </a:solidFill>
                <a:latin typeface="Segoe UI"/>
              </a:rPr>
              <a:t>•  </a:t>
            </a:r>
            <a:r>
              <a:rPr sz="1900" b="0" i="0">
                <a:solidFill>
                  <a:srgbClr val="25323A"/>
                </a:solidFill>
                <a:latin typeface="Segoe UI"/>
              </a:rPr>
              <a:t>Near those, the walls </a:t>
            </a:r>
            <a:r>
              <a:rPr sz="1900" b="0" i="1">
                <a:solidFill>
                  <a:srgbClr val="25323A"/>
                </a:solidFill>
                <a:latin typeface="Segoe UI"/>
              </a:rPr>
              <a:t>do</a:t>
            </a:r>
            <a:r>
              <a:rPr sz="1900" b="0" i="0">
                <a:solidFill>
                  <a:srgbClr val="25323A"/>
                </a:solidFill>
                <a:latin typeface="Segoe UI"/>
              </a:rPr>
              <a:t> matter — so we simply </a:t>
            </a:r>
            <a:r>
              <a:rPr sz="1900" b="1" i="0">
                <a:solidFill>
                  <a:srgbClr val="0A5560"/>
                </a:solidFill>
                <a:latin typeface="Segoe UI"/>
              </a:rPr>
              <a:t>avoid parking a test exactly there</a:t>
            </a:r>
            <a:r>
              <a:rPr sz="1900" b="0" i="0">
                <a:solidFill>
                  <a:srgbClr val="25323A"/>
                </a:solidFill>
                <a:latin typeface="Segoe UI"/>
              </a:rPr>
              <a:t>.</a:t>
            </a:r>
          </a:p>
          <a:p>
            <a:pPr>
              <a:spcBef>
                <a:spcPts val="200"/>
              </a:spcBef>
              <a:spcAft>
                <a:spcPts val="1400"/>
              </a:spcAft>
            </a:pPr>
            <a:r>
              <a:rPr sz="1900">
                <a:solidFill>
                  <a:srgbClr val="0C8B96"/>
                </a:solidFill>
                <a:latin typeface="Segoe UI"/>
              </a:rPr>
              <a:t>•  </a:t>
            </a:r>
            <a:r>
              <a:rPr sz="1900" b="0" i="0">
                <a:solidFill>
                  <a:srgbClr val="25323A"/>
                </a:solidFill>
                <a:latin typeface="Segoe UI"/>
              </a:rPr>
              <a:t>They're narrow, known in advance, and easy to step around in the test plan.</a:t>
            </a:r>
          </a:p>
          <a:p>
            <a:pPr>
              <a:spcBef>
                <a:spcPts val="200"/>
              </a:spcBef>
              <a:spcAft>
                <a:spcPts val="1400"/>
              </a:spcAft>
            </a:pPr>
            <a:r>
              <a:rPr sz="1900">
                <a:solidFill>
                  <a:srgbClr val="0C8B96"/>
                </a:solidFill>
                <a:latin typeface="Segoe UI"/>
              </a:rPr>
              <a:t>•  </a:t>
            </a:r>
            <a:r>
              <a:rPr sz="1900" b="0" i="0">
                <a:solidFill>
                  <a:srgbClr val="25323A"/>
                </a:solidFill>
                <a:latin typeface="Segoe UI"/>
              </a:rPr>
              <a:t>And for </a:t>
            </a:r>
            <a:r>
              <a:rPr sz="1900" b="1" i="0">
                <a:solidFill>
                  <a:srgbClr val="25323A"/>
                </a:solidFill>
                <a:latin typeface="Segoe UI"/>
              </a:rPr>
              <a:t>very long waves</a:t>
            </a:r>
            <a:r>
              <a:rPr sz="1900" b="0" i="0">
                <a:solidFill>
                  <a:srgbClr val="25323A"/>
                </a:solidFill>
                <a:latin typeface="Segoe UI"/>
              </a:rPr>
              <a:t> (slower than ~3 s), the </a:t>
            </a:r>
            <a:r>
              <a:rPr sz="1900" b="1" i="0">
                <a:solidFill>
                  <a:srgbClr val="D1543A"/>
                </a:solidFill>
                <a:latin typeface="Segoe UI"/>
              </a:rPr>
              <a:t>shallow water depth</a:t>
            </a:r>
            <a:r>
              <a:rPr sz="1900" b="0" i="0">
                <a:solidFill>
                  <a:srgbClr val="25323A"/>
                </a:solidFill>
                <a:latin typeface="Segoe UI"/>
              </a:rPr>
              <a:t> is the bigger effect — corrected as standard, just like any flume 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none">
            <a:spAutoFit/>
          </a:bodyPr>
          <a:lstStyle/>
          <a:p>
            <a:r>
              <a:rPr sz="1300" b="1">
                <a:solidFill>
                  <a:srgbClr val="0C8B96"/>
                </a:solidFill>
                <a:latin typeface="Segoe UI"/>
              </a:rPr>
              <a:t>CONCLUSION</a:t>
            </a:r>
          </a:p>
        </p:txBody>
      </p:sp>
      <p:sp>
        <p:nvSpPr>
          <p:cNvPr id="3" name="TextBox 2"/>
          <p:cNvSpPr txBox="1"/>
          <p:nvPr/>
        </p:nvSpPr>
        <p:spPr>
          <a:xfrm>
            <a:off x="640080" y="658368"/>
            <a:ext cx="10972800" cy="822960"/>
          </a:xfrm>
          <a:prstGeom prst="rect">
            <a:avLst/>
          </a:prstGeom>
          <a:noFill/>
        </p:spPr>
        <p:txBody>
          <a:bodyPr wrap="none">
            <a:spAutoFit/>
          </a:bodyPr>
          <a:lstStyle/>
          <a:p>
            <a:r>
              <a:rPr sz="3000" b="1">
                <a:solidFill>
                  <a:srgbClr val="25323A"/>
                </a:solidFill>
                <a:latin typeface="Segoe UI"/>
              </a:rPr>
              <a:t>Bottom line</a:t>
            </a:r>
          </a:p>
        </p:txBody>
      </p:sp>
      <p:sp>
        <p:nvSpPr>
          <p:cNvPr id="4" name="Rectangle 3"/>
          <p:cNvSpPr/>
          <p:nvPr/>
        </p:nvSpPr>
        <p:spPr>
          <a:xfrm>
            <a:off x="658368" y="1444752"/>
            <a:ext cx="2011680" cy="54864"/>
          </a:xfrm>
          <a:prstGeom prst="rect">
            <a:avLst/>
          </a:prstGeom>
          <a:solidFill>
            <a:srgbClr val="0C8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011680"/>
            <a:ext cx="10698480" cy="4572000"/>
          </a:xfrm>
          <a:prstGeom prst="rect">
            <a:avLst/>
          </a:prstGeom>
          <a:noFill/>
        </p:spPr>
        <p:txBody>
          <a:bodyPr wrap="square">
            <a:spAutoFit/>
          </a:bodyPr>
          <a:lstStyle/>
          <a:p>
            <a:pPr>
              <a:spcBef>
                <a:spcPts val="200"/>
              </a:spcBef>
              <a:spcAft>
                <a:spcPts val="1500"/>
              </a:spcAft>
            </a:pPr>
            <a:r>
              <a:rPr sz="1900">
                <a:solidFill>
                  <a:srgbClr val="0C8B96"/>
                </a:solidFill>
                <a:latin typeface="Segoe UI"/>
              </a:rPr>
              <a:t>•  </a:t>
            </a:r>
            <a:r>
              <a:rPr sz="1900" b="0" i="0">
                <a:solidFill>
                  <a:srgbClr val="25323A"/>
                </a:solidFill>
                <a:latin typeface="Segoe UI"/>
              </a:rPr>
              <a:t>The 2.4 m, 16-buoy platform is </a:t>
            </a:r>
            <a:r>
              <a:rPr sz="1900" b="1" i="0">
                <a:solidFill>
                  <a:srgbClr val="0A5560"/>
                </a:solidFill>
                <a:latin typeface="Segoe UI"/>
              </a:rPr>
              <a:t>compatible with the OSU wave flume</a:t>
            </a:r>
            <a:r>
              <a:rPr sz="1900" b="0" i="0">
                <a:solidFill>
                  <a:srgbClr val="25323A"/>
                </a:solidFill>
                <a:latin typeface="Segoe UI"/>
              </a:rPr>
              <a:t>.</a:t>
            </a:r>
          </a:p>
          <a:p>
            <a:pPr>
              <a:spcBef>
                <a:spcPts val="200"/>
              </a:spcBef>
              <a:spcAft>
                <a:spcPts val="1500"/>
              </a:spcAft>
            </a:pPr>
            <a:r>
              <a:rPr sz="1900">
                <a:solidFill>
                  <a:srgbClr val="0C8B96"/>
                </a:solidFill>
                <a:latin typeface="Segoe UI"/>
              </a:rPr>
              <a:t>•  </a:t>
            </a:r>
            <a:r>
              <a:rPr sz="1900" b="0" i="0">
                <a:solidFill>
                  <a:srgbClr val="25323A"/>
                </a:solidFill>
                <a:latin typeface="Segoe UI"/>
              </a:rPr>
              <a:t>The side walls change the measured bobbing speed by </a:t>
            </a:r>
            <a:r>
              <a:rPr sz="1900" b="1" i="0">
                <a:solidFill>
                  <a:srgbClr val="25323A"/>
                </a:solidFill>
                <a:latin typeface="Segoe UI"/>
              </a:rPr>
              <a:t>about ½%</a:t>
            </a:r>
            <a:r>
              <a:rPr sz="1900" b="0" i="0">
                <a:solidFill>
                  <a:srgbClr val="25323A"/>
                </a:solidFill>
                <a:latin typeface="Segoe UI"/>
              </a:rPr>
              <a:t>, the damping </a:t>
            </a:r>
            <a:r>
              <a:rPr sz="1900" b="1" i="0">
                <a:solidFill>
                  <a:srgbClr val="25323A"/>
                </a:solidFill>
                <a:latin typeface="Segoe UI"/>
              </a:rPr>
              <a:t>not at all</a:t>
            </a:r>
            <a:r>
              <a:rPr sz="1900" b="0" i="0">
                <a:solidFill>
                  <a:srgbClr val="25323A"/>
                </a:solidFill>
                <a:latin typeface="Segoe UI"/>
              </a:rPr>
              <a:t>, and the near-resonance wave response by </a:t>
            </a:r>
            <a:r>
              <a:rPr sz="1900" b="1" i="0">
                <a:solidFill>
                  <a:srgbClr val="25323A"/>
                </a:solidFill>
                <a:latin typeface="Segoe UI"/>
              </a:rPr>
              <a:t>only a few percent</a:t>
            </a:r>
            <a:r>
              <a:rPr sz="1900" b="0" i="0">
                <a:solidFill>
                  <a:srgbClr val="25323A"/>
                </a:solidFill>
                <a:latin typeface="Segoe UI"/>
              </a:rPr>
              <a:t>.</a:t>
            </a:r>
          </a:p>
          <a:p>
            <a:pPr>
              <a:spcBef>
                <a:spcPts val="200"/>
              </a:spcBef>
              <a:spcAft>
                <a:spcPts val="1500"/>
              </a:spcAft>
            </a:pPr>
            <a:r>
              <a:rPr sz="1900">
                <a:solidFill>
                  <a:srgbClr val="0C8B96"/>
                </a:solidFill>
                <a:latin typeface="Segoe UI"/>
              </a:rPr>
              <a:t>•  </a:t>
            </a:r>
            <a:r>
              <a:rPr sz="1900" b="0" i="0">
                <a:solidFill>
                  <a:srgbClr val="25323A"/>
                </a:solidFill>
                <a:latin typeface="Segoe UI"/>
              </a:rPr>
              <a:t>The bigger flume factor is the </a:t>
            </a:r>
            <a:r>
              <a:rPr sz="1900" b="1" i="0">
                <a:solidFill>
                  <a:srgbClr val="D1543A"/>
                </a:solidFill>
                <a:latin typeface="Segoe UI"/>
              </a:rPr>
              <a:t>shallow water depth</a:t>
            </a:r>
            <a:r>
              <a:rPr sz="1900" b="0" i="0">
                <a:solidFill>
                  <a:srgbClr val="25323A"/>
                </a:solidFill>
                <a:latin typeface="Segoe UI"/>
              </a:rPr>
              <a:t> (not the walls) — a routine, corrected effect.</a:t>
            </a:r>
          </a:p>
          <a:p>
            <a:pPr>
              <a:spcBef>
                <a:spcPts val="200"/>
              </a:spcBef>
              <a:spcAft>
                <a:spcPts val="1500"/>
              </a:spcAft>
            </a:pPr>
            <a:r>
              <a:rPr sz="1900">
                <a:solidFill>
                  <a:srgbClr val="0C8B96"/>
                </a:solidFill>
                <a:latin typeface="Segoe UI"/>
              </a:rPr>
              <a:t>•  </a:t>
            </a:r>
            <a:r>
              <a:rPr sz="1900" b="1" i="0">
                <a:solidFill>
                  <a:srgbClr val="25323A"/>
                </a:solidFill>
                <a:latin typeface="Segoe UI"/>
              </a:rPr>
              <a:t>Reason, in one line:</a:t>
            </a:r>
          </a:p>
          <a:p>
            <a:pPr lvl="1">
              <a:spcBef>
                <a:spcPts val="200"/>
              </a:spcBef>
              <a:spcAft>
                <a:spcPts val="1500"/>
              </a:spcAft>
            </a:pPr>
            <a:r>
              <a:rPr sz="1600">
                <a:solidFill>
                  <a:srgbClr val="54636D"/>
                </a:solidFill>
                <a:latin typeface="Segoe UI"/>
              </a:rPr>
              <a:t>      –  </a:t>
            </a:r>
            <a:r>
              <a:rPr sz="1600" b="0" i="1">
                <a:solidFill>
                  <a:srgbClr val="0A5560"/>
                </a:solidFill>
                <a:latin typeface="Segoe UI"/>
              </a:rPr>
              <a:t>the platform barely makes waves, so there's almost nothing for the walls to reflect — the flume test measures the real behaviour once depth is accounted for.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