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1.8451675153581484</c:v>
                </c:pt>
                <c:pt idx="1">
                  <c:v>15.944740469111318</c:v>
                </c:pt>
                <c:pt idx="2">
                  <c:v>46.29081757036987</c:v>
                </c:pt>
                <c:pt idx="3">
                  <c:v>74.98248304974956</c:v>
                </c:pt>
                <c:pt idx="4">
                  <c:v>65.03656284066092</c:v>
                </c:pt>
                <c:pt idx="5">
                  <c:v>56.35048632583133</c:v>
                </c:pt>
                <c:pt idx="6">
                  <c:v>53.07996015224132</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1.1927164894304934</c:v>
                </c:pt>
                <c:pt idx="1">
                  <c:v>11.073577392575055</c:v>
                </c:pt>
                <c:pt idx="2">
                  <c:v>36.21516618731775</c:v>
                </c:pt>
                <c:pt idx="3">
                  <c:v>67.85717864531054</c:v>
                </c:pt>
                <c:pt idx="4">
                  <c:v>69.2953996590413</c:v>
                </c:pt>
                <c:pt idx="5">
                  <c:v>58.3553226985565</c:v>
                </c:pt>
                <c:pt idx="6">
                  <c:v>53.62481201149172</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1.188080045100632</c:v>
                </c:pt>
                <c:pt idx="1">
                  <c:v>11.042644284217054</c:v>
                </c:pt>
                <c:pt idx="2">
                  <c:v>35.840603354838734</c:v>
                </c:pt>
                <c:pt idx="3">
                  <c:v>67.21072697933025</c:v>
                </c:pt>
                <c:pt idx="4">
                  <c:v>69.2575559156087</c:v>
                </c:pt>
                <c:pt idx="5">
                  <c:v>58.37262047112739</c:v>
                </c:pt>
                <c:pt idx="6">
                  <c:v>53.625786347020515</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1.1636345514878357</c:v>
                </c:pt>
                <c:pt idx="1">
                  <c:v>11.01856871129624</c:v>
                </c:pt>
                <c:pt idx="2">
                  <c:v>35.37208914558386</c:v>
                </c:pt>
                <c:pt idx="3">
                  <c:v>66.20489326851228</c:v>
                </c:pt>
                <c:pt idx="4">
                  <c:v>69.2201497307426</c:v>
                </c:pt>
                <c:pt idx="5">
                  <c:v>58.47230431429037</c:v>
                </c:pt>
                <c:pt idx="6">
                  <c:v>53.630380319861054</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80.0"/>
          <c:min val="0.0"/>
        </c:scaling>
        <c:delete val="0"/>
        <c:axPos val="l"/>
        <c:majorGridlines>
          <c:spPr>
            <a:ln>
              <a:solidFill>
                <a:srgbClr val="E6ECEE"/>
              </a:solidFill>
            </a:ln>
          </c:spPr>
        </c:majorGridlines>
        <c:title>
          <c:tx>
            <c:rich>
              <a:bodyPr/>
              <a:lstStyle/>
              <a:p>
                <a:r>
                  <a:rPr sz="1200" b="0">
                    <a:solidFill>
                      <a:srgbClr val="2B3A44"/>
                    </a:solidFill>
                  </a:rPr>
                  <a:t>heave amplitude (mm)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0.24654266905214337</c:v>
                </c:pt>
                <c:pt idx="1">
                  <c:v>10.633869162105198</c:v>
                </c:pt>
                <c:pt idx="2">
                  <c:v>37.766843118871115</c:v>
                </c:pt>
                <c:pt idx="3">
                  <c:v>65.76057860599614</c:v>
                </c:pt>
                <c:pt idx="4">
                  <c:v>62.88814645443613</c:v>
                </c:pt>
                <c:pt idx="5">
                  <c:v>55.452269006207196</c:v>
                </c:pt>
                <c:pt idx="6">
                  <c:v>52.64809512443063</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0.1558403909220491</c:v>
                </c:pt>
                <c:pt idx="1">
                  <c:v>7.389536749705052</c:v>
                </c:pt>
                <c:pt idx="2">
                  <c:v>29.60625473480701</c:v>
                </c:pt>
                <c:pt idx="3">
                  <c:v>60.332459528829915</c:v>
                </c:pt>
                <c:pt idx="4">
                  <c:v>67.17858606707232</c:v>
                </c:pt>
                <c:pt idx="5">
                  <c:v>56.662817890171034</c:v>
                </c:pt>
                <c:pt idx="6">
                  <c:v>53.192873861740715</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0.18395140265862608</c:v>
                </c:pt>
                <c:pt idx="1">
                  <c:v>7.163653725001953</c:v>
                </c:pt>
                <c:pt idx="2">
                  <c:v>27.534161294812446</c:v>
                </c:pt>
                <c:pt idx="3">
                  <c:v>55.87230736776096</c:v>
                </c:pt>
                <c:pt idx="4">
                  <c:v>66.88071889309504</c:v>
                </c:pt>
                <c:pt idx="5">
                  <c:v>56.68190655377057</c:v>
                </c:pt>
                <c:pt idx="6">
                  <c:v>53.204997441470795</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0.3472292441437816</c:v>
                </c:pt>
                <c:pt idx="1">
                  <c:v>7.092068404341339</c:v>
                </c:pt>
                <c:pt idx="2">
                  <c:v>25.747156234670182</c:v>
                </c:pt>
                <c:pt idx="3">
                  <c:v>49.51435713217373</c:v>
                </c:pt>
                <c:pt idx="4">
                  <c:v>66.41980769239937</c:v>
                </c:pt>
                <c:pt idx="5">
                  <c:v>57.20311689518064</c:v>
                </c:pt>
                <c:pt idx="6">
                  <c:v>53.24812469487056</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80.0"/>
          <c:min val="0.0"/>
        </c:scaling>
        <c:delete val="0"/>
        <c:axPos val="l"/>
        <c:majorGridlines>
          <c:spPr>
            <a:ln>
              <a:solidFill>
                <a:srgbClr val="E6ECEE"/>
              </a:solidFill>
            </a:ln>
          </c:spPr>
        </c:majorGridlines>
        <c:title>
          <c:tx>
            <c:rich>
              <a:bodyPr/>
              <a:lstStyle/>
              <a:p>
                <a:r>
                  <a:rPr sz="1200" b="0">
                    <a:solidFill>
                      <a:srgbClr val="2B3A44"/>
                    </a:solidFill>
                  </a:rPr>
                  <a:t>heave amplitude (mm)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0.19541483709398186</c:v>
                </c:pt>
                <c:pt idx="1">
                  <c:v>0.9159437350842081</c:v>
                </c:pt>
                <c:pt idx="2">
                  <c:v>1.9713811892960367</c:v>
                </c:pt>
                <c:pt idx="3">
                  <c:v>2.5387437290907897</c:v>
                </c:pt>
                <c:pt idx="4">
                  <c:v>1.2410932599857063</c:v>
                </c:pt>
                <c:pt idx="5">
                  <c:v>0.7409011321224129</c:v>
                </c:pt>
                <c:pt idx="6">
                  <c:v>0.49159162245332383</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0.14471614255939977</c:v>
                </c:pt>
                <c:pt idx="1">
                  <c:v>0.7719319203089562</c:v>
                </c:pt>
                <c:pt idx="2">
                  <c:v>1.710026907034074</c:v>
                </c:pt>
                <c:pt idx="3">
                  <c:v>2.1523564266016697</c:v>
                </c:pt>
                <c:pt idx="4">
                  <c:v>1.1743850904300055</c:v>
                </c:pt>
                <c:pt idx="5">
                  <c:v>0.7164577771378586</c:v>
                </c:pt>
                <c:pt idx="6">
                  <c:v>0.47831313510389084</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0.22356539714907317</c:v>
                </c:pt>
                <c:pt idx="1">
                  <c:v>0.8474863520902507</c:v>
                </c:pt>
                <c:pt idx="2">
                  <c:v>2.1543834691936348</c:v>
                </c:pt>
                <c:pt idx="3">
                  <c:v>2.909459543130526</c:v>
                </c:pt>
                <c:pt idx="4">
                  <c:v>1.337557053468973</c:v>
                </c:pt>
                <c:pt idx="5">
                  <c:v>0.7684999677660537</c:v>
                </c:pt>
                <c:pt idx="6">
                  <c:v>0.4677206109400096</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0.35827286748842735</c:v>
                </c:pt>
                <c:pt idx="1">
                  <c:v>0.9659144427352395</c:v>
                </c:pt>
                <c:pt idx="2">
                  <c:v>2.6855000779147473</c:v>
                </c:pt>
                <c:pt idx="3">
                  <c:v>3.804496659631551</c:v>
                </c:pt>
                <c:pt idx="4">
                  <c:v>1.622766461736646</c:v>
                </c:pt>
                <c:pt idx="5">
                  <c:v>1.0206603126447487</c:v>
                </c:pt>
                <c:pt idx="6">
                  <c:v>0.43149046301352323</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4.0"/>
          <c:min val="0.0"/>
        </c:scaling>
        <c:delete val="0"/>
        <c:axPos val="l"/>
        <c:majorGridlines>
          <c:spPr>
            <a:ln>
              <a:solidFill>
                <a:srgbClr val="E6ECEE"/>
              </a:solidFill>
            </a:ln>
          </c:spPr>
        </c:majorGridlines>
        <c:title>
          <c:tx>
            <c:rich>
              <a:bodyPr/>
              <a:lstStyle/>
              <a:p>
                <a:r>
                  <a:rPr sz="1200" b="0">
                    <a:solidFill>
                      <a:srgbClr val="2B3A44"/>
                    </a:solidFill>
                  </a:rPr>
                  <a:t>pitch amplitude (°)</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0.10432955866264143</c:v>
                </c:pt>
                <c:pt idx="1">
                  <c:v>0.7149261907877004</c:v>
                </c:pt>
                <c:pt idx="2">
                  <c:v>1.71178517447982</c:v>
                </c:pt>
                <c:pt idx="3">
                  <c:v>2.2942992835514318</c:v>
                </c:pt>
                <c:pt idx="4">
                  <c:v>1.2491578500554803</c:v>
                </c:pt>
                <c:pt idx="5">
                  <c:v>0.7420553520334606</c:v>
                </c:pt>
                <c:pt idx="6">
                  <c:v>0.49334216574291423</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0.0666653903808403</c:v>
                </c:pt>
                <c:pt idx="1">
                  <c:v>0.45945728100752015</c:v>
                </c:pt>
                <c:pt idx="2">
                  <c:v>1.2341095652986258</c:v>
                </c:pt>
                <c:pt idx="3">
                  <c:v>1.824459723368869</c:v>
                </c:pt>
                <c:pt idx="4">
                  <c:v>1.0994014809730104</c:v>
                </c:pt>
                <c:pt idx="5">
                  <c:v>0.5280225627644667</c:v>
                </c:pt>
                <c:pt idx="6">
                  <c:v>0.5200412570465928</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0.11695485317453519</c:v>
                </c:pt>
                <c:pt idx="1">
                  <c:v>0.5132711392896417</c:v>
                </c:pt>
                <c:pt idx="2">
                  <c:v>1.516047309457366</c:v>
                </c:pt>
                <c:pt idx="3">
                  <c:v>2.4820865171167896</c:v>
                </c:pt>
                <c:pt idx="4">
                  <c:v>1.30973913945026</c:v>
                </c:pt>
                <c:pt idx="5">
                  <c:v>0.6380281594287418</c:v>
                </c:pt>
                <c:pt idx="6">
                  <c:v>0.5081037263872283</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0.1798731578300252</c:v>
                </c:pt>
                <c:pt idx="1">
                  <c:v>0.5640861773965655</c:v>
                </c:pt>
                <c:pt idx="2">
                  <c:v>1.7180004162933997</c:v>
                </c:pt>
                <c:pt idx="3">
                  <c:v>3.069027643836406</c:v>
                </c:pt>
                <c:pt idx="4">
                  <c:v>1.7149530829557686</c:v>
                </c:pt>
                <c:pt idx="5">
                  <c:v>1.0293527760487973</c:v>
                </c:pt>
                <c:pt idx="6">
                  <c:v>0.4764604274571976</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4.0"/>
          <c:min val="0.0"/>
        </c:scaling>
        <c:delete val="0"/>
        <c:axPos val="l"/>
        <c:majorGridlines>
          <c:spPr>
            <a:ln>
              <a:solidFill>
                <a:srgbClr val="E6ECEE"/>
              </a:solidFill>
            </a:ln>
          </c:spPr>
        </c:majorGridlines>
        <c:title>
          <c:tx>
            <c:rich>
              <a:bodyPr/>
              <a:lstStyle/>
              <a:p>
                <a:r>
                  <a:rPr sz="1200" b="0">
                    <a:solidFill>
                      <a:srgbClr val="2B3A44"/>
                    </a:solidFill>
                  </a:rPr>
                  <a:t>pitch amplitude (°)</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638.3741972606417</c:v>
                </c:pt>
                <c:pt idx="1">
                  <c:v>624.962945542578</c:v>
                </c:pt>
                <c:pt idx="2">
                  <c:v>606.3775182894211</c:v>
                </c:pt>
                <c:pt idx="3">
                  <c:v>604.3098450746237</c:v>
                </c:pt>
                <c:pt idx="4">
                  <c:v>673.6425044068574</c:v>
                </c:pt>
                <c:pt idx="5">
                  <c:v>684.0460951920405</c:v>
                </c:pt>
                <c:pt idx="6">
                  <c:v>687.4382597183736</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474.65517153753063</c:v>
                </c:pt>
                <c:pt idx="1">
                  <c:v>464.7454174015702</c:v>
                </c:pt>
                <c:pt idx="2">
                  <c:v>446.2497629347992</c:v>
                </c:pt>
                <c:pt idx="3">
                  <c:v>444.4345541492434</c:v>
                </c:pt>
                <c:pt idx="4">
                  <c:v>503.318449122139</c:v>
                </c:pt>
                <c:pt idx="5">
                  <c:v>485.26209785730134</c:v>
                </c:pt>
                <c:pt idx="6">
                  <c:v>521.997938162135</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448.40119341511036</c:v>
                </c:pt>
                <c:pt idx="1">
                  <c:v>438.9026774544253</c:v>
                </c:pt>
                <c:pt idx="2">
                  <c:v>420.3278969491626</c:v>
                </c:pt>
                <c:pt idx="3">
                  <c:v>416.85192376819083</c:v>
                </c:pt>
                <c:pt idx="4">
                  <c:v>476.59267110921786</c:v>
                </c:pt>
                <c:pt idx="5">
                  <c:v>460.38575434175266</c:v>
                </c:pt>
                <c:pt idx="6">
                  <c:v>496.22082954164904</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422.32080407686465</c:v>
                </c:pt>
                <c:pt idx="1">
                  <c:v>413.23579291395953</c:v>
                </c:pt>
                <c:pt idx="2">
                  <c:v>394.7302584614509</c:v>
                </c:pt>
                <c:pt idx="3">
                  <c:v>389.46419011872126</c:v>
                </c:pt>
                <c:pt idx="4">
                  <c:v>449.6680327130324</c:v>
                </c:pt>
                <c:pt idx="5">
                  <c:v>435.0891633271792</c:v>
                </c:pt>
                <c:pt idx="6">
                  <c:v>470.57239122703453</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700.0"/>
          <c:min val="0.0"/>
        </c:scaling>
        <c:delete val="0"/>
        <c:axPos val="l"/>
        <c:majorGridlines>
          <c:spPr>
            <a:ln>
              <a:solidFill>
                <a:srgbClr val="E6ECEE"/>
              </a:solidFill>
            </a:ln>
          </c:spPr>
        </c:majorGridlines>
        <c:title>
          <c:tx>
            <c:rich>
              <a:bodyPr/>
              <a:lstStyle/>
              <a:p>
                <a:r>
                  <a:rPr sz="1200" b="0">
                    <a:solidFill>
                      <a:srgbClr val="2B3A44"/>
                    </a:solidFill>
                  </a:rPr>
                  <a:t>smallest pin freeboard (mm)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618.9471198186249</c:v>
                </c:pt>
                <c:pt idx="1">
                  <c:v>605.6917969634725</c:v>
                </c:pt>
                <c:pt idx="2">
                  <c:v>587.6662603469896</c:v>
                </c:pt>
                <c:pt idx="3">
                  <c:v>592.2878895522662</c:v>
                </c:pt>
                <c:pt idx="4">
                  <c:v>651.878751362749</c:v>
                </c:pt>
                <c:pt idx="5">
                  <c:v>664.0658753590062</c:v>
                </c:pt>
                <c:pt idx="6">
                  <c:v>667.5990792421682</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455.0567275052889</c:v>
                </c:pt>
                <c:pt idx="1">
                  <c:v>445.15336214934655</c:v>
                </c:pt>
                <c:pt idx="2">
                  <c:v>426.56856754697355</c:v>
                </c:pt>
                <c:pt idx="3">
                  <c:v>424.15974076861795</c:v>
                </c:pt>
                <c:pt idx="4">
                  <c:v>483.3456914337754</c:v>
                </c:pt>
                <c:pt idx="5">
                  <c:v>470.5176105966767</c:v>
                </c:pt>
                <c:pt idx="6">
                  <c:v>501.37817409001286</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384.64210688333577</c:v>
                </c:pt>
                <c:pt idx="1">
                  <c:v>376.10579227157587</c:v>
                </c:pt>
                <c:pt idx="2">
                  <c:v>358.13672438949305</c:v>
                </c:pt>
                <c:pt idx="3">
                  <c:v>353.931096356751</c:v>
                </c:pt>
                <c:pt idx="4">
                  <c:v>411.02557180196453</c:v>
                </c:pt>
                <c:pt idx="5">
                  <c:v>405.78948462798763</c:v>
                </c:pt>
                <c:pt idx="6">
                  <c:v>431.89021135416317</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314.981450986061</c:v>
                </c:pt>
                <c:pt idx="1">
                  <c:v>307.23306495379416</c:v>
                </c:pt>
                <c:pt idx="2">
                  <c:v>291.0008674556055</c:v>
                </c:pt>
                <c:pt idx="3">
                  <c:v>282.37328660411623</c:v>
                </c:pt>
                <c:pt idx="4">
                  <c:v>336.48539131478736</c:v>
                </c:pt>
                <c:pt idx="5">
                  <c:v>332.01664639706473</c:v>
                </c:pt>
                <c:pt idx="6">
                  <c:v>362.5109398822574</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700.0"/>
          <c:min val="0.0"/>
        </c:scaling>
        <c:delete val="0"/>
        <c:axPos val="l"/>
        <c:majorGridlines>
          <c:spPr>
            <a:ln>
              <a:solidFill>
                <a:srgbClr val="E6ECEE"/>
              </a:solidFill>
            </a:ln>
          </c:spPr>
        </c:majorGridlines>
        <c:title>
          <c:tx>
            <c:rich>
              <a:bodyPr/>
              <a:lstStyle/>
              <a:p>
                <a:r>
                  <a:rPr sz="1200" b="0">
                    <a:solidFill>
                      <a:srgbClr val="2B3A44"/>
                    </a:solidFill>
                  </a:rPr>
                  <a:t>smallest pin freeboard (mm)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1.2314269213664835</c:v>
                </c:pt>
                <c:pt idx="1">
                  <c:v>1.7229854569377243</c:v>
                </c:pt>
                <c:pt idx="2">
                  <c:v>3.7078826145623487</c:v>
                </c:pt>
                <c:pt idx="3">
                  <c:v>8.198277373548724</c:v>
                </c:pt>
                <c:pt idx="4">
                  <c:v>2.1363855722761227</c:v>
                </c:pt>
                <c:pt idx="5">
                  <c:v>0.6641080637836576</c:v>
                </c:pt>
                <c:pt idx="6">
                  <c:v>0.30998343420235064</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0.72125424151825</c:v>
                </c:pt>
                <c:pt idx="1">
                  <c:v>0.6562640912040621</c:v>
                </c:pt>
                <c:pt idx="2">
                  <c:v>1.778816916308601</c:v>
                </c:pt>
                <c:pt idx="3">
                  <c:v>3.0465366308744497</c:v>
                </c:pt>
                <c:pt idx="4">
                  <c:v>4.055646586514151</c:v>
                </c:pt>
                <c:pt idx="5">
                  <c:v>12.328877557677023</c:v>
                </c:pt>
                <c:pt idx="6">
                  <c:v>1.4708646607948517</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0.7990935690437784</c:v>
                </c:pt>
                <c:pt idx="1">
                  <c:v>0.6935426267497844</c:v>
                </c:pt>
                <c:pt idx="2">
                  <c:v>1.981751779266175</c:v>
                </c:pt>
                <c:pt idx="3">
                  <c:v>3.638149133726407</c:v>
                </c:pt>
                <c:pt idx="4">
                  <c:v>4.235112237436675</c:v>
                </c:pt>
                <c:pt idx="5">
                  <c:v>12.326350051864452</c:v>
                </c:pt>
                <c:pt idx="6">
                  <c:v>1.4994571817975384</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0.8820382501580898</c:v>
                </c:pt>
                <c:pt idx="1">
                  <c:v>0.7231942201257808</c:v>
                </c:pt>
                <c:pt idx="2">
                  <c:v>2.2851133791205784</c:v>
                </c:pt>
                <c:pt idx="3">
                  <c:v>4.3304034684819825</c:v>
                </c:pt>
                <c:pt idx="4">
                  <c:v>4.5422253694004535</c:v>
                </c:pt>
                <c:pt idx="5">
                  <c:v>12.607549839923475</c:v>
                </c:pt>
                <c:pt idx="6">
                  <c:v>1.5556003282494388</c:v>
                </c:pt>
              </c:numCache>
            </c:numRef>
          </c:yVal>
          <c:smooth val="0"/>
        </c:ser>
        <c:ser>
          <c:idx val="4"/>
          <c:order val="4"/>
          <c:tx>
            <c:strRef>
              <c:f>Sheet1!$B$37</c:f>
              <c:strCache>
                <c:ptCount val="1"/>
                <c:pt idx="0">
                  <c:v>payload centred (without preload)</c:v>
                </c:pt>
              </c:strCache>
            </c:strRef>
          </c:tx>
          <c:spPr>
            <a:ln w="15875">
              <a:solidFill>
                <a:srgbClr val="0C8B96"/>
              </a:solidFill>
              <a:prstDash val="dash"/>
            </a:ln>
          </c:spPr>
          <c:marker>
            <c:symbol val="none"/>
          </c:marker>
          <c:xVal>
            <c:numRef>
              <c:f>Sheet1!$A$38:$A$44</c:f>
              <c:numCache>
                <c:formatCode>General</c:formatCode>
                <c:ptCount val="7"/>
                <c:pt idx="0">
                  <c:v>1.5</c:v>
                </c:pt>
                <c:pt idx="1">
                  <c:v>2.0</c:v>
                </c:pt>
                <c:pt idx="2">
                  <c:v>2.35</c:v>
                </c:pt>
                <c:pt idx="3">
                  <c:v>2.65</c:v>
                </c:pt>
                <c:pt idx="4">
                  <c:v>3.5</c:v>
                </c:pt>
                <c:pt idx="5">
                  <c:v>4.2</c:v>
                </c:pt>
                <c:pt idx="6">
                  <c:v>5.0</c:v>
                </c:pt>
              </c:numCache>
            </c:numRef>
          </c:xVal>
          <c:yVal>
            <c:numRef>
              <c:f>Sheet1!$B$38:$B$44</c:f>
              <c:numCache>
                <c:formatCode>General</c:formatCode>
                <c:ptCount val="7"/>
                <c:pt idx="0">
                  <c:v>0.8757917187064503</c:v>
                </c:pt>
                <c:pt idx="1">
                  <c:v>1.0831007941615967</c:v>
                </c:pt>
                <c:pt idx="2">
                  <c:v>2.5142802378481397</c:v>
                </c:pt>
                <c:pt idx="3">
                  <c:v>6.92856192970313</c:v>
                </c:pt>
                <c:pt idx="4">
                  <c:v>0.547490530338462</c:v>
                </c:pt>
                <c:pt idx="5">
                  <c:v>0.17859023847668906</c:v>
                </c:pt>
                <c:pt idx="6">
                  <c:v>0.21117001409347894</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14.0"/>
          <c:min val="0.0"/>
        </c:scaling>
        <c:delete val="0"/>
        <c:axPos val="l"/>
        <c:majorGridlines>
          <c:spPr>
            <a:ln>
              <a:solidFill>
                <a:srgbClr val="E6ECEE"/>
              </a:solidFill>
            </a:ln>
          </c:spPr>
        </c:majorGridlines>
        <c:title>
          <c:tx>
            <c:rich>
              <a:bodyPr/>
              <a:lstStyle/>
              <a:p>
                <a:r>
                  <a:rPr sz="1200" b="0">
                    <a:solidFill>
                      <a:srgbClr val="2B3A44"/>
                    </a:solidFill>
                  </a:rPr>
                  <a:t>largest gimbal angle (°)</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0.8410250742072352</c:v>
                </c:pt>
                <c:pt idx="1">
                  <c:v>2.142535868978723</c:v>
                </c:pt>
                <c:pt idx="2">
                  <c:v>4.044742319060423</c:v>
                </c:pt>
                <c:pt idx="3">
                  <c:v>6.6174511082259215</c:v>
                </c:pt>
                <c:pt idx="4">
                  <c:v>3.227315552302964</c:v>
                </c:pt>
                <c:pt idx="5">
                  <c:v>0.875409252715577</c:v>
                </c:pt>
                <c:pt idx="6">
                  <c:v>0.5040787103640686</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0.708716559886359</c:v>
                </c:pt>
                <c:pt idx="1">
                  <c:v>1.6128752442659664</c:v>
                </c:pt>
                <c:pt idx="2">
                  <c:v>2.800012325318408</c:v>
                </c:pt>
                <c:pt idx="3">
                  <c:v>3.6107289759395824</c:v>
                </c:pt>
                <c:pt idx="4">
                  <c:v>3.494398128769598</c:v>
                </c:pt>
                <c:pt idx="5">
                  <c:v>11.063750711452268</c:v>
                </c:pt>
                <c:pt idx="6">
                  <c:v>1.960468259796173</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0.838110736246651</c:v>
                </c:pt>
                <c:pt idx="1">
                  <c:v>1.834898422013471</c:v>
                </c:pt>
                <c:pt idx="2">
                  <c:v>3.080145433978442</c:v>
                </c:pt>
                <c:pt idx="3">
                  <c:v>3.813599953438331</c:v>
                </c:pt>
                <c:pt idx="4">
                  <c:v>3.5058861273158235</c:v>
                </c:pt>
                <c:pt idx="5">
                  <c:v>11.23183299621049</c:v>
                </c:pt>
                <c:pt idx="6">
                  <c:v>1.9687266417507998</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0.9698831441184217</c:v>
                </c:pt>
                <c:pt idx="1">
                  <c:v>2.0460539485680247</c:v>
                </c:pt>
                <c:pt idx="2">
                  <c:v>3.2933066114376737</c:v>
                </c:pt>
                <c:pt idx="3">
                  <c:v>3.8071333932041145</c:v>
                </c:pt>
                <c:pt idx="4">
                  <c:v>3.4654784752629206</c:v>
                </c:pt>
                <c:pt idx="5">
                  <c:v>11.19282075714933</c:v>
                </c:pt>
                <c:pt idx="6">
                  <c:v>1.8073363832339233</c:v>
                </c:pt>
              </c:numCache>
            </c:numRef>
          </c:yVal>
          <c:smooth val="0"/>
        </c:ser>
        <c:ser>
          <c:idx val="4"/>
          <c:order val="4"/>
          <c:tx>
            <c:strRef>
              <c:f>Sheet1!$B$37</c:f>
              <c:strCache>
                <c:ptCount val="1"/>
                <c:pt idx="0">
                  <c:v>payload centred (without preload)</c:v>
                </c:pt>
              </c:strCache>
            </c:strRef>
          </c:tx>
          <c:spPr>
            <a:ln w="15875">
              <a:solidFill>
                <a:srgbClr val="0C8B96"/>
              </a:solidFill>
              <a:prstDash val="dash"/>
            </a:ln>
          </c:spPr>
          <c:marker>
            <c:symbol val="none"/>
          </c:marker>
          <c:xVal>
            <c:numRef>
              <c:f>Sheet1!$A$38:$A$44</c:f>
              <c:numCache>
                <c:formatCode>General</c:formatCode>
                <c:ptCount val="7"/>
                <c:pt idx="0">
                  <c:v>1.5</c:v>
                </c:pt>
                <c:pt idx="1">
                  <c:v>2.0</c:v>
                </c:pt>
                <c:pt idx="2">
                  <c:v>2.35</c:v>
                </c:pt>
                <c:pt idx="3">
                  <c:v>2.65</c:v>
                </c:pt>
                <c:pt idx="4">
                  <c:v>3.5</c:v>
                </c:pt>
                <c:pt idx="5">
                  <c:v>4.2</c:v>
                </c:pt>
                <c:pt idx="6">
                  <c:v>5.0</c:v>
                </c:pt>
              </c:numCache>
            </c:numRef>
          </c:xVal>
          <c:yVal>
            <c:numRef>
              <c:f>Sheet1!$B$38:$B$44</c:f>
              <c:numCache>
                <c:formatCode>General</c:formatCode>
                <c:ptCount val="7"/>
                <c:pt idx="0">
                  <c:v>0.7429738342133168</c:v>
                </c:pt>
                <c:pt idx="1">
                  <c:v>1.824692913045666</c:v>
                </c:pt>
                <c:pt idx="2">
                  <c:v>3.5276299117803</c:v>
                </c:pt>
                <c:pt idx="3">
                  <c:v>7.208421230710721</c:v>
                </c:pt>
                <c:pt idx="4">
                  <c:v>0.6193729406596259</c:v>
                </c:pt>
                <c:pt idx="5">
                  <c:v>0.6055026795740803</c:v>
                </c:pt>
                <c:pt idx="6">
                  <c:v>0.8530371765577375</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14.0"/>
          <c:min val="0.0"/>
        </c:scaling>
        <c:delete val="0"/>
        <c:axPos val="l"/>
        <c:majorGridlines>
          <c:spPr>
            <a:ln>
              <a:solidFill>
                <a:srgbClr val="E6ECEE"/>
              </a:solidFill>
            </a:ln>
          </c:spPr>
        </c:majorGridlines>
        <c:title>
          <c:tx>
            <c:rich>
              <a:bodyPr/>
              <a:lstStyle/>
              <a:p>
                <a:r>
                  <a:rPr sz="1200" b="0">
                    <a:solidFill>
                      <a:srgbClr val="2B3A44"/>
                    </a:solidFill>
                  </a:rPr>
                  <a:t>largest gimbal angle (°)</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0.032377195575805234</c:v>
                </c:pt>
                <c:pt idx="1">
                  <c:v>0.15738183460520544</c:v>
                </c:pt>
                <c:pt idx="2">
                  <c:v>0.3306757009252356</c:v>
                </c:pt>
                <c:pt idx="3">
                  <c:v>0.4240961510848143</c:v>
                </c:pt>
                <c:pt idx="4">
                  <c:v>0.2092097259356519</c:v>
                </c:pt>
                <c:pt idx="5">
                  <c:v>0.12611447436692386</c:v>
                </c:pt>
                <c:pt idx="6">
                  <c:v>0.08381186106464945</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0.020931016156902512</c:v>
                </c:pt>
                <c:pt idx="1">
                  <c:v>0.10930938367872793</c:v>
                </c:pt>
                <c:pt idx="2">
                  <c:v>0.25887934564788356</c:v>
                </c:pt>
                <c:pt idx="3">
                  <c:v>0.3815212794113695</c:v>
                </c:pt>
                <c:pt idx="4">
                  <c:v>0.22301457844337874</c:v>
                </c:pt>
                <c:pt idx="5">
                  <c:v>0.13077472973570628</c:v>
                </c:pt>
                <c:pt idx="6">
                  <c:v>0.08466542185048394</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0.02291026413502672</c:v>
                </c:pt>
                <c:pt idx="1">
                  <c:v>0.1094782324389758</c:v>
                </c:pt>
                <c:pt idx="2">
                  <c:v>0.25667524012588183</c:v>
                </c:pt>
                <c:pt idx="3">
                  <c:v>0.3792271644096107</c:v>
                </c:pt>
                <c:pt idx="4">
                  <c:v>0.22338004718968016</c:v>
                </c:pt>
                <c:pt idx="5">
                  <c:v>0.1312190788350767</c:v>
                </c:pt>
                <c:pt idx="6">
                  <c:v>0.08469380091792483</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0.028474657234206533</c:v>
                </c:pt>
                <c:pt idx="1">
                  <c:v>0.11013491311969566</c:v>
                </c:pt>
                <c:pt idx="2">
                  <c:v>0.2517877877455819</c:v>
                </c:pt>
                <c:pt idx="3">
                  <c:v>0.3742647509852939</c:v>
                </c:pt>
                <c:pt idx="4">
                  <c:v>0.22455743587759225</c:v>
                </c:pt>
                <c:pt idx="5">
                  <c:v>0.13355823999736738</c:v>
                </c:pt>
                <c:pt idx="6">
                  <c:v>0.08479357924063834</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0.5"/>
          <c:min val="0.0"/>
        </c:scaling>
        <c:delete val="0"/>
        <c:axPos val="l"/>
        <c:majorGridlines>
          <c:spPr>
            <a:ln>
              <a:solidFill>
                <a:srgbClr val="E6ECEE"/>
              </a:solidFill>
            </a:ln>
          </c:spPr>
        </c:majorGridlines>
        <c:title>
          <c:tx>
            <c:rich>
              <a:bodyPr/>
              <a:lstStyle/>
              <a:p>
                <a:r>
                  <a:rPr sz="1200" b="0">
                    <a:solidFill>
                      <a:srgbClr val="2B3A44"/>
                    </a:solidFill>
                  </a:rPr>
                  <a:t>vertical acceleration (m/s²)</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0.004327078755833553</c:v>
                </c:pt>
                <c:pt idx="1">
                  <c:v>0.1049659548687655</c:v>
                </c:pt>
                <c:pt idx="2">
                  <c:v>0.2699669797570685</c:v>
                </c:pt>
                <c:pt idx="3">
                  <c:v>0.37065148458361197</c:v>
                </c:pt>
                <c:pt idx="4">
                  <c:v>0.20210730102679259</c:v>
                </c:pt>
                <c:pt idx="5">
                  <c:v>0.1241020825262931</c:v>
                </c:pt>
                <c:pt idx="6">
                  <c:v>0.0831331314472477</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0.0027352071995746245</c:v>
                </c:pt>
                <c:pt idx="1">
                  <c:v>0.07294305170413372</c:v>
                </c:pt>
                <c:pt idx="2">
                  <c:v>0.21166959067426505</c:v>
                </c:pt>
                <c:pt idx="3">
                  <c:v>0.3392056428603785</c:v>
                </c:pt>
                <c:pt idx="4">
                  <c:v>0.2163752253708586</c:v>
                </c:pt>
                <c:pt idx="5">
                  <c:v>0.12589773066981297</c:v>
                </c:pt>
                <c:pt idx="6">
                  <c:v>0.08396907581201787</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0.011683458873625355</c:v>
                </c:pt>
                <c:pt idx="1">
                  <c:v>0.0774279138465955</c:v>
                </c:pt>
                <c:pt idx="2">
                  <c:v>0.20069905806643798</c:v>
                </c:pt>
                <c:pt idx="3">
                  <c:v>0.32222367841021354</c:v>
                </c:pt>
                <c:pt idx="4">
                  <c:v>0.2205125785011183</c:v>
                </c:pt>
                <c:pt idx="5">
                  <c:v>0.12568424566597</c:v>
                </c:pt>
                <c:pt idx="6">
                  <c:v>0.08429563427951195</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0.032727554350576775</c:v>
                </c:pt>
                <c:pt idx="1">
                  <c:v>0.08963562584518137</c:v>
                </c:pt>
                <c:pt idx="2">
                  <c:v>0.1893912379418016</c:v>
                </c:pt>
                <c:pt idx="3">
                  <c:v>0.30200988550119234</c:v>
                </c:pt>
                <c:pt idx="4">
                  <c:v>0.2354644641062543</c:v>
                </c:pt>
                <c:pt idx="5">
                  <c:v>0.1378122093113444</c:v>
                </c:pt>
                <c:pt idx="6">
                  <c:v>0.08544526487917442</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0.5"/>
          <c:min val="0.0"/>
        </c:scaling>
        <c:delete val="0"/>
        <c:axPos val="l"/>
        <c:majorGridlines>
          <c:spPr>
            <a:ln>
              <a:solidFill>
                <a:srgbClr val="E6ECEE"/>
              </a:solidFill>
            </a:ln>
          </c:spPr>
        </c:majorGridlines>
        <c:title>
          <c:tx>
            <c:rich>
              <a:bodyPr/>
              <a:lstStyle/>
              <a:p>
                <a:r>
                  <a:rPr sz="1200" b="0">
                    <a:solidFill>
                      <a:srgbClr val="2B3A44"/>
                    </a:solidFill>
                  </a:rPr>
                  <a:t>vertical acceleration (m/s²)</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Cluster, 12.5 kg on the hub</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0.9485790259904476</c:v>
                </c:pt>
                <c:pt idx="1">
                  <c:v>0.9884359972235353</c:v>
                </c:pt>
                <c:pt idx="2">
                  <c:v>1.0543849872101672</c:v>
                </c:pt>
                <c:pt idx="3">
                  <c:v>1.1597144403028727</c:v>
                </c:pt>
                <c:pt idx="4">
                  <c:v>0.34580803348035327</c:v>
                </c:pt>
                <c:pt idx="5">
                  <c:v>0.10719337225764625</c:v>
                </c:pt>
                <c:pt idx="6">
                  <c:v>0.04425965072312955</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0.6295021177010461</c:v>
                </c:pt>
                <c:pt idx="1">
                  <c:v>0.617567607716437</c:v>
                </c:pt>
                <c:pt idx="2">
                  <c:v>0.6106705700025659</c:v>
                </c:pt>
                <c:pt idx="3">
                  <c:v>0.4322650618233918</c:v>
                </c:pt>
                <c:pt idx="4">
                  <c:v>0.13111226287106537</c:v>
                </c:pt>
                <c:pt idx="5">
                  <c:v>0.6009400453649525</c:v>
                </c:pt>
                <c:pt idx="6">
                  <c:v>0.07890611086916395</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0.6319463006497784</c:v>
                </c:pt>
                <c:pt idx="1">
                  <c:v>0.6280249210553056</c:v>
                </c:pt>
                <c:pt idx="2">
                  <c:v>0.6926277303123612</c:v>
                </c:pt>
                <c:pt idx="3">
                  <c:v>0.5399191726446732</c:v>
                </c:pt>
                <c:pt idx="4">
                  <c:v>0.10034496908898509</c:v>
                </c:pt>
                <c:pt idx="5">
                  <c:v>0.5632616324887088</c:v>
                </c:pt>
                <c:pt idx="6">
                  <c:v>0.07651568957569395</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0.6392972320705013</c:v>
                </c:pt>
                <c:pt idx="1">
                  <c:v>0.6459557674768104</c:v>
                </c:pt>
                <c:pt idx="2">
                  <c:v>0.7869196816784383</c:v>
                </c:pt>
                <c:pt idx="3">
                  <c:v>0.6801901742466917</c:v>
                </c:pt>
                <c:pt idx="4">
                  <c:v>0.05640353425047307</c:v>
                </c:pt>
                <c:pt idx="5">
                  <c:v>0.4762095746350085</c:v>
                </c:pt>
                <c:pt idx="6">
                  <c:v>0.06895649094399953</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1.2"/>
          <c:min val="0.0"/>
        </c:scaling>
        <c:delete val="0"/>
        <c:axPos val="l"/>
        <c:majorGridlines>
          <c:spPr>
            <a:ln>
              <a:solidFill>
                <a:srgbClr val="E6ECEE"/>
              </a:solidFill>
            </a:ln>
          </c:spPr>
        </c:majorGridlines>
        <c:title>
          <c:tx>
            <c:rich>
              <a:bodyPr/>
              <a:lstStyle/>
              <a:p>
                <a:r>
                  <a:rPr sz="1200" b="0">
                    <a:solidFill>
                      <a:srgbClr val="2B3A44"/>
                    </a:solidFill>
                  </a:rPr>
                  <a:t>lateral acceleration (m/s²)</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Platform, 50 kg on the deck</a:t>
            </a:r>
          </a:p>
        </c:rich>
      </c:tx>
      <c:layout/>
      <c:overlay val="0"/>
    </c:title>
    <c:plotArea>
      <c:scatterChart>
        <c:scatterStyle val="lineMarker"/>
        <c:varyColors val="0"/>
        <c:ser>
          <c:idx val="0"/>
          <c:order val="0"/>
          <c:tx>
            <c:strRef>
              <c:f>Sheet1!$B$1</c:f>
              <c:strCache>
                <c:ptCount val="1"/>
                <c:pt idx="0">
                  <c:v>unloaded</c:v>
                </c:pt>
              </c:strCache>
            </c:strRef>
          </c:tx>
          <c:spPr>
            <a:ln w="31750">
              <a:solidFill>
                <a:srgbClr val="8A959C"/>
              </a:solidFill>
            </a:ln>
          </c:spPr>
          <c:marker>
            <c:symbol val="none"/>
          </c:marker>
          <c:xVal>
            <c:numRef>
              <c:f>Sheet1!$A$2:$A$8</c:f>
              <c:numCache>
                <c:formatCode>General</c:formatCode>
                <c:ptCount val="7"/>
                <c:pt idx="0">
                  <c:v>1.5</c:v>
                </c:pt>
                <c:pt idx="1">
                  <c:v>2.0</c:v>
                </c:pt>
                <c:pt idx="2">
                  <c:v>2.35</c:v>
                </c:pt>
                <c:pt idx="3">
                  <c:v>2.65</c:v>
                </c:pt>
                <c:pt idx="4">
                  <c:v>3.5</c:v>
                </c:pt>
                <c:pt idx="5">
                  <c:v>4.2</c:v>
                </c:pt>
                <c:pt idx="6">
                  <c:v>5.0</c:v>
                </c:pt>
              </c:numCache>
            </c:numRef>
          </c:xVal>
          <c:yVal>
            <c:numRef>
              <c:f>Sheet1!$B$2:$B$8</c:f>
              <c:numCache>
                <c:formatCode>General</c:formatCode>
                <c:ptCount val="7"/>
                <c:pt idx="0">
                  <c:v>0.12211361007488085</c:v>
                </c:pt>
                <c:pt idx="1">
                  <c:v>0.6310568049040537</c:v>
                </c:pt>
                <c:pt idx="2">
                  <c:v>0.7885210696854433</c:v>
                </c:pt>
                <c:pt idx="3">
                  <c:v>0.7363155503144678</c:v>
                </c:pt>
                <c:pt idx="4">
                  <c:v>0.43766919167569235</c:v>
                </c:pt>
                <c:pt idx="5">
                  <c:v>0.12131725752429383</c:v>
                </c:pt>
                <c:pt idx="6">
                  <c:v>0.049370051768897964</c:v>
                </c:pt>
              </c:numCache>
            </c:numRef>
          </c:yVal>
          <c:smooth val="0"/>
        </c:ser>
        <c:ser>
          <c:idx val="1"/>
          <c:order val="1"/>
          <c:tx>
            <c:strRef>
              <c:f>Sheet1!$B$10</c:f>
              <c:strCache>
                <c:ptCount val="1"/>
                <c:pt idx="0">
                  <c:v>payload centred</c:v>
                </c:pt>
              </c:strCache>
            </c:strRef>
          </c:tx>
          <c:spPr>
            <a:ln w="31750">
              <a:solidFill>
                <a:srgbClr val="0C8B96"/>
              </a:solidFill>
            </a:ln>
          </c:spPr>
          <c:marker>
            <c:symbol val="none"/>
          </c:marker>
          <c:xVal>
            <c:numRef>
              <c:f>Sheet1!$A$11:$A$17</c:f>
              <c:numCache>
                <c:formatCode>General</c:formatCode>
                <c:ptCount val="7"/>
                <c:pt idx="0">
                  <c:v>1.5</c:v>
                </c:pt>
                <c:pt idx="1">
                  <c:v>2.0</c:v>
                </c:pt>
                <c:pt idx="2">
                  <c:v>2.35</c:v>
                </c:pt>
                <c:pt idx="3">
                  <c:v>2.65</c:v>
                </c:pt>
                <c:pt idx="4">
                  <c:v>3.5</c:v>
                </c:pt>
                <c:pt idx="5">
                  <c:v>4.2</c:v>
                </c:pt>
                <c:pt idx="6">
                  <c:v>5.0</c:v>
                </c:pt>
              </c:numCache>
            </c:numRef>
          </c:xVal>
          <c:yVal>
            <c:numRef>
              <c:f>Sheet1!$B$11:$B$17</c:f>
              <c:numCache>
                <c:formatCode>General</c:formatCode>
                <c:ptCount val="7"/>
                <c:pt idx="0">
                  <c:v>0.08047079492985917</c:v>
                </c:pt>
                <c:pt idx="1">
                  <c:v>0.3947505669702504</c:v>
                </c:pt>
                <c:pt idx="2">
                  <c:v>0.48525806832400403</c:v>
                </c:pt>
                <c:pt idx="3">
                  <c:v>0.39799353793087</c:v>
                </c:pt>
                <c:pt idx="4">
                  <c:v>0.09093681186938936</c:v>
                </c:pt>
                <c:pt idx="5">
                  <c:v>0.518141936319724</c:v>
                </c:pt>
                <c:pt idx="6">
                  <c:v>0.10382359369094218</c:v>
                </c:pt>
              </c:numCache>
            </c:numRef>
          </c:yVal>
          <c:smooth val="0"/>
        </c:ser>
        <c:ser>
          <c:idx val="2"/>
          <c:order val="2"/>
          <c:tx>
            <c:strRef>
              <c:f>Sheet1!$B$19</c:f>
              <c:strCache>
                <c:ptCount val="1"/>
                <c:pt idx="0">
                  <c:v>shifted: 5° tilt</c:v>
                </c:pt>
              </c:strCache>
            </c:strRef>
          </c:tx>
          <c:spPr>
            <a:ln w="31750">
              <a:solidFill>
                <a:srgbClr val="C9772B"/>
              </a:solidFill>
            </a:ln>
          </c:spPr>
          <c:marker>
            <c:symbol val="none"/>
          </c:marker>
          <c:xVal>
            <c:numRef>
              <c:f>Sheet1!$A$20:$A$26</c:f>
              <c:numCache>
                <c:formatCode>General</c:formatCode>
                <c:ptCount val="7"/>
                <c:pt idx="0">
                  <c:v>1.5</c:v>
                </c:pt>
                <c:pt idx="1">
                  <c:v>2.0</c:v>
                </c:pt>
                <c:pt idx="2">
                  <c:v>2.35</c:v>
                </c:pt>
                <c:pt idx="3">
                  <c:v>2.65</c:v>
                </c:pt>
                <c:pt idx="4">
                  <c:v>3.5</c:v>
                </c:pt>
                <c:pt idx="5">
                  <c:v>4.2</c:v>
                </c:pt>
                <c:pt idx="6">
                  <c:v>5.0</c:v>
                </c:pt>
              </c:numCache>
            </c:numRef>
          </c:xVal>
          <c:yVal>
            <c:numRef>
              <c:f>Sheet1!$B$20:$B$26</c:f>
              <c:numCache>
                <c:formatCode>General</c:formatCode>
                <c:ptCount val="7"/>
                <c:pt idx="0">
                  <c:v>0.08693454290840585</c:v>
                </c:pt>
                <c:pt idx="1">
                  <c:v>0.3977786389169194</c:v>
                </c:pt>
                <c:pt idx="2">
                  <c:v>0.5317029188232106</c:v>
                </c:pt>
                <c:pt idx="3">
                  <c:v>0.49013580315941124</c:v>
                </c:pt>
                <c:pt idx="4">
                  <c:v>0.048674579911032294</c:v>
                </c:pt>
                <c:pt idx="5">
                  <c:v>0.49403396679056294</c:v>
                </c:pt>
                <c:pt idx="6">
                  <c:v>0.09721137131661488</c:v>
                </c:pt>
              </c:numCache>
            </c:numRef>
          </c:yVal>
          <c:smooth val="0"/>
        </c:ser>
        <c:ser>
          <c:idx val="3"/>
          <c:order val="3"/>
          <c:tx>
            <c:strRef>
              <c:f>Sheet1!$B$28</c:f>
              <c:strCache>
                <c:ptCount val="1"/>
                <c:pt idx="0">
                  <c:v>shifted: 10° tilt</c:v>
                </c:pt>
              </c:strCache>
            </c:strRef>
          </c:tx>
          <c:spPr>
            <a:ln w="31750">
              <a:solidFill>
                <a:srgbClr val="B2432C"/>
              </a:solidFill>
            </a:ln>
          </c:spPr>
          <c:marker>
            <c:symbol val="none"/>
          </c:marker>
          <c:xVal>
            <c:numRef>
              <c:f>Sheet1!$A$29:$A$35</c:f>
              <c:numCache>
                <c:formatCode>General</c:formatCode>
                <c:ptCount val="7"/>
                <c:pt idx="0">
                  <c:v>1.5</c:v>
                </c:pt>
                <c:pt idx="1">
                  <c:v>2.0</c:v>
                </c:pt>
                <c:pt idx="2">
                  <c:v>2.35</c:v>
                </c:pt>
                <c:pt idx="3">
                  <c:v>2.65</c:v>
                </c:pt>
                <c:pt idx="4">
                  <c:v>3.5</c:v>
                </c:pt>
                <c:pt idx="5">
                  <c:v>4.2</c:v>
                </c:pt>
                <c:pt idx="6">
                  <c:v>5.0</c:v>
                </c:pt>
              </c:numCache>
            </c:numRef>
          </c:xVal>
          <c:yVal>
            <c:numRef>
              <c:f>Sheet1!$B$29:$B$35</c:f>
              <c:numCache>
                <c:formatCode>General</c:formatCode>
                <c:ptCount val="7"/>
                <c:pt idx="0">
                  <c:v>0.10985847724886752</c:v>
                </c:pt>
                <c:pt idx="1">
                  <c:v>0.404738724494935</c:v>
                </c:pt>
                <c:pt idx="2">
                  <c:v>0.5683249964218594</c:v>
                </c:pt>
                <c:pt idx="3">
                  <c:v>0.5982634235919916</c:v>
                </c:pt>
                <c:pt idx="4">
                  <c:v>0.04639831551355259</c:v>
                </c:pt>
                <c:pt idx="5">
                  <c:v>0.41076811330879054</c:v>
                </c:pt>
                <c:pt idx="6">
                  <c:v>0.07997154019377853</c:v>
                </c:pt>
              </c:numCache>
            </c:numRef>
          </c:yVal>
          <c:smooth val="0"/>
        </c:ser>
        <c:axId val="-2128940872"/>
        <c:axId val="-2129643912"/>
      </c:scatterChart>
      <c:valAx>
        <c:axId val="-2128940872"/>
        <c:scaling>
          <c:orientation val="minMax"/>
          <c:max val="5.5"/>
          <c:min val="1.0"/>
        </c:scaling>
        <c:delete val="0"/>
        <c:axPos val="b"/>
        <c:majorGridlines>
          <c:spPr>
            <a:ln>
              <a:solidFill>
                <a:srgbClr val="E6ECEE"/>
              </a:solidFill>
            </a:ln>
          </c:spPr>
        </c:majorGridlines>
        <c:title>
          <c:tx>
            <c:rich>
              <a:bodyPr/>
              <a:lstStyle/>
              <a:p>
                <a:r>
                  <a:rPr sz="1200" b="0">
                    <a:solidFill>
                      <a:srgbClr val="2B3A44"/>
                    </a:solidFill>
                  </a:rPr>
                  <a:t>wave period (s)</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1.2"/>
          <c:min val="0.0"/>
        </c:scaling>
        <c:delete val="0"/>
        <c:axPos val="l"/>
        <c:majorGridlines>
          <c:spPr>
            <a:ln>
              <a:solidFill>
                <a:srgbClr val="E6ECEE"/>
              </a:solidFill>
            </a:ln>
          </c:spPr>
        </c:majorGridlines>
        <c:title>
          <c:tx>
            <c:rich>
              <a:bodyPr/>
              <a:lstStyle/>
              <a:p>
                <a:r>
                  <a:rPr sz="1200" b="0">
                    <a:solidFill>
                      <a:srgbClr val="2B3A44"/>
                    </a:solidFill>
                  </a:rPr>
                  <a:t>lateral acceleration (m/s²)</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One buoy, loaded on its pin (12-panel table)</a:t>
            </a:r>
          </a:p>
        </c:rich>
      </c:tx>
      <c:layout/>
      <c:overlay val="0"/>
    </c:title>
    <c:plotArea>
      <c:scatterChart>
        <c:scatterStyle val="lineMarker"/>
        <c:varyColors val="0"/>
        <c:ser>
          <c:idx val="0"/>
          <c:order val="0"/>
          <c:tx>
            <c:strRef>
              <c:f>Sheet1!$B$1</c:f>
              <c:strCache>
                <c:ptCount val="1"/>
                <c:pt idx="0">
                  <c:v>buoy's own righting, C55</c:v>
                </c:pt>
              </c:strCache>
            </c:strRef>
          </c:tx>
          <c:spPr>
            <a:ln w="28575">
              <a:solidFill>
                <a:srgbClr val="2F74C0"/>
              </a:solidFill>
            </a:ln>
          </c:spPr>
          <c:marker>
            <c:symbol val="none"/>
          </c:marker>
          <c:xVal>
            <c:numRef>
              <c:f>Sheet1!$A$2:$A$32</c:f>
              <c:numCache>
                <c:formatCode>General</c:formatCode>
                <c:ptCount val="3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0.71</c:v>
                </c:pt>
                <c:pt idx="30">
                  <c:v>0.715</c:v>
                </c:pt>
              </c:numCache>
            </c:numRef>
          </c:xVal>
          <c:yVal>
            <c:numRef>
              <c:f>Sheet1!$B$2:$B$32</c:f>
              <c:numCache>
                <c:formatCode>General</c:formatCode>
                <c:ptCount val="31"/>
                <c:pt idx="0">
                  <c:v>70.77111014228981</c:v>
                </c:pt>
                <c:pt idx="1">
                  <c:v>75.05271897264053</c:v>
                </c:pt>
                <c:pt idx="2">
                  <c:v>79.45073913606264</c:v>
                </c:pt>
                <c:pt idx="3">
                  <c:v>83.96517063255547</c:v>
                </c:pt>
                <c:pt idx="4">
                  <c:v>88.59601346211954</c:v>
                </c:pt>
                <c:pt idx="5">
                  <c:v>93.34326762475519</c:v>
                </c:pt>
                <c:pt idx="6">
                  <c:v>98.20693312046124</c:v>
                </c:pt>
                <c:pt idx="7">
                  <c:v>103.18700994923893</c:v>
                </c:pt>
                <c:pt idx="8">
                  <c:v>108.28349811108626</c:v>
                </c:pt>
                <c:pt idx="9">
                  <c:v>113.49639760600532</c:v>
                </c:pt>
                <c:pt idx="10">
                  <c:v>118.82570843399652</c:v>
                </c:pt>
                <c:pt idx="11">
                  <c:v>124.2714305950569</c:v>
                </c:pt>
                <c:pt idx="12">
                  <c:v>129.83356408918854</c:v>
                </c:pt>
                <c:pt idx="13">
                  <c:v>135.5121089163924</c:v>
                </c:pt>
                <c:pt idx="14">
                  <c:v>141.30706507666622</c:v>
                </c:pt>
                <c:pt idx="15">
                  <c:v>147.218432570011</c:v>
                </c:pt>
                <c:pt idx="16">
                  <c:v>153.246211396428</c:v>
                </c:pt>
                <c:pt idx="17">
                  <c:v>159.3904015559143</c:v>
                </c:pt>
                <c:pt idx="18">
                  <c:v>165.65100304847195</c:v>
                </c:pt>
                <c:pt idx="19">
                  <c:v>172.0280158741014</c:v>
                </c:pt>
                <c:pt idx="20">
                  <c:v>178.52144003280182</c:v>
                </c:pt>
                <c:pt idx="21">
                  <c:v>185.13127552457175</c:v>
                </c:pt>
                <c:pt idx="22">
                  <c:v>191.85752234941458</c:v>
                </c:pt>
                <c:pt idx="23">
                  <c:v>198.7001805073278</c:v>
                </c:pt>
                <c:pt idx="24">
                  <c:v>205.65924999831174</c:v>
                </c:pt>
                <c:pt idx="25">
                  <c:v>212.7347308223664</c:v>
                </c:pt>
                <c:pt idx="26">
                  <c:v>219.92662297949323</c:v>
                </c:pt>
                <c:pt idx="27">
                  <c:v>227.2349264696899</c:v>
                </c:pt>
                <c:pt idx="28">
                  <c:v>234.65964129295853</c:v>
                </c:pt>
                <c:pt idx="29">
                  <c:v>237.6621223955254</c:v>
                </c:pt>
                <c:pt idx="30">
                  <c:v>239.17034762679535</c:v>
                </c:pt>
              </c:numCache>
            </c:numRef>
          </c:yVal>
          <c:smooth val="0"/>
        </c:ser>
        <c:ser>
          <c:idx val="1"/>
          <c:order val="1"/>
          <c:tx>
            <c:strRef>
              <c:f>Sheet1!$B$34</c:f>
              <c:strCache>
                <c:ptCount val="1"/>
                <c:pt idx="0">
                  <c:v>tipping by the pin load, P × L</c:v>
                </c:pt>
              </c:strCache>
            </c:strRef>
          </c:tx>
          <c:spPr>
            <a:ln w="28575">
              <a:solidFill>
                <a:srgbClr val="B2432C"/>
              </a:solidFill>
            </a:ln>
          </c:spPr>
          <c:marker>
            <c:symbol val="none"/>
          </c:marker>
          <c:xVal>
            <c:numRef>
              <c:f>Sheet1!$A$35:$A$65</c:f>
              <c:numCache>
                <c:formatCode>General</c:formatCode>
                <c:ptCount val="3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0.71</c:v>
                </c:pt>
                <c:pt idx="30">
                  <c:v>0.715</c:v>
                </c:pt>
              </c:numCache>
            </c:numRef>
          </c:xVal>
          <c:yVal>
            <c:numRef>
              <c:f>Sheet1!$B$35:$B$65</c:f>
              <c:numCache>
                <c:formatCode>General</c:formatCode>
                <c:ptCount val="31"/>
                <c:pt idx="0">
                  <c:v>0.0</c:v>
                </c:pt>
                <c:pt idx="1">
                  <c:v>7.562080196291845</c:v>
                </c:pt>
                <c:pt idx="2">
                  <c:v>15.124160392583361</c:v>
                </c:pt>
                <c:pt idx="3">
                  <c:v>22.686240588875204</c:v>
                </c:pt>
                <c:pt idx="4">
                  <c:v>30.24832078516727</c:v>
                </c:pt>
                <c:pt idx="5">
                  <c:v>37.81040098145873</c:v>
                </c:pt>
                <c:pt idx="6">
                  <c:v>45.37248117775063</c:v>
                </c:pt>
                <c:pt idx="7">
                  <c:v>52.934561374042644</c:v>
                </c:pt>
                <c:pt idx="8">
                  <c:v>60.4966415703341</c:v>
                </c:pt>
                <c:pt idx="9">
                  <c:v>68.05872176662616</c:v>
                </c:pt>
                <c:pt idx="10">
                  <c:v>75.62080196291812</c:v>
                </c:pt>
                <c:pt idx="11">
                  <c:v>83.18288215920909</c:v>
                </c:pt>
                <c:pt idx="12">
                  <c:v>90.74496235550116</c:v>
                </c:pt>
                <c:pt idx="13">
                  <c:v>98.30704255179305</c:v>
                </c:pt>
                <c:pt idx="14">
                  <c:v>105.8691227480845</c:v>
                </c:pt>
                <c:pt idx="15">
                  <c:v>113.43120294437685</c:v>
                </c:pt>
                <c:pt idx="16">
                  <c:v>120.99328314066852</c:v>
                </c:pt>
                <c:pt idx="17">
                  <c:v>128.5553633369602</c:v>
                </c:pt>
                <c:pt idx="18">
                  <c:v>136.1174435332521</c:v>
                </c:pt>
                <c:pt idx="19">
                  <c:v>143.67952372954358</c:v>
                </c:pt>
                <c:pt idx="20">
                  <c:v>151.24160392583545</c:v>
                </c:pt>
                <c:pt idx="21">
                  <c:v>158.8036841221272</c:v>
                </c:pt>
                <c:pt idx="22">
                  <c:v>166.36576431841883</c:v>
                </c:pt>
                <c:pt idx="23">
                  <c:v>173.92784451471107</c:v>
                </c:pt>
                <c:pt idx="24">
                  <c:v>181.48992471100263</c:v>
                </c:pt>
                <c:pt idx="25">
                  <c:v>189.0520049072936</c:v>
                </c:pt>
                <c:pt idx="26">
                  <c:v>196.61408510358638</c:v>
                </c:pt>
                <c:pt idx="27">
                  <c:v>204.17616529987686</c:v>
                </c:pt>
                <c:pt idx="28">
                  <c:v>211.73824549616927</c:v>
                </c:pt>
                <c:pt idx="29">
                  <c:v>214.7630775746859</c:v>
                </c:pt>
                <c:pt idx="30">
                  <c:v>216.27549361394395</c:v>
                </c:pt>
              </c:numCache>
            </c:numRef>
          </c:yVal>
          <c:smooth val="0"/>
        </c:ser>
        <c:ser>
          <c:idx val="2"/>
          <c:order val="2"/>
          <c:tx>
            <c:strRef>
              <c:f>Sheet1!$B$67</c:f>
              <c:strCache>
                <c:ptCount val="1"/>
                <c:pt idx="0">
                  <c:v>net rocking stiffness</c:v>
                </c:pt>
              </c:strCache>
            </c:strRef>
          </c:tx>
          <c:spPr>
            <a:ln w="38100">
              <a:solidFill>
                <a:srgbClr val="5A8A2B"/>
              </a:solidFill>
            </a:ln>
          </c:spPr>
          <c:marker>
            <c:symbol val="none"/>
          </c:marker>
          <c:xVal>
            <c:numRef>
              <c:f>Sheet1!$A$68:$A$98</c:f>
              <c:numCache>
                <c:formatCode>General</c:formatCode>
                <c:ptCount val="3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0.71</c:v>
                </c:pt>
                <c:pt idx="30">
                  <c:v>0.715</c:v>
                </c:pt>
              </c:numCache>
            </c:numRef>
          </c:xVal>
          <c:yVal>
            <c:numRef>
              <c:f>Sheet1!$B$68:$B$98</c:f>
              <c:numCache>
                <c:formatCode>General</c:formatCode>
                <c:ptCount val="31"/>
                <c:pt idx="0">
                  <c:v>70.77111014228981</c:v>
                </c:pt>
                <c:pt idx="1">
                  <c:v>67.49063877634869</c:v>
                </c:pt>
                <c:pt idx="2">
                  <c:v>64.32657874347927</c:v>
                </c:pt>
                <c:pt idx="3">
                  <c:v>61.27893004368026</c:v>
                </c:pt>
                <c:pt idx="4">
                  <c:v>58.34769267695228</c:v>
                </c:pt>
                <c:pt idx="5">
                  <c:v>55.53286664329646</c:v>
                </c:pt>
                <c:pt idx="6">
                  <c:v>52.834451942710615</c:v>
                </c:pt>
                <c:pt idx="7">
                  <c:v>50.25244857519628</c:v>
                </c:pt>
                <c:pt idx="8">
                  <c:v>47.78685654075216</c:v>
                </c:pt>
                <c:pt idx="9">
                  <c:v>45.43767583937915</c:v>
                </c:pt>
                <c:pt idx="10">
                  <c:v>43.2049064710784</c:v>
                </c:pt>
                <c:pt idx="11">
                  <c:v>41.08854843584781</c:v>
                </c:pt>
                <c:pt idx="12">
                  <c:v>39.08860173368738</c:v>
                </c:pt>
                <c:pt idx="13">
                  <c:v>37.20506636459936</c:v>
                </c:pt>
                <c:pt idx="14">
                  <c:v>35.43794232858173</c:v>
                </c:pt>
                <c:pt idx="15">
                  <c:v>33.787229625634154</c:v>
                </c:pt>
                <c:pt idx="16">
                  <c:v>32.252928255759485</c:v>
                </c:pt>
                <c:pt idx="17">
                  <c:v>30.83503821895411</c:v>
                </c:pt>
                <c:pt idx="18">
                  <c:v>29.53355951521985</c:v>
                </c:pt>
                <c:pt idx="19">
                  <c:v>28.348492144557838</c:v>
                </c:pt>
                <c:pt idx="20">
                  <c:v>27.27983610696637</c:v>
                </c:pt>
                <c:pt idx="21">
                  <c:v>26.32759140244454</c:v>
                </c:pt>
                <c:pt idx="22">
                  <c:v>25.491758030995754</c:v>
                </c:pt>
                <c:pt idx="23">
                  <c:v>24.772335992616718</c:v>
                </c:pt>
                <c:pt idx="24">
                  <c:v>24.169325287309107</c:v>
                </c:pt>
                <c:pt idx="25">
                  <c:v>23.682725915072808</c:v>
                </c:pt>
                <c:pt idx="26">
                  <c:v>23.312537875906855</c:v>
                </c:pt>
                <c:pt idx="27">
                  <c:v>23.05876116981304</c:v>
                </c:pt>
                <c:pt idx="28">
                  <c:v>22.921395796789255</c:v>
                </c:pt>
                <c:pt idx="29">
                  <c:v>22.899044820839492</c:v>
                </c:pt>
                <c:pt idx="30">
                  <c:v>22.894854012851397</c:v>
                </c:pt>
              </c:numCache>
            </c:numRef>
          </c:yVal>
          <c:smooth val="0"/>
        </c:ser>
        <c:axId val="-2128940872"/>
        <c:axId val="-2129643912"/>
      </c:scatterChart>
      <c:valAx>
        <c:axId val="-2128940872"/>
        <c:scaling>
          <c:orientation val="minMax"/>
          <c:max val="0.75"/>
          <c:min val="0.0"/>
        </c:scaling>
        <c:delete val="0"/>
        <c:axPos val="b"/>
        <c:majorGridlines>
          <c:spPr>
            <a:ln>
              <a:solidFill>
                <a:srgbClr val="E6ECEE"/>
              </a:solidFill>
            </a:ln>
          </c:spPr>
        </c:majorGridlines>
        <c:title>
          <c:tx>
            <c:rich>
              <a:bodyPr/>
              <a:lstStyle/>
              <a:p>
                <a:r>
                  <a:rPr sz="1200" b="0">
                    <a:solidFill>
                      <a:srgbClr val="2B3A44"/>
                    </a:solidFill>
                  </a:rPr>
                  <a:t>sinkage below the design draft (m)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260.0"/>
          <c:min val="0.0"/>
        </c:scaling>
        <c:delete val="0"/>
        <c:axPos val="l"/>
        <c:majorGridlines>
          <c:spPr>
            <a:ln>
              <a:solidFill>
                <a:srgbClr val="E6ECEE"/>
              </a:solidFill>
            </a:ln>
          </c:spPr>
        </c:majorGridlines>
        <c:title>
          <c:tx>
            <c:rich>
              <a:bodyPr/>
              <a:lstStyle/>
              <a:p>
                <a:r>
                  <a:rPr sz="1200" b="0">
                    <a:solidFill>
                      <a:srgbClr val="2B3A44"/>
                    </a:solidFill>
                  </a:rPr>
                  <a:t>stiffness (N·m/rad)</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summarises what shifting a payload does to the cluster and the platform in waves. The payload is shifted until the hub or deck tilts 5 and 10 degrees, and both are run in six regular wave periods plus one at 4.2 s. All results are FloatSim, with the hydrodynamics recomputed at each tilted position and FloatSim's new weight preload switched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numbers. With a payload on board, the buoys' rocking on their gimbals resonates at about 4.2 seconds, and there H = 0.1 m waves rock them 11 to 12.6 degrees. The tilt itself barely moves that resonance: the payload's mass sets it. And the pins stay well clear of the water at this wave height: the tightest case is the platform at 10 degrees, with 282 mm left.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cases. On the cluster, 12.5 kg — a quarter of the platform's 50 kg — sits on the hub; on the platform 50 kg sits on the deck. Each is first centred, then shifted along the wave direction until the hub or deck tilts 5 and 10 degrees. The pictures are the solved static equilibria, to scale: the loaded side sinks, the other side rises, and the lowest pin loses freeboard. The unloaded article is run as well, for reference.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was computed. The large-angle statics give each case's equilibrium: where every buoy floats and how much load each pin carries. Capytaine recomputes the coupled hydrodynamics of the buoys at exactly those positions. FloatSim then runs regular waves about that equilibrium, with its new weight preload so the joints carry their static loads. A very soft horizontal hold stops the free article drifting; it barely touches the wave response.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weight preload changes the answer. Each buoy hangs from its gimbal at the top of the spar, 1.6 m above its centre of gravity. The hub, deck and payload press down on that pin. When the buoy leans, the pin moves sideways and the load on it pushes the buoy further over: it takes P times L off the buoy's righting stiffness. FloatSim used to leave the weights out of its statics, so the pins carried nothing and the buoys looked far too stiff. With the preload, a payload slows the buoys' rocking from about 2.85 to about 4.2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payload lengthens the heave period (2.59 → 2.71 s cluster, 2.60 → 2.72 s platform), so heave falls a little below resonance. 5° and 10° of tilt change heave by ≤ 6 %.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2.65 s the cluster hub pitches 2.2 → 2.9 → 3.8° and the platform deck 1.8 → 2.5 → 3.1° (level → 5° → 10°): the shifted mass couples the article's heave and pitch, which resonate together at 2.6–2.9 s. Away from it, including at the buoys' rocking resonance (4.2 s), the tilt adds almost no pitch.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lowest pins lose still-water freeboard as the article tilts; the waves take ~85 mm more at worst (2.65 s). No pin comes near the water at H = 0.1 m; linearly, at 10° a pin would reach it only at H ≈ 0.43 m (platform) or 0.56 m (cluster).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preload, a payload puts the buoys' rocking resonance at ~4.2 s, where they rock 11–12.6° — level or tilted. Without the preload FloatSim gave ≤ 0.7° there and a peak at 2.65 s — the flume record's 2.76–2.9 s pitch resonance, which leaves out the load on the pins.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2.65 s the whole article heaves and pitches about its 10 degree tilt. The buoys hang nearly straight below their pins: this is the resonance of the article as a whole, where the tilted payload turns heave into pitch and the lowest pins come closest to the water. True scale, real time; the animations play in slide show.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4.2 s the article as a whole barely pitches, but the buoys swing together on their pins while the hub or deck slides back and forth along the waves on top of them. This is the loaded buoys' rocking resonance, the one the weight preload revealed. True scale, real time; the animations play in slide show.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Accelerations at the payload, where it sits in each case. Vertical first: small on both articles, at most about four hundredths of g, peaking near the heave resonance around 2.65 s. The payload's mass lowers them a little and the tilt hardly changes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Lateral acceleration, horizontal along the waves, as the payload feels it: the deck's motion plus gravity swinging along the deck as it pitches. The platform is much calmer in short waves because its 2.4 m span averages them out. Near the heave resonance the tilt adds lateral load through the coupled pitch. And at 4.2 s, with a payload, both feel about half a metre per second squared: the buoys rocking on their gimbals make the hub or deck slide along the waves.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payload's lateral restraint, the static tilt is the biggest load. Tilted 10 degrees, the payload feels a constant 1.7 metres per second squared along the deck from gravity alone, about 0.17 g, before any wave. The waves add at most about 0.8 on top, for a total of about a quarter of g at H = 0.1 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Wouldn't each buoy rock at its own period once the load is shifted? On its own, yes: at 10 degrees the cluster's loaded pair is softer and would rock at about 4.45 seconds, the other pair at about 4.0. But they all hang from the same hub. In the mode the waves drive, every buoy leans the same way while the hub slides under them, so they rock together at one period, set by the sum of their stiffnesses. Shifting the payload softens one side and stiffens the other by almost the same amount, so the sum, and the period, hardly change.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take away. With a payload on board, the period to watch is about 4.2 seconds, where the buoys rock hard on their gimbals, and that holds whether the payload is level or not. The tilt itself matters for freeboard and for pitch near the heave resonance. The analysis is linear and in regular waves along the shift; the large rocking angles are past FloatSim's small-angle range, so their size is indicative.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reference: the FloatSim change behind these results. The weight preload is opt-in. It adds every body's weight and each floating body's buoyancy, solves the static equilibrium through the joints, carries the joint loads in the dynamics, and refuses any model whose loads leave it without restoring. It was validated against a closed-form pinned float, against the full test suite with the switch off, and against this study's hand statics on the real cluster.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loading a buoy does. Each buoy carries its share of the hub, deck and payload on its pin, and sinks until the extra buoyancy carries it. Sinking raises the buoy's own righting, because the new buoyancy is added high up the spar. But the load sits on the pin 1.62 m above the buoy's centre of gravity, and when the buoy leans that load pushes it further over: P times L. That grows faster than the righting, so the net rocking stiffness falls as the buoy is loaded. Shifting the payload loads the near buoys more and the far ones less: the near side sinks deeper, loses freeboard and gets softer; the far side the opposite.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FloatSim's small-rotation limit, and where it bites in this study. FloatSim is linear about the equilibrium: it treats rotations, including each buoy's rotation on its pin, as small, up to about a tenth of a radian. The static tilts of 5 and 10 degrees are not a problem, because every case was built about its own tilted equilibrium, with the hydrodynamics recomputed there. The wave motions on top must be small: the deck and hub pitch, at most about 4 degrees, are. The buoys' rocking on their pins at 4.2 seconds, 11 to 12.6 degrees, is about twice the limit. The geometry error there is small; the real uncertainty is the damping that sets the amplitude. So that amplitude is indicative, while the resonance period stands.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3.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5.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7.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gif"/><Relationship Id="rId4" Type="http://schemas.openxmlformats.org/officeDocument/2006/relationships/image" Target="../media/image4.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gif"/><Relationship Id="rId4" Type="http://schemas.openxmlformats.org/officeDocument/2006/relationships/image" Target="../media/image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9.xml"/><Relationship Id="rId4" Type="http://schemas.openxmlformats.org/officeDocument/2006/relationships/chart" Target="../charts/char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chart" Target="../charts/char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32E"/>
        </a:solidFill>
        <a:effectLst/>
      </p:bgPr>
    </p:bg>
    <p:spTree>
      <p:nvGrpSpPr>
        <p:cNvPr id="1" name=""/>
        <p:cNvGrpSpPr/>
        <p:nvPr/>
      </p:nvGrpSpPr>
      <p:grpSpPr/>
      <p:sp>
        <p:nvSpPr>
          <p:cNvPr id="2" name="TextBox 1"/>
          <p:cNvSpPr txBox="1"/>
          <p:nvPr/>
        </p:nvSpPr>
        <p:spPr>
          <a:xfrm>
            <a:off x="731520" y="502920"/>
            <a:ext cx="10789920" cy="457200"/>
          </a:xfrm>
          <a:prstGeom prst="rect">
            <a:avLst/>
          </a:prstGeom>
          <a:noFill/>
        </p:spPr>
        <p:txBody>
          <a:bodyPr wrap="square" anchor="t" lIns="0" rIns="0">
            <a:spAutoFit/>
          </a:bodyPr>
          <a:lstStyle/>
          <a:p>
            <a:pPr algn="l">
              <a:spcAft>
                <a:spcPts val="600"/>
              </a:spcAft>
            </a:pPr>
            <a:r>
              <a:rPr sz="1400" b="1" i="0">
                <a:solidFill>
                  <a:srgbClr val="B9D6DC"/>
                </a:solidFill>
                <a:latin typeface="Calibri"/>
              </a:rPr>
              <a:t>FLUME TEST ARTICLES · PAYLOAD SHIFT IN WAVES</a:t>
            </a:r>
          </a:p>
        </p:txBody>
      </p:sp>
      <p:sp>
        <p:nvSpPr>
          <p:cNvPr id="3" name="TextBox 2"/>
          <p:cNvSpPr txBox="1"/>
          <p:nvPr/>
        </p:nvSpPr>
        <p:spPr>
          <a:xfrm>
            <a:off x="731520" y="914400"/>
            <a:ext cx="10789920" cy="914400"/>
          </a:xfrm>
          <a:prstGeom prst="rect">
            <a:avLst/>
          </a:prstGeom>
          <a:noFill/>
        </p:spPr>
        <p:txBody>
          <a:bodyPr wrap="square" anchor="t" lIns="0" rIns="0">
            <a:spAutoFit/>
          </a:bodyPr>
          <a:lstStyle/>
          <a:p>
            <a:pPr algn="l">
              <a:spcAft>
                <a:spcPts val="600"/>
              </a:spcAft>
            </a:pPr>
            <a:r>
              <a:rPr sz="4000" b="1" i="0">
                <a:solidFill>
                  <a:srgbClr val="FFFFFF"/>
                </a:solidFill>
                <a:latin typeface="Calibri"/>
              </a:rPr>
              <a:t>Shifting the payload: what tilt does in waves</a:t>
            </a:r>
          </a:p>
        </p:txBody>
      </p:sp>
      <p:sp>
        <p:nvSpPr>
          <p:cNvPr id="4" name="TextBox 3"/>
          <p:cNvSpPr txBox="1"/>
          <p:nvPr/>
        </p:nvSpPr>
        <p:spPr>
          <a:xfrm>
            <a:off x="731520" y="1783080"/>
            <a:ext cx="10789920" cy="822960"/>
          </a:xfrm>
          <a:prstGeom prst="rect">
            <a:avLst/>
          </a:prstGeom>
          <a:noFill/>
        </p:spPr>
        <p:txBody>
          <a:bodyPr wrap="square" anchor="t" lIns="0" rIns="0">
            <a:spAutoFit/>
          </a:bodyPr>
          <a:lstStyle/>
          <a:p>
            <a:pPr algn="l">
              <a:spcAft>
                <a:spcPts val="600"/>
              </a:spcAft>
            </a:pPr>
            <a:r>
              <a:rPr sz="1900" b="0" i="0">
                <a:solidFill>
                  <a:srgbClr val="B9D6DC"/>
                </a:solidFill>
                <a:latin typeface="Calibri"/>
              </a:rPr>
              <a:t>Cluster (12.5 kg) and platform (50 kg), level vs 5° vs 10° of tilt, regular waves H = 0.1 m, T = 1.5–5 s</a:t>
            </a:r>
          </a:p>
        </p:txBody>
      </p:sp>
      <p:sp>
        <p:nvSpPr>
          <p:cNvPr id="5" name="Rounded Rectangle 4"/>
          <p:cNvSpPr/>
          <p:nvPr/>
        </p:nvSpPr>
        <p:spPr>
          <a:xfrm>
            <a:off x="731520" y="2743200"/>
            <a:ext cx="10744200" cy="3429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seq_platform.png"/>
          <p:cNvPicPr>
            <a:picLocks noChangeAspect="1"/>
          </p:cNvPicPr>
          <p:nvPr/>
        </p:nvPicPr>
        <p:blipFill>
          <a:blip r:embed="rId3"/>
          <a:stretch>
            <a:fillRect/>
          </a:stretch>
        </p:blipFill>
        <p:spPr>
          <a:xfrm>
            <a:off x="2502948" y="2834640"/>
            <a:ext cx="7201343" cy="3246119"/>
          </a:xfrm>
          <a:prstGeom prst="rect">
            <a:avLst/>
          </a:prstGeom>
        </p:spPr>
      </p:pic>
      <p:sp>
        <p:nvSpPr>
          <p:cNvPr id="7" name="TextBox 6"/>
          <p:cNvSpPr txBox="1"/>
          <p:nvPr/>
        </p:nvSpPr>
        <p:spPr>
          <a:xfrm>
            <a:off x="731520" y="6309360"/>
            <a:ext cx="10789920" cy="365760"/>
          </a:xfrm>
          <a:prstGeom prst="rect">
            <a:avLst/>
          </a:prstGeom>
          <a:noFill/>
        </p:spPr>
        <p:txBody>
          <a:bodyPr wrap="square" anchor="t" lIns="0" rIns="0">
            <a:spAutoFit/>
          </a:bodyPr>
          <a:lstStyle/>
          <a:p>
            <a:pPr algn="l">
              <a:spcAft>
                <a:spcPts val="600"/>
              </a:spcAft>
            </a:pPr>
            <a:r>
              <a:rPr sz="1200" b="0" i="0">
                <a:solidFill>
                  <a:srgbClr val="B9D6DC"/>
                </a:solidFill>
                <a:latin typeface="Calibri"/>
              </a:rPr>
              <a:t>Payload-stability study · 2026-10-18 · FloatSim with the weight preload, BEM re-run at each tilted equilibrium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bottom line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H = 0.1 m regular waves along the shift; FloatSim with its weight preload</a:t>
            </a:r>
          </a:p>
        </p:txBody>
      </p:sp>
      <p:sp>
        <p:nvSpPr>
          <p:cNvPr id="4" name="Rounded Rectangle 3"/>
          <p:cNvSpPr/>
          <p:nvPr/>
        </p:nvSpPr>
        <p:spPr>
          <a:xfrm>
            <a:off x="54864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219456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 4.2 s</a:t>
            </a:r>
          </a:p>
        </p:txBody>
      </p:sp>
      <p:sp>
        <p:nvSpPr>
          <p:cNvPr id="6" name="TextBox 5"/>
          <p:cNvSpPr txBox="1"/>
          <p:nvPr/>
        </p:nvSpPr>
        <p:spPr>
          <a:xfrm>
            <a:off x="77724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the buoys' rocking resonance with a payload (4.21 s cluster, 4.30 s platform)</a:t>
            </a:r>
          </a:p>
        </p:txBody>
      </p:sp>
      <p:sp>
        <p:nvSpPr>
          <p:cNvPr id="7" name="Rounded Rectangle 6"/>
          <p:cNvSpPr/>
          <p:nvPr/>
        </p:nvSpPr>
        <p:spPr>
          <a:xfrm>
            <a:off x="338328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874519"/>
            <a:ext cx="219456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11–12.6°</a:t>
            </a:r>
          </a:p>
        </p:txBody>
      </p:sp>
      <p:sp>
        <p:nvSpPr>
          <p:cNvPr id="9" name="TextBox 8"/>
          <p:cNvSpPr txBox="1"/>
          <p:nvPr/>
        </p:nvSpPr>
        <p:spPr>
          <a:xfrm>
            <a:off x="361188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of rocking on the gimbals there, level or tilted</a:t>
            </a:r>
          </a:p>
        </p:txBody>
      </p:sp>
      <p:sp>
        <p:nvSpPr>
          <p:cNvPr id="10" name="Rounded Rectangle 9"/>
          <p:cNvSpPr/>
          <p:nvPr/>
        </p:nvSpPr>
        <p:spPr>
          <a:xfrm>
            <a:off x="621792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74519"/>
            <a:ext cx="2194560" cy="685800"/>
          </a:xfrm>
          <a:prstGeom prst="rect">
            <a:avLst/>
          </a:prstGeom>
          <a:noFill/>
        </p:spPr>
        <p:txBody>
          <a:bodyPr wrap="square" anchor="t" lIns="0" rIns="0">
            <a:spAutoFit/>
          </a:bodyPr>
          <a:lstStyle/>
          <a:p>
            <a:pPr algn="l">
              <a:spcAft>
                <a:spcPts val="600"/>
              </a:spcAft>
            </a:pPr>
            <a:r>
              <a:rPr sz="3400" b="1" i="0">
                <a:solidFill>
                  <a:srgbClr val="0C8B96"/>
                </a:solidFill>
                <a:latin typeface="Calibri"/>
              </a:rPr>
              <a:t>4.21 s</a:t>
            </a:r>
          </a:p>
        </p:txBody>
      </p:sp>
      <p:sp>
        <p:nvSpPr>
          <p:cNvPr id="12" name="TextBox 11"/>
          <p:cNvSpPr txBox="1"/>
          <p:nvPr/>
        </p:nvSpPr>
        <p:spPr>
          <a:xfrm>
            <a:off x="644652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the cluster's rocking at 10° tilt, vs 4.22 s level: the tilt barely moves it</a:t>
            </a:r>
          </a:p>
        </p:txBody>
      </p:sp>
      <p:sp>
        <p:nvSpPr>
          <p:cNvPr id="13" name="Rounded Rectangle 12"/>
          <p:cNvSpPr/>
          <p:nvPr/>
        </p:nvSpPr>
        <p:spPr>
          <a:xfrm>
            <a:off x="9052560" y="1737360"/>
            <a:ext cx="260604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1874519"/>
            <a:ext cx="2148840" cy="685800"/>
          </a:xfrm>
          <a:prstGeom prst="rect">
            <a:avLst/>
          </a:prstGeom>
          <a:noFill/>
        </p:spPr>
        <p:txBody>
          <a:bodyPr wrap="square" anchor="t" lIns="0" rIns="0">
            <a:spAutoFit/>
          </a:bodyPr>
          <a:lstStyle/>
          <a:p>
            <a:pPr algn="l">
              <a:spcAft>
                <a:spcPts val="600"/>
              </a:spcAft>
            </a:pPr>
            <a:r>
              <a:rPr sz="3400" b="1" i="0">
                <a:solidFill>
                  <a:srgbClr val="5A8A2B"/>
                </a:solidFill>
                <a:latin typeface="Calibri"/>
              </a:rPr>
              <a:t>282 mm</a:t>
            </a:r>
          </a:p>
        </p:txBody>
      </p:sp>
      <p:sp>
        <p:nvSpPr>
          <p:cNvPr id="15" name="TextBox 14"/>
          <p:cNvSpPr txBox="1"/>
          <p:nvPr/>
        </p:nvSpPr>
        <p:spPr>
          <a:xfrm>
            <a:off x="9281160" y="2542032"/>
            <a:ext cx="214884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lowest pin freeboard in the waves (platform, 10°): no pin awash</a:t>
            </a:r>
          </a:p>
        </p:txBody>
      </p:sp>
      <p:sp>
        <p:nvSpPr>
          <p:cNvPr id="16" name="TextBox 15"/>
          <p:cNvSpPr txBox="1"/>
          <p:nvPr/>
        </p:nvSpPr>
        <p:spPr>
          <a:xfrm>
            <a:off x="548640" y="3657600"/>
            <a:ext cx="1106424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What the tilt does</a:t>
            </a:r>
          </a:p>
        </p:txBody>
      </p:sp>
      <p:sp>
        <p:nvSpPr>
          <p:cNvPr id="17" name="TextBox 16"/>
          <p:cNvSpPr txBox="1"/>
          <p:nvPr/>
        </p:nvSpPr>
        <p:spPr>
          <a:xfrm>
            <a:off x="548640" y="4160520"/>
            <a:ext cx="11064240" cy="2468880"/>
          </a:xfrm>
          <a:prstGeom prst="rect">
            <a:avLst/>
          </a:prstGeom>
          <a:noFill/>
        </p:spPr>
        <p:txBody>
          <a:bodyPr wrap="square" anchor="t" lIns="0" rIns="0">
            <a:spAutoFit/>
          </a:bodyPr>
          <a:lstStyle/>
          <a:p>
            <a:pPr algn="l">
              <a:spcAft>
                <a:spcPts val="600"/>
              </a:spcAft>
            </a:pPr>
            <a:r>
              <a:rPr sz="1500" b="1" i="0">
                <a:solidFill>
                  <a:srgbClr val="2B3A44"/>
                </a:solidFill>
                <a:latin typeface="Calibri"/>
              </a:rPr>
              <a:t>Heave: </a:t>
            </a:r>
            <a:r>
              <a:rPr sz="1500" b="0" i="0">
                <a:solidFill>
                  <a:srgbClr val="2B3A44"/>
                </a:solidFill>
                <a:latin typeface="Calibri"/>
              </a:rPr>
              <a:t>the mass, not the tilt — the payload lengthens the heave period 2.59 → 2.71 s; tilt changes heave by ≤ 6 %.</a:t>
            </a:r>
          </a:p>
          <a:p>
            <a:pPr algn="l">
              <a:spcAft>
                <a:spcPts val="600"/>
              </a:spcAft>
            </a:pPr>
            <a:r>
              <a:rPr sz="1500" b="1" i="0">
                <a:solidFill>
                  <a:srgbClr val="2B3A44"/>
                </a:solidFill>
                <a:latin typeface="Calibri"/>
              </a:rPr>
              <a:t>Hub / deck tilting: </a:t>
            </a:r>
            <a:r>
              <a:rPr sz="1500" b="0" i="0">
                <a:solidFill>
                  <a:srgbClr val="2B3A44"/>
                </a:solidFill>
                <a:latin typeface="Calibri"/>
              </a:rPr>
              <a:t>near the article's heave and tilt resonance (2.6–2.9 s; the 2.65 s wave) the tilt turns heave into pitch: 2.2 → 3.8° on the cluster hub, 1.8 → 3.1° on the platform deck, level → 10°.</a:t>
            </a:r>
          </a:p>
          <a:p>
            <a:pPr algn="l">
              <a:spcAft>
                <a:spcPts val="600"/>
              </a:spcAft>
            </a:pPr>
            <a:r>
              <a:rPr sz="1500" b="1" i="0">
                <a:solidFill>
                  <a:srgbClr val="2B3A44"/>
                </a:solidFill>
                <a:latin typeface="Calibri"/>
              </a:rPr>
              <a:t>Freeboard: </a:t>
            </a:r>
            <a:r>
              <a:rPr sz="1500" b="0" i="0">
                <a:solidFill>
                  <a:srgbClr val="2B3A44"/>
                </a:solidFill>
                <a:latin typeface="Calibri"/>
              </a:rPr>
              <a:t>the tilt takes still-water freeboard from the low side; the waves take ~85–100 mm more at worst.</a:t>
            </a:r>
          </a:p>
          <a:p>
            <a:pPr algn="l">
              <a:spcAft>
                <a:spcPts val="600"/>
              </a:spcAft>
            </a:pPr>
            <a:r>
              <a:rPr sz="1500" b="1" i="0">
                <a:solidFill>
                  <a:srgbClr val="B2432C"/>
                </a:solidFill>
                <a:latin typeface="Calibri"/>
              </a:rPr>
              <a:t>Buoys' own pitch: </a:t>
            </a:r>
            <a:r>
              <a:rPr sz="1500" b="0" i="0">
                <a:solidFill>
                  <a:srgbClr val="B2432C"/>
                </a:solidFill>
                <a:latin typeface="Calibri"/>
              </a:rPr>
              <a:t>each buoy rocking on its gimbal — the flume record's 2.76–2.9 s pitch resonance — moves to ~4.2 s with a payload, whatever the tilt: keep a loaded article out of waves near 4.2 s.</a:t>
            </a:r>
          </a:p>
          <a:p>
            <a:pPr algn="l">
              <a:spcAft>
                <a:spcPts val="600"/>
              </a:spcAft>
            </a:pPr>
            <a:r>
              <a:rPr sz="1500" b="1" i="0">
                <a:solidFill>
                  <a:srgbClr val="2B3A44"/>
                </a:solidFill>
                <a:latin typeface="Calibri"/>
              </a:rPr>
              <a:t>Accelerations at the payload: </a:t>
            </a:r>
            <a:r>
              <a:rPr sz="1500" b="0" i="0">
                <a:solidFill>
                  <a:srgbClr val="2B3A44"/>
                </a:solidFill>
                <a:latin typeface="Calibri"/>
              </a:rPr>
              <a:t>vertical ≤ 0.04 g; lateral (along the waves) ≤ 0.8 m/s² from the waves, but a 10° tilt adds a constant 1.70 m/s² (0.17 g): up to 0.25 g in total.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cases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payload centred, then shifted along the waves until the hub / deck tilts 5° and 10°</a:t>
            </a:r>
          </a:p>
        </p:txBody>
      </p:sp>
      <p:pic>
        <p:nvPicPr>
          <p:cNvPr id="4" name="Picture 3" descr="wseq_cluster.png"/>
          <p:cNvPicPr>
            <a:picLocks noChangeAspect="1"/>
          </p:cNvPicPr>
          <p:nvPr/>
        </p:nvPicPr>
        <p:blipFill>
          <a:blip r:embed="rId3"/>
          <a:stretch>
            <a:fillRect/>
          </a:stretch>
        </p:blipFill>
        <p:spPr>
          <a:xfrm>
            <a:off x="649948" y="1371600"/>
            <a:ext cx="5192343" cy="2651760"/>
          </a:xfrm>
          <a:prstGeom prst="rect">
            <a:avLst/>
          </a:prstGeom>
        </p:spPr>
      </p:pic>
      <p:pic>
        <p:nvPicPr>
          <p:cNvPr id="5" name="Picture 4" descr="wseq_platform.png"/>
          <p:cNvPicPr>
            <a:picLocks noChangeAspect="1"/>
          </p:cNvPicPr>
          <p:nvPr/>
        </p:nvPicPr>
        <p:blipFill>
          <a:blip r:embed="rId4"/>
          <a:stretch>
            <a:fillRect/>
          </a:stretch>
        </p:blipFill>
        <p:spPr>
          <a:xfrm>
            <a:off x="6172200" y="1440330"/>
            <a:ext cx="5577840" cy="2514299"/>
          </a:xfrm>
          <a:prstGeom prst="rect">
            <a:avLst/>
          </a:prstGeom>
        </p:spPr>
      </p:pic>
      <p:sp>
        <p:nvSpPr>
          <p:cNvPr id="6" name="TextBox 5"/>
          <p:cNvSpPr txBox="1"/>
          <p:nvPr/>
        </p:nvSpPr>
        <p:spPr>
          <a:xfrm>
            <a:off x="457200" y="4069080"/>
            <a:ext cx="5577840" cy="365760"/>
          </a:xfrm>
          <a:prstGeom prst="rect">
            <a:avLst/>
          </a:prstGeom>
          <a:noFill/>
        </p:spPr>
        <p:txBody>
          <a:bodyPr wrap="square" anchor="t" lIns="0" rIns="0">
            <a:spAutoFit/>
          </a:bodyPr>
          <a:lstStyle/>
          <a:p>
            <a:pPr algn="l">
              <a:spcAft>
                <a:spcPts val="600"/>
              </a:spcAft>
            </a:pPr>
            <a:r>
              <a:rPr sz="1600" b="1" i="0">
                <a:solidFill>
                  <a:srgbClr val="14232E"/>
                </a:solidFill>
                <a:latin typeface="Calibri"/>
              </a:rPr>
              <a:t>Cluster: 12.5 kg on the hub (50 kg / 4)</a:t>
            </a:r>
          </a:p>
        </p:txBody>
      </p:sp>
      <p:sp>
        <p:nvSpPr>
          <p:cNvPr id="7" name="TextBox 6"/>
          <p:cNvSpPr txBox="1"/>
          <p:nvPr/>
        </p:nvSpPr>
        <p:spPr>
          <a:xfrm>
            <a:off x="6172200" y="4069080"/>
            <a:ext cx="5577840" cy="365760"/>
          </a:xfrm>
          <a:prstGeom prst="rect">
            <a:avLst/>
          </a:prstGeom>
          <a:noFill/>
        </p:spPr>
        <p:txBody>
          <a:bodyPr wrap="square" anchor="t" lIns="0" rIns="0">
            <a:spAutoFit/>
          </a:bodyPr>
          <a:lstStyle/>
          <a:p>
            <a:pPr algn="l">
              <a:spcAft>
                <a:spcPts val="600"/>
              </a:spcAft>
            </a:pPr>
            <a:r>
              <a:rPr sz="1600" b="1" i="0">
                <a:solidFill>
                  <a:srgbClr val="14232E"/>
                </a:solidFill>
                <a:latin typeface="Calibri"/>
              </a:rPr>
              <a:t>Platform: 50 kg on the deck</a:t>
            </a:r>
          </a:p>
        </p:txBody>
      </p:sp>
      <p:graphicFrame>
        <p:nvGraphicFramePr>
          <p:cNvPr id="8" name="Table 7"/>
          <p:cNvGraphicFramePr>
            <a:graphicFrameLocks noGrp="1"/>
          </p:cNvGraphicFramePr>
          <p:nvPr/>
        </p:nvGraphicFramePr>
        <p:xfrm>
          <a:off x="457200" y="4572000"/>
          <a:ext cx="11247120" cy="1920240"/>
        </p:xfrm>
        <a:graphic>
          <a:graphicData uri="http://schemas.openxmlformats.org/drawingml/2006/table">
            <a:tbl>
              <a:tblPr firstRow="1" bandRow="1">
                <a:tableStyleId>{5C22544A-7EE6-4342-B048-85BDC9FD1C3A}</a:tableStyleId>
              </a:tblPr>
              <a:tblGrid>
                <a:gridCol w="3749040"/>
                <a:gridCol w="3749040"/>
                <a:gridCol w="3749040"/>
              </a:tblGrid>
              <a:tr h="384048">
                <a:tc>
                  <a:txBody>
                    <a:bodyPr/>
                    <a:lstStyle/>
                    <a:p/>
                  </a:txBody>
                  <a:tcPr>
                    <a:solidFill>
                      <a:srgbClr val="0C8B96"/>
                    </a:solidFill>
                  </a:tcPr>
                </a:tc>
                <a:tc>
                  <a:txBody>
                    <a:bodyPr/>
                    <a:lstStyle/>
                    <a:p>
                      <a:r>
                        <a:rPr sz="1400" b="1">
                          <a:solidFill>
                            <a:srgbClr val="FFFFFF"/>
                          </a:solidFill>
                          <a:latin typeface="Calibri"/>
                        </a:rPr>
                        <a:t>Cluster</a:t>
                      </a:r>
                    </a:p>
                  </a:txBody>
                  <a:tcPr>
                    <a:solidFill>
                      <a:srgbClr val="0C8B96"/>
                    </a:solidFill>
                  </a:tcPr>
                </a:tc>
                <a:tc>
                  <a:txBody>
                    <a:bodyPr/>
                    <a:lstStyle/>
                    <a:p>
                      <a:r>
                        <a:rPr sz="1400" b="1">
                          <a:solidFill>
                            <a:srgbClr val="FFFFFF"/>
                          </a:solidFill>
                          <a:latin typeface="Calibri"/>
                        </a:rPr>
                        <a:t>Platform</a:t>
                      </a:r>
                    </a:p>
                  </a:txBody>
                  <a:tcPr>
                    <a:solidFill>
                      <a:srgbClr val="0C8B96"/>
                    </a:solidFill>
                  </a:tcPr>
                </a:tc>
              </a:tr>
              <a:tr h="384048">
                <a:tc>
                  <a:txBody>
                    <a:bodyPr/>
                    <a:lstStyle/>
                    <a:p>
                      <a:r>
                        <a:rPr sz="1400" b="0">
                          <a:solidFill>
                            <a:srgbClr val="2B3A44"/>
                          </a:solidFill>
                          <a:latin typeface="Calibri"/>
                        </a:rPr>
                        <a:t>Shift for 5° / 10°</a:t>
                      </a:r>
                    </a:p>
                  </a:txBody>
                  <a:tcPr>
                    <a:solidFill>
                      <a:srgbClr val="E4F2F4"/>
                    </a:solidFill>
                  </a:tcPr>
                </a:tc>
                <a:tc>
                  <a:txBody>
                    <a:bodyPr/>
                    <a:lstStyle/>
                    <a:p>
                      <a:r>
                        <a:rPr sz="1400" b="0">
                          <a:solidFill>
                            <a:srgbClr val="2B3A44"/>
                          </a:solidFill>
                          <a:latin typeface="Calibri"/>
                        </a:rPr>
                        <a:t>46 / 92 mm</a:t>
                      </a:r>
                    </a:p>
                  </a:txBody>
                  <a:tcPr>
                    <a:solidFill>
                      <a:srgbClr val="E4F2F4"/>
                    </a:solidFill>
                  </a:tcPr>
                </a:tc>
                <a:tc>
                  <a:txBody>
                    <a:bodyPr/>
                    <a:lstStyle/>
                    <a:p>
                      <a:r>
                        <a:rPr sz="1400" b="0">
                          <a:solidFill>
                            <a:srgbClr val="2B3A44"/>
                          </a:solidFill>
                          <a:latin typeface="Calibri"/>
                        </a:rPr>
                        <a:t>0.32 / 0.64 m</a:t>
                      </a:r>
                    </a:p>
                  </a:txBody>
                  <a:tcPr>
                    <a:solidFill>
                      <a:srgbClr val="E4F2F4"/>
                    </a:solidFill>
                  </a:tcPr>
                </a:tc>
              </a:tr>
              <a:tr h="384048">
                <a:tc>
                  <a:txBody>
                    <a:bodyPr/>
                    <a:lstStyle/>
                    <a:p>
                      <a:r>
                        <a:rPr sz="1400" b="0">
                          <a:solidFill>
                            <a:srgbClr val="2B3A44"/>
                          </a:solidFill>
                          <a:latin typeface="Calibri"/>
                        </a:rPr>
                        <a:t>Lowest pin, still water: centred</a:t>
                      </a:r>
                    </a:p>
                  </a:txBody>
                  <a:tcPr>
                    <a:solidFill>
                      <a:srgbClr val="FFFFFF"/>
                    </a:solidFill>
                  </a:tcPr>
                </a:tc>
                <a:tc>
                  <a:txBody>
                    <a:bodyPr/>
                    <a:lstStyle/>
                    <a:p>
                      <a:r>
                        <a:rPr sz="1400" b="0">
                          <a:solidFill>
                            <a:srgbClr val="2B3A44"/>
                          </a:solidFill>
                          <a:latin typeface="Calibri"/>
                        </a:rPr>
                        <a:t>526 mm</a:t>
                      </a:r>
                    </a:p>
                  </a:txBody>
                  <a:tcPr>
                    <a:solidFill>
                      <a:srgbClr val="FFFFFF"/>
                    </a:solidFill>
                  </a:tcPr>
                </a:tc>
                <a:tc>
                  <a:txBody>
                    <a:bodyPr/>
                    <a:lstStyle/>
                    <a:p>
                      <a:r>
                        <a:rPr sz="1400" b="0">
                          <a:solidFill>
                            <a:srgbClr val="2B3A44"/>
                          </a:solidFill>
                          <a:latin typeface="Calibri"/>
                        </a:rPr>
                        <a:t>506 mm</a:t>
                      </a:r>
                    </a:p>
                  </a:txBody>
                  <a:tcPr>
                    <a:solidFill>
                      <a:srgbClr val="FFFFFF"/>
                    </a:solidFill>
                  </a:tcPr>
                </a:tc>
              </a:tr>
              <a:tr h="384048">
                <a:tc>
                  <a:txBody>
                    <a:bodyPr/>
                    <a:lstStyle/>
                    <a:p>
                      <a:r>
                        <a:rPr sz="1400" b="0">
                          <a:solidFill>
                            <a:srgbClr val="2B3A44"/>
                          </a:solidFill>
                          <a:latin typeface="Calibri"/>
                        </a:rPr>
                        <a:t>… 5°</a:t>
                      </a:r>
                    </a:p>
                  </a:txBody>
                  <a:tcPr>
                    <a:solidFill>
                      <a:srgbClr val="E4F2F4"/>
                    </a:solidFill>
                  </a:tcPr>
                </a:tc>
                <a:tc>
                  <a:txBody>
                    <a:bodyPr/>
                    <a:lstStyle/>
                    <a:p>
                      <a:r>
                        <a:rPr sz="1400" b="0">
                          <a:solidFill>
                            <a:srgbClr val="2B3A44"/>
                          </a:solidFill>
                          <a:latin typeface="Calibri"/>
                        </a:rPr>
                        <a:t>500 mm</a:t>
                      </a:r>
                    </a:p>
                  </a:txBody>
                  <a:tcPr>
                    <a:solidFill>
                      <a:srgbClr val="E4F2F4"/>
                    </a:solidFill>
                  </a:tcPr>
                </a:tc>
                <a:tc>
                  <a:txBody>
                    <a:bodyPr/>
                    <a:lstStyle/>
                    <a:p>
                      <a:r>
                        <a:rPr sz="1400" b="0">
                          <a:solidFill>
                            <a:srgbClr val="2B3A44"/>
                          </a:solidFill>
                          <a:latin typeface="Calibri"/>
                        </a:rPr>
                        <a:t>437 mm</a:t>
                      </a:r>
                    </a:p>
                  </a:txBody>
                  <a:tcPr>
                    <a:solidFill>
                      <a:srgbClr val="E4F2F4"/>
                    </a:solidFill>
                  </a:tcPr>
                </a:tc>
              </a:tr>
              <a:tr h="384048">
                <a:tc>
                  <a:txBody>
                    <a:bodyPr/>
                    <a:lstStyle/>
                    <a:p>
                      <a:r>
                        <a:rPr sz="1400" b="0">
                          <a:solidFill>
                            <a:srgbClr val="2B3A44"/>
                          </a:solidFill>
                          <a:latin typeface="Calibri"/>
                        </a:rPr>
                        <a:t>… 10°</a:t>
                      </a:r>
                    </a:p>
                  </a:txBody>
                  <a:tcPr>
                    <a:solidFill>
                      <a:srgbClr val="FFFFFF"/>
                    </a:solidFill>
                  </a:tcPr>
                </a:tc>
                <a:tc>
                  <a:txBody>
                    <a:bodyPr/>
                    <a:lstStyle/>
                    <a:p>
                      <a:r>
                        <a:rPr sz="1400" b="0">
                          <a:solidFill>
                            <a:srgbClr val="2B3A44"/>
                          </a:solidFill>
                          <a:latin typeface="Calibri"/>
                        </a:rPr>
                        <a:t>475 mm</a:t>
                      </a:r>
                    </a:p>
                  </a:txBody>
                  <a:tcPr>
                    <a:solidFill>
                      <a:srgbClr val="FFFFFF"/>
                    </a:solidFill>
                  </a:tcPr>
                </a:tc>
                <a:tc>
                  <a:txBody>
                    <a:bodyPr/>
                    <a:lstStyle/>
                    <a:p>
                      <a:r>
                        <a:rPr sz="1400" b="0">
                          <a:solidFill>
                            <a:srgbClr val="2B3A44"/>
                          </a:solidFill>
                          <a:latin typeface="Calibri"/>
                        </a:rPr>
                        <a:t>367 mm</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How it was computed</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Statics → hydrodynamics at the tilted geometry → FloatSim in waves</a:t>
            </a:r>
          </a:p>
        </p:txBody>
      </p:sp>
      <p:sp>
        <p:nvSpPr>
          <p:cNvPr id="4" name="Rounded Rectangle 3"/>
          <p:cNvSpPr/>
          <p:nvPr/>
        </p:nvSpPr>
        <p:spPr>
          <a:xfrm>
            <a:off x="502920" y="1645920"/>
            <a:ext cx="2606040" cy="27432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2286000" cy="731520"/>
          </a:xfrm>
          <a:prstGeom prst="rect">
            <a:avLst/>
          </a:prstGeom>
          <a:noFill/>
        </p:spPr>
        <p:txBody>
          <a:bodyPr wrap="square" anchor="t" lIns="0" rIns="0">
            <a:spAutoFit/>
          </a:bodyPr>
          <a:lstStyle/>
          <a:p>
            <a:pPr algn="l">
              <a:spcAft>
                <a:spcPts val="600"/>
              </a:spcAft>
            </a:pPr>
            <a:r>
              <a:rPr sz="1700" b="1" i="0">
                <a:solidFill>
                  <a:srgbClr val="0C8B96"/>
                </a:solidFill>
                <a:latin typeface="Calibri"/>
              </a:rPr>
              <a:t>1  Static equilibrium</a:t>
            </a:r>
          </a:p>
        </p:txBody>
      </p:sp>
      <p:sp>
        <p:nvSpPr>
          <p:cNvPr id="6" name="TextBox 5"/>
          <p:cNvSpPr txBox="1"/>
          <p:nvPr/>
        </p:nvSpPr>
        <p:spPr>
          <a:xfrm>
            <a:off x="685800" y="2468880"/>
            <a:ext cx="2286000" cy="1920240"/>
          </a:xfrm>
          <a:prstGeom prst="rect">
            <a:avLst/>
          </a:prstGeom>
          <a:noFill/>
        </p:spPr>
        <p:txBody>
          <a:bodyPr wrap="square" anchor="t" lIns="0" rIns="0">
            <a:spAutoFit/>
          </a:bodyPr>
          <a:lstStyle/>
          <a:p>
            <a:pPr algn="l">
              <a:spcAft>
                <a:spcPts val="600"/>
              </a:spcAft>
            </a:pPr>
            <a:r>
              <a:rPr sz="1400" b="0" i="0">
                <a:solidFill>
                  <a:srgbClr val="2B3A44"/>
                </a:solidFill>
                <a:latin typeface="Calibri"/>
              </a:rPr>
              <a:t>Large-angle statics: each buoy's draft, each pin's load, the payload offset for exactly 5° and 10°.</a:t>
            </a:r>
          </a:p>
        </p:txBody>
      </p:sp>
      <p:sp>
        <p:nvSpPr>
          <p:cNvPr id="7" name="Right Arrow 6"/>
          <p:cNvSpPr/>
          <p:nvPr/>
        </p:nvSpPr>
        <p:spPr>
          <a:xfrm>
            <a:off x="3136391" y="2788920"/>
            <a:ext cx="256032" cy="256032"/>
          </a:xfrm>
          <a:prstGeom prst="rightArrow">
            <a:avLst/>
          </a:prstGeom>
          <a:solidFill>
            <a:srgbClr val="0C8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01568" y="1645920"/>
            <a:ext cx="2606040" cy="27432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84448" y="1783080"/>
            <a:ext cx="2286000" cy="731520"/>
          </a:xfrm>
          <a:prstGeom prst="rect">
            <a:avLst/>
          </a:prstGeom>
          <a:noFill/>
        </p:spPr>
        <p:txBody>
          <a:bodyPr wrap="square" anchor="t" lIns="0" rIns="0">
            <a:spAutoFit/>
          </a:bodyPr>
          <a:lstStyle/>
          <a:p>
            <a:pPr algn="l">
              <a:spcAft>
                <a:spcPts val="600"/>
              </a:spcAft>
            </a:pPr>
            <a:r>
              <a:rPr sz="1700" b="1" i="0">
                <a:solidFill>
                  <a:srgbClr val="C9772B"/>
                </a:solidFill>
                <a:latin typeface="Calibri"/>
              </a:rPr>
              <a:t>2  BEM at the tilt</a:t>
            </a:r>
          </a:p>
        </p:txBody>
      </p:sp>
      <p:sp>
        <p:nvSpPr>
          <p:cNvPr id="10" name="TextBox 9"/>
          <p:cNvSpPr txBox="1"/>
          <p:nvPr/>
        </p:nvSpPr>
        <p:spPr>
          <a:xfrm>
            <a:off x="3584448" y="2468880"/>
            <a:ext cx="2286000" cy="1920240"/>
          </a:xfrm>
          <a:prstGeom prst="rect">
            <a:avLst/>
          </a:prstGeom>
          <a:noFill/>
        </p:spPr>
        <p:txBody>
          <a:bodyPr wrap="square" anchor="t" lIns="0" rIns="0">
            <a:spAutoFit/>
          </a:bodyPr>
          <a:lstStyle/>
          <a:p>
            <a:pPr algn="l">
              <a:spcAft>
                <a:spcPts val="600"/>
              </a:spcAft>
            </a:pPr>
            <a:r>
              <a:rPr sz="1400" b="0" i="0">
                <a:solidFill>
                  <a:srgbClr val="2B3A44"/>
                </a:solidFill>
                <a:latin typeface="Calibri"/>
              </a:rPr>
              <a:t>Capytaine re-run with every buoy at its own position and draft, with its own hydrostatics (16 buoys: ~30 min a case).</a:t>
            </a:r>
          </a:p>
        </p:txBody>
      </p:sp>
      <p:sp>
        <p:nvSpPr>
          <p:cNvPr id="11" name="Right Arrow 10"/>
          <p:cNvSpPr/>
          <p:nvPr/>
        </p:nvSpPr>
        <p:spPr>
          <a:xfrm>
            <a:off x="6035040" y="2788920"/>
            <a:ext cx="256032" cy="256032"/>
          </a:xfrm>
          <a:prstGeom prst="rightArrow">
            <a:avLst/>
          </a:prstGeom>
          <a:solidFill>
            <a:srgbClr val="0C8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0216" y="1645920"/>
            <a:ext cx="2606040" cy="27432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3096" y="1783080"/>
            <a:ext cx="2286000" cy="731520"/>
          </a:xfrm>
          <a:prstGeom prst="rect">
            <a:avLst/>
          </a:prstGeom>
          <a:noFill/>
        </p:spPr>
        <p:txBody>
          <a:bodyPr wrap="square" anchor="t" lIns="0" rIns="0">
            <a:spAutoFit/>
          </a:bodyPr>
          <a:lstStyle/>
          <a:p>
            <a:pPr algn="l">
              <a:spcAft>
                <a:spcPts val="600"/>
              </a:spcAft>
            </a:pPr>
            <a:r>
              <a:rPr sz="1700" b="1" i="0">
                <a:solidFill>
                  <a:srgbClr val="5A8A2B"/>
                </a:solidFill>
                <a:latin typeface="Calibri"/>
              </a:rPr>
              <a:t>3  FloatSim in waves</a:t>
            </a:r>
          </a:p>
        </p:txBody>
      </p:sp>
      <p:sp>
        <p:nvSpPr>
          <p:cNvPr id="14" name="TextBox 13"/>
          <p:cNvSpPr txBox="1"/>
          <p:nvPr/>
        </p:nvSpPr>
        <p:spPr>
          <a:xfrm>
            <a:off x="6483096" y="2468880"/>
            <a:ext cx="2286000" cy="1920240"/>
          </a:xfrm>
          <a:prstGeom prst="rect">
            <a:avLst/>
          </a:prstGeom>
          <a:noFill/>
        </p:spPr>
        <p:txBody>
          <a:bodyPr wrap="square" anchor="t" lIns="0" rIns="0">
            <a:spAutoFit/>
          </a:bodyPr>
          <a:lstStyle/>
          <a:p>
            <a:pPr algn="l">
              <a:spcAft>
                <a:spcPts val="600"/>
              </a:spcAft>
            </a:pPr>
            <a:r>
              <a:rPr sz="1400" b="0" i="0">
                <a:solidFill>
                  <a:srgbClr val="2B3A44"/>
                </a:solidFill>
                <a:latin typeface="Calibri"/>
              </a:rPr>
              <a:t>Regular waves H = 0.1 m along the shift, T = 1.5 / 2 / 2.35 / 2.65 / 3.5 / 4.2 / 5 s; drag relative to the waves.</a:t>
            </a:r>
          </a:p>
        </p:txBody>
      </p:sp>
      <p:sp>
        <p:nvSpPr>
          <p:cNvPr id="15" name="Right Arrow 14"/>
          <p:cNvSpPr/>
          <p:nvPr/>
        </p:nvSpPr>
        <p:spPr>
          <a:xfrm>
            <a:off x="8933688" y="2788920"/>
            <a:ext cx="256032" cy="256032"/>
          </a:xfrm>
          <a:prstGeom prst="rightArrow">
            <a:avLst/>
          </a:prstGeom>
          <a:solidFill>
            <a:srgbClr val="0C8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98864" y="1645920"/>
            <a:ext cx="2606040" cy="27432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81744" y="1783080"/>
            <a:ext cx="2286000" cy="731520"/>
          </a:xfrm>
          <a:prstGeom prst="rect">
            <a:avLst/>
          </a:prstGeom>
          <a:noFill/>
        </p:spPr>
        <p:txBody>
          <a:bodyPr wrap="square" anchor="t" lIns="0" rIns="0">
            <a:spAutoFit/>
          </a:bodyPr>
          <a:lstStyle/>
          <a:p>
            <a:pPr algn="l">
              <a:spcAft>
                <a:spcPts val="600"/>
              </a:spcAft>
            </a:pPr>
            <a:r>
              <a:rPr sz="1700" b="1" i="0">
                <a:solidFill>
                  <a:srgbClr val="B2432C"/>
                </a:solidFill>
                <a:latin typeface="Calibri"/>
              </a:rPr>
              <a:t>4  Weight preload</a:t>
            </a:r>
          </a:p>
        </p:txBody>
      </p:sp>
      <p:sp>
        <p:nvSpPr>
          <p:cNvPr id="18" name="TextBox 17"/>
          <p:cNvSpPr txBox="1"/>
          <p:nvPr/>
        </p:nvSpPr>
        <p:spPr>
          <a:xfrm>
            <a:off x="9381744" y="2468880"/>
            <a:ext cx="2286000" cy="1920240"/>
          </a:xfrm>
          <a:prstGeom prst="rect">
            <a:avLst/>
          </a:prstGeom>
          <a:noFill/>
        </p:spPr>
        <p:txBody>
          <a:bodyPr wrap="square" anchor="t" lIns="0" rIns="0">
            <a:spAutoFit/>
          </a:bodyPr>
          <a:lstStyle/>
          <a:p>
            <a:pPr algn="l">
              <a:spcAft>
                <a:spcPts val="600"/>
              </a:spcAft>
            </a:pPr>
            <a:r>
              <a:rPr sz="1400" b="0" i="0">
                <a:solidFill>
                  <a:srgbClr val="2B3A44"/>
                </a:solidFill>
                <a:latin typeface="Calibri"/>
              </a:rPr>
              <a:t>FloatSim's new opt-in: the joints carry the static loads, so the load on each pin tips its buoy (see next slide).</a:t>
            </a:r>
          </a:p>
        </p:txBody>
      </p:sp>
      <p:sp>
        <p:nvSpPr>
          <p:cNvPr id="19" name="TextBox 18"/>
          <p:cNvSpPr txBox="1"/>
          <p:nvPr/>
        </p:nvSpPr>
        <p:spPr>
          <a:xfrm>
            <a:off x="548640" y="4754880"/>
            <a:ext cx="11064240" cy="1737360"/>
          </a:xfrm>
          <a:prstGeom prst="rect">
            <a:avLst/>
          </a:prstGeom>
          <a:noFill/>
        </p:spPr>
        <p:txBody>
          <a:bodyPr wrap="square" anchor="t" lIns="0" rIns="0">
            <a:spAutoFit/>
          </a:bodyPr>
          <a:lstStyle/>
          <a:p>
            <a:pPr algn="l">
              <a:spcAft>
                <a:spcPts val="600"/>
              </a:spcAft>
            </a:pPr>
            <a:r>
              <a:rPr sz="1400" b="1" i="0">
                <a:solidFill>
                  <a:srgbClr val="5C6B75"/>
                </a:solidFill>
                <a:latin typeface="Calibri"/>
              </a:rPr>
              <a:t>Free-floating </a:t>
            </a:r>
            <a:r>
              <a:rPr sz="1400" b="0" i="0">
                <a:solidFill>
                  <a:srgbClr val="5C6B75"/>
                </a:solidFill>
                <a:latin typeface="Calibri"/>
              </a:rPr>
              <a:t>with a very soft horizontal hold (surge period ~45 s) against start-up drift; ~1 % effect on the wave response at 5 s, less below.</a:t>
            </a:r>
          </a:p>
          <a:p>
            <a:pPr algn="l">
              <a:spcAft>
                <a:spcPts val="600"/>
              </a:spcAft>
            </a:pPr>
            <a:r>
              <a:rPr sz="1400" b="1" i="0">
                <a:solidFill>
                  <a:srgbClr val="5C6B75"/>
                </a:solidFill>
                <a:latin typeface="Calibri"/>
              </a:rPr>
              <a:t>Checks: </a:t>
            </a:r>
            <a:r>
              <a:rPr sz="1400" b="0" i="0">
                <a:solidFill>
                  <a:srgbClr val="5C6B75"/>
                </a:solidFill>
                <a:latin typeface="Calibri"/>
              </a:rPr>
              <a:t>FloatSim's own static solve reproduces the statics geometry to 1e-15 m in all 8 cases; its natural periods match an independent closed-form estimate.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Why FloatSim's weight preload changes the answer</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load on each pin tips its buoy: it takes P × L off the buoy's righting stiffness</a:t>
            </a:r>
          </a:p>
        </p:txBody>
      </p:sp>
      <p:sp>
        <p:nvSpPr>
          <p:cNvPr id="4" name="TextBox 3"/>
          <p:cNvSpPr txBox="1"/>
          <p:nvPr/>
        </p:nvSpPr>
        <p:spPr>
          <a:xfrm>
            <a:off x="548640" y="1554480"/>
            <a:ext cx="4754880" cy="4114800"/>
          </a:xfrm>
          <a:prstGeom prst="rect">
            <a:avLst/>
          </a:prstGeom>
          <a:noFill/>
        </p:spPr>
        <p:txBody>
          <a:bodyPr wrap="square" anchor="t" lIns="0" rIns="0">
            <a:spAutoFit/>
          </a:bodyPr>
          <a:lstStyle/>
          <a:p>
            <a:pPr algn="l">
              <a:spcAft>
                <a:spcPts val="1000"/>
              </a:spcAft>
            </a:pPr>
            <a:r>
              <a:rPr sz="1500" b="1" i="0">
                <a:solidFill>
                  <a:srgbClr val="2B3A44"/>
                </a:solidFill>
                <a:latin typeface="Calibri"/>
              </a:rPr>
              <a:t>The buoy hangs from its pin, </a:t>
            </a:r>
            <a:r>
              <a:rPr sz="1500" b="0" i="0">
                <a:solidFill>
                  <a:srgbClr val="2B3A44"/>
                </a:solidFill>
                <a:latin typeface="Calibri"/>
              </a:rPr>
              <a:t>1.62 m above its centre of gravity. The hub, deck and payload press down on the pin.</a:t>
            </a:r>
          </a:p>
          <a:p>
            <a:pPr algn="l">
              <a:spcAft>
                <a:spcPts val="1000"/>
              </a:spcAft>
            </a:pPr>
            <a:r>
              <a:rPr sz="1500" b="1" i="0">
                <a:solidFill>
                  <a:srgbClr val="2B3A44"/>
                </a:solidFill>
                <a:latin typeface="Calibri"/>
              </a:rPr>
              <a:t>When the buoy leans, </a:t>
            </a:r>
            <a:r>
              <a:rPr sz="1500" b="0" i="0">
                <a:solidFill>
                  <a:srgbClr val="2B3A44"/>
                </a:solidFill>
                <a:latin typeface="Calibri"/>
              </a:rPr>
              <a:t>the pin and its load move sideways and push it further over: net righting = C55 − P × L.</a:t>
            </a:r>
          </a:p>
          <a:p>
            <a:pPr algn="l">
              <a:spcAft>
                <a:spcPts val="1000"/>
              </a:spcAft>
            </a:pPr>
            <a:r>
              <a:rPr sz="1500" b="1" i="0">
                <a:solidFill>
                  <a:srgbClr val="2B3A44"/>
                </a:solidFill>
                <a:latin typeface="Calibri"/>
              </a:rPr>
              <a:t>FloatSim used to leave weights out of its statics, </a:t>
            </a:r>
            <a:r>
              <a:rPr sz="1500" b="0" i="0">
                <a:solidFill>
                  <a:srgbClr val="2B3A44"/>
                </a:solidFill>
                <a:latin typeface="Calibri"/>
              </a:rPr>
              <a:t>so the pins carried no load and the buoys looked too stiff.</a:t>
            </a:r>
          </a:p>
          <a:p>
            <a:pPr algn="l">
              <a:spcAft>
                <a:spcPts val="1000"/>
              </a:spcAft>
            </a:pPr>
            <a:r>
              <a:rPr sz="1500" b="1" i="0">
                <a:solidFill>
                  <a:srgbClr val="B2432C"/>
                </a:solidFill>
                <a:latin typeface="Calibri"/>
              </a:rPr>
              <a:t>With the preload, </a:t>
            </a:r>
            <a:r>
              <a:rPr sz="1500" b="0" i="0">
                <a:solidFill>
                  <a:srgbClr val="B2432C"/>
                </a:solidFill>
                <a:latin typeface="Calibri"/>
              </a:rPr>
              <a:t>a payload slows the buoys' rocking from ~2.85 to ~4.2 s — into the wave band.</a:t>
            </a:r>
          </a:p>
        </p:txBody>
      </p:sp>
      <p:graphicFrame>
        <p:nvGraphicFramePr>
          <p:cNvPr id="5" name="Table 4"/>
          <p:cNvGraphicFramePr>
            <a:graphicFrameLocks noGrp="1"/>
          </p:cNvGraphicFramePr>
          <p:nvPr/>
        </p:nvGraphicFramePr>
        <p:xfrm>
          <a:off x="5577840" y="1600200"/>
          <a:ext cx="6126480" cy="3291840"/>
        </p:xfrm>
        <a:graphic>
          <a:graphicData uri="http://schemas.openxmlformats.org/drawingml/2006/table">
            <a:tbl>
              <a:tblPr firstRow="1" bandRow="1">
                <a:tableStyleId>{5C22544A-7EE6-4342-B048-85BDC9FD1C3A}</a:tableStyleId>
              </a:tblPr>
              <a:tblGrid>
                <a:gridCol w="1965960"/>
                <a:gridCol w="1234440"/>
                <a:gridCol w="1005840"/>
                <a:gridCol w="868680"/>
                <a:gridCol w="1051560"/>
              </a:tblGrid>
              <a:tr h="470262">
                <a:tc>
                  <a:txBody>
                    <a:bodyPr/>
                    <a:lstStyle/>
                    <a:p>
                      <a:r>
                        <a:rPr sz="1300" b="1">
                          <a:solidFill>
                            <a:srgbClr val="FFFFFF"/>
                          </a:solidFill>
                          <a:latin typeface="Calibri"/>
                        </a:rPr>
                        <a:t>Case</a:t>
                      </a:r>
                    </a:p>
                  </a:txBody>
                  <a:tcPr>
                    <a:solidFill>
                      <a:srgbClr val="0C8B96"/>
                    </a:solidFill>
                  </a:tcPr>
                </a:tc>
                <a:tc>
                  <a:txBody>
                    <a:bodyPr/>
                    <a:lstStyle/>
                    <a:p>
                      <a:r>
                        <a:rPr sz="1300" b="1">
                          <a:solidFill>
                            <a:srgbClr val="FFFFFF"/>
                          </a:solidFill>
                          <a:latin typeface="Calibri"/>
                        </a:rPr>
                        <a:t>Rocking period, no preload</a:t>
                      </a:r>
                    </a:p>
                  </a:txBody>
                  <a:tcPr>
                    <a:solidFill>
                      <a:srgbClr val="0C8B96"/>
                    </a:solidFill>
                  </a:tcPr>
                </a:tc>
                <a:tc>
                  <a:txBody>
                    <a:bodyPr/>
                    <a:lstStyle/>
                    <a:p>
                      <a:r>
                        <a:rPr sz="1300" b="1">
                          <a:solidFill>
                            <a:srgbClr val="FFFFFF"/>
                          </a:solidFill>
                          <a:latin typeface="Calibri"/>
                        </a:rPr>
                        <a:t>With preload</a:t>
                      </a:r>
                    </a:p>
                  </a:txBody>
                  <a:tcPr>
                    <a:solidFill>
                      <a:srgbClr val="0C8B96"/>
                    </a:solidFill>
                  </a:tcPr>
                </a:tc>
                <a:tc>
                  <a:txBody>
                    <a:bodyPr/>
                    <a:lstStyle/>
                    <a:p>
                      <a:r>
                        <a:rPr sz="1300" b="1">
                          <a:solidFill>
                            <a:srgbClr val="FFFFFF"/>
                          </a:solidFill>
                          <a:latin typeface="Calibri"/>
                        </a:rPr>
                        <a:t>Pin load</a:t>
                      </a:r>
                    </a:p>
                  </a:txBody>
                  <a:tcPr>
                    <a:solidFill>
                      <a:srgbClr val="0C8B96"/>
                    </a:solidFill>
                  </a:tcPr>
                </a:tc>
                <a:tc>
                  <a:txBody>
                    <a:bodyPr/>
                    <a:lstStyle/>
                    <a:p>
                      <a:r>
                        <a:rPr sz="1300" b="1">
                          <a:solidFill>
                            <a:srgbClr val="FFFFFF"/>
                          </a:solidFill>
                          <a:latin typeface="Calibri"/>
                        </a:rPr>
                        <a:t>P·L / C55</a:t>
                      </a:r>
                    </a:p>
                  </a:txBody>
                  <a:tcPr>
                    <a:solidFill>
                      <a:srgbClr val="0C8B96"/>
                    </a:solidFill>
                  </a:tcPr>
                </a:tc>
              </a:tr>
              <a:tr h="470262">
                <a:tc>
                  <a:txBody>
                    <a:bodyPr/>
                    <a:lstStyle/>
                    <a:p>
                      <a:r>
                        <a:rPr sz="1300" b="0">
                          <a:solidFill>
                            <a:srgbClr val="2B3A44"/>
                          </a:solidFill>
                          <a:latin typeface="Calibri"/>
                        </a:rPr>
                        <a:t>Cluster, unloaded</a:t>
                      </a:r>
                    </a:p>
                  </a:txBody>
                  <a:tcPr>
                    <a:solidFill>
                      <a:srgbClr val="E4F2F4"/>
                    </a:solidFill>
                  </a:tcPr>
                </a:tc>
                <a:tc>
                  <a:txBody>
                    <a:bodyPr/>
                    <a:lstStyle/>
                    <a:p>
                      <a:r>
                        <a:rPr sz="1300" b="0">
                          <a:solidFill>
                            <a:srgbClr val="2B3A44"/>
                          </a:solidFill>
                          <a:latin typeface="Calibri"/>
                        </a:rPr>
                        <a:t>2.79 s</a:t>
                      </a:r>
                    </a:p>
                  </a:txBody>
                  <a:tcPr>
                    <a:solidFill>
                      <a:srgbClr val="E4F2F4"/>
                    </a:solidFill>
                  </a:tcPr>
                </a:tc>
                <a:tc>
                  <a:txBody>
                    <a:bodyPr/>
                    <a:lstStyle/>
                    <a:p>
                      <a:r>
                        <a:rPr sz="1300" b="0">
                          <a:solidFill>
                            <a:srgbClr val="2B3A44"/>
                          </a:solidFill>
                          <a:latin typeface="Calibri"/>
                        </a:rPr>
                        <a:t>2.95 s</a:t>
                      </a:r>
                    </a:p>
                  </a:txBody>
                  <a:tcPr>
                    <a:solidFill>
                      <a:srgbClr val="E4F2F4"/>
                    </a:solidFill>
                  </a:tcPr>
                </a:tc>
                <a:tc>
                  <a:txBody>
                    <a:bodyPr/>
                    <a:lstStyle/>
                    <a:p>
                      <a:r>
                        <a:rPr sz="1300" b="0">
                          <a:solidFill>
                            <a:srgbClr val="2B3A44"/>
                          </a:solidFill>
                          <a:latin typeface="Calibri"/>
                        </a:rPr>
                        <a:t>5 N</a:t>
                      </a:r>
                    </a:p>
                  </a:txBody>
                  <a:tcPr>
                    <a:solidFill>
                      <a:srgbClr val="E4F2F4"/>
                    </a:solidFill>
                  </a:tcPr>
                </a:tc>
                <a:tc>
                  <a:txBody>
                    <a:bodyPr/>
                    <a:lstStyle/>
                    <a:p>
                      <a:r>
                        <a:rPr sz="1300" b="0">
                          <a:solidFill>
                            <a:srgbClr val="2B3A44"/>
                          </a:solidFill>
                          <a:latin typeface="Calibri"/>
                        </a:rPr>
                        <a:t>8 / 75</a:t>
                      </a:r>
                    </a:p>
                  </a:txBody>
                  <a:tcPr>
                    <a:solidFill>
                      <a:srgbClr val="E4F2F4"/>
                    </a:solidFill>
                  </a:tcPr>
                </a:tc>
              </a:tr>
              <a:tr h="470262">
                <a:tc>
                  <a:txBody>
                    <a:bodyPr/>
                    <a:lstStyle/>
                    <a:p>
                      <a:r>
                        <a:rPr sz="1300" b="0">
                          <a:solidFill>
                            <a:srgbClr val="2B3A44"/>
                          </a:solidFill>
                          <a:latin typeface="Calibri"/>
                        </a:rPr>
                        <a:t>Cluster, payload centred</a:t>
                      </a:r>
                    </a:p>
                  </a:txBody>
                  <a:tcPr>
                    <a:solidFill>
                      <a:srgbClr val="FFFFFF"/>
                    </a:solidFill>
                  </a:tcPr>
                </a:tc>
                <a:tc>
                  <a:txBody>
                    <a:bodyPr/>
                    <a:lstStyle/>
                    <a:p>
                      <a:r>
                        <a:rPr sz="1300" b="0">
                          <a:solidFill>
                            <a:srgbClr val="2B3A44"/>
                          </a:solidFill>
                          <a:latin typeface="Calibri"/>
                        </a:rPr>
                        <a:t>2.86 s</a:t>
                      </a:r>
                    </a:p>
                  </a:txBody>
                  <a:tcPr>
                    <a:solidFill>
                      <a:srgbClr val="FFFFFF"/>
                    </a:solidFill>
                  </a:tcPr>
                </a:tc>
                <a:tc>
                  <a:txBody>
                    <a:bodyPr/>
                    <a:lstStyle/>
                    <a:p>
                      <a:r>
                        <a:rPr sz="1300" b="0">
                          <a:solidFill>
                            <a:srgbClr val="2B3A44"/>
                          </a:solidFill>
                          <a:latin typeface="Calibri"/>
                        </a:rPr>
                        <a:t>4.22 s</a:t>
                      </a:r>
                    </a:p>
                  </a:txBody>
                  <a:tcPr>
                    <a:solidFill>
                      <a:srgbClr val="FFFFFF"/>
                    </a:solidFill>
                  </a:tcPr>
                </a:tc>
                <a:tc>
                  <a:txBody>
                    <a:bodyPr/>
                    <a:lstStyle/>
                    <a:p>
                      <a:r>
                        <a:rPr sz="1300" b="0">
                          <a:solidFill>
                            <a:srgbClr val="2B3A44"/>
                          </a:solidFill>
                          <a:latin typeface="Calibri"/>
                        </a:rPr>
                        <a:t>36 N</a:t>
                      </a:r>
                    </a:p>
                  </a:txBody>
                  <a:tcPr>
                    <a:solidFill>
                      <a:srgbClr val="FFFFFF"/>
                    </a:solidFill>
                  </a:tcPr>
                </a:tc>
                <a:tc>
                  <a:txBody>
                    <a:bodyPr/>
                    <a:lstStyle/>
                    <a:p>
                      <a:r>
                        <a:rPr sz="1300" b="0">
                          <a:solidFill>
                            <a:srgbClr val="2B3A44"/>
                          </a:solidFill>
                          <a:latin typeface="Calibri"/>
                        </a:rPr>
                        <a:t>58 / 106</a:t>
                      </a:r>
                    </a:p>
                  </a:txBody>
                  <a:tcPr>
                    <a:solidFill>
                      <a:srgbClr val="FFFFFF"/>
                    </a:solidFill>
                  </a:tcPr>
                </a:tc>
              </a:tr>
              <a:tr h="470262">
                <a:tc>
                  <a:txBody>
                    <a:bodyPr/>
                    <a:lstStyle/>
                    <a:p>
                      <a:r>
                        <a:rPr sz="1300" b="0">
                          <a:solidFill>
                            <a:srgbClr val="2B3A44"/>
                          </a:solidFill>
                          <a:latin typeface="Calibri"/>
                        </a:rPr>
                        <a:t>Cluster, 10° tilt</a:t>
                      </a:r>
                    </a:p>
                  </a:txBody>
                  <a:tcPr>
                    <a:solidFill>
                      <a:srgbClr val="E4F2F4"/>
                    </a:solidFill>
                  </a:tcPr>
                </a:tc>
                <a:tc>
                  <a:txBody>
                    <a:bodyPr/>
                    <a:lstStyle/>
                    <a:p>
                      <a:r>
                        <a:rPr sz="1300" b="0">
                          <a:solidFill>
                            <a:srgbClr val="2B3A44"/>
                          </a:solidFill>
                          <a:latin typeface="Calibri"/>
                        </a:rPr>
                        <a:t>2.85 s</a:t>
                      </a:r>
                    </a:p>
                  </a:txBody>
                  <a:tcPr>
                    <a:solidFill>
                      <a:srgbClr val="E4F2F4"/>
                    </a:solidFill>
                  </a:tcPr>
                </a:tc>
                <a:tc>
                  <a:txBody>
                    <a:bodyPr/>
                    <a:lstStyle/>
                    <a:p>
                      <a:r>
                        <a:rPr sz="1300" b="0">
                          <a:solidFill>
                            <a:srgbClr val="2B3A44"/>
                          </a:solidFill>
                          <a:latin typeface="Calibri"/>
                        </a:rPr>
                        <a:t>4.21 s</a:t>
                      </a:r>
                    </a:p>
                  </a:txBody>
                  <a:tcPr>
                    <a:solidFill>
                      <a:srgbClr val="E4F2F4"/>
                    </a:solidFill>
                  </a:tcPr>
                </a:tc>
                <a:tc>
                  <a:txBody>
                    <a:bodyPr/>
                    <a:lstStyle/>
                    <a:p>
                      <a:r>
                        <a:rPr sz="1300" b="0">
                          <a:solidFill>
                            <a:srgbClr val="2B3A44"/>
                          </a:solidFill>
                          <a:latin typeface="Calibri"/>
                        </a:rPr>
                        <a:t>45 N</a:t>
                      </a:r>
                    </a:p>
                  </a:txBody>
                  <a:tcPr>
                    <a:solidFill>
                      <a:srgbClr val="E4F2F4"/>
                    </a:solidFill>
                  </a:tcPr>
                </a:tc>
                <a:tc>
                  <a:txBody>
                    <a:bodyPr/>
                    <a:lstStyle/>
                    <a:p>
                      <a:r>
                        <a:rPr sz="1300" b="0">
                          <a:solidFill>
                            <a:srgbClr val="2B3A44"/>
                          </a:solidFill>
                          <a:latin typeface="Calibri"/>
                        </a:rPr>
                        <a:t>73 / 117</a:t>
                      </a:r>
                    </a:p>
                  </a:txBody>
                  <a:tcPr>
                    <a:solidFill>
                      <a:srgbClr val="E4F2F4"/>
                    </a:solidFill>
                  </a:tcPr>
                </a:tc>
              </a:tr>
              <a:tr h="470262">
                <a:tc>
                  <a:txBody>
                    <a:bodyPr/>
                    <a:lstStyle/>
                    <a:p>
                      <a:r>
                        <a:rPr sz="1300" b="0">
                          <a:solidFill>
                            <a:srgbClr val="2B3A44"/>
                          </a:solidFill>
                          <a:latin typeface="Calibri"/>
                        </a:rPr>
                        <a:t>Platform, unloaded</a:t>
                      </a:r>
                    </a:p>
                  </a:txBody>
                  <a:tcPr>
                    <a:solidFill>
                      <a:srgbClr val="FFFFFF"/>
                    </a:solidFill>
                  </a:tcPr>
                </a:tc>
                <a:tc>
                  <a:txBody>
                    <a:bodyPr/>
                    <a:lstStyle/>
                    <a:p>
                      <a:r>
                        <a:rPr sz="1300" b="0">
                          <a:solidFill>
                            <a:srgbClr val="2B3A44"/>
                          </a:solidFill>
                          <a:latin typeface="Calibri"/>
                        </a:rPr>
                        <a:t>2.81 s</a:t>
                      </a:r>
                    </a:p>
                  </a:txBody>
                  <a:tcPr>
                    <a:solidFill>
                      <a:srgbClr val="FFFFFF"/>
                    </a:solidFill>
                  </a:tcPr>
                </a:tc>
                <a:tc>
                  <a:txBody>
                    <a:bodyPr/>
                    <a:lstStyle/>
                    <a:p>
                      <a:r>
                        <a:rPr sz="1300" b="0">
                          <a:solidFill>
                            <a:srgbClr val="2B3A44"/>
                          </a:solidFill>
                          <a:latin typeface="Calibri"/>
                        </a:rPr>
                        <a:t>3.10 s</a:t>
                      </a:r>
                    </a:p>
                  </a:txBody>
                  <a:tcPr>
                    <a:solidFill>
                      <a:srgbClr val="FFFFFF"/>
                    </a:solidFill>
                  </a:tcPr>
                </a:tc>
                <a:tc>
                  <a:txBody>
                    <a:bodyPr/>
                    <a:lstStyle/>
                    <a:p>
                      <a:r>
                        <a:rPr sz="1300" b="0">
                          <a:solidFill>
                            <a:srgbClr val="2B3A44"/>
                          </a:solidFill>
                          <a:latin typeface="Calibri"/>
                        </a:rPr>
                        <a:t>9 N</a:t>
                      </a:r>
                    </a:p>
                  </a:txBody>
                  <a:tcPr>
                    <a:solidFill>
                      <a:srgbClr val="FFFFFF"/>
                    </a:solidFill>
                  </a:tcPr>
                </a:tc>
                <a:tc>
                  <a:txBody>
                    <a:bodyPr/>
                    <a:lstStyle/>
                    <a:p>
                      <a:r>
                        <a:rPr sz="1300" b="0">
                          <a:solidFill>
                            <a:srgbClr val="2B3A44"/>
                          </a:solidFill>
                          <a:latin typeface="Calibri"/>
                        </a:rPr>
                        <a:t>14 / 79</a:t>
                      </a:r>
                    </a:p>
                  </a:txBody>
                  <a:tcPr>
                    <a:solidFill>
                      <a:srgbClr val="FFFFFF"/>
                    </a:solidFill>
                  </a:tcPr>
                </a:tc>
              </a:tr>
              <a:tr h="470262">
                <a:tc>
                  <a:txBody>
                    <a:bodyPr/>
                    <a:lstStyle/>
                    <a:p>
                      <a:r>
                        <a:rPr sz="1300" b="0">
                          <a:solidFill>
                            <a:srgbClr val="2B3A44"/>
                          </a:solidFill>
                          <a:latin typeface="Calibri"/>
                        </a:rPr>
                        <a:t>Platform, payload centred</a:t>
                      </a:r>
                    </a:p>
                  </a:txBody>
                  <a:tcPr>
                    <a:solidFill>
                      <a:srgbClr val="E4F2F4"/>
                    </a:solidFill>
                  </a:tcPr>
                </a:tc>
                <a:tc>
                  <a:txBody>
                    <a:bodyPr/>
                    <a:lstStyle/>
                    <a:p>
                      <a:r>
                        <a:rPr sz="1300" b="0">
                          <a:solidFill>
                            <a:srgbClr val="2B3A44"/>
                          </a:solidFill>
                          <a:latin typeface="Calibri"/>
                        </a:rPr>
                        <a:t>2.86 s</a:t>
                      </a:r>
                    </a:p>
                  </a:txBody>
                  <a:tcPr>
                    <a:solidFill>
                      <a:srgbClr val="E4F2F4"/>
                    </a:solidFill>
                  </a:tcPr>
                </a:tc>
                <a:tc>
                  <a:txBody>
                    <a:bodyPr/>
                    <a:lstStyle/>
                    <a:p>
                      <a:r>
                        <a:rPr sz="1300" b="0">
                          <a:solidFill>
                            <a:srgbClr val="2B3A44"/>
                          </a:solidFill>
                          <a:latin typeface="Calibri"/>
                        </a:rPr>
                        <a:t>4.38 s</a:t>
                      </a:r>
                    </a:p>
                  </a:txBody>
                  <a:tcPr>
                    <a:solidFill>
                      <a:srgbClr val="E4F2F4"/>
                    </a:solidFill>
                  </a:tcPr>
                </a:tc>
                <a:tc>
                  <a:txBody>
                    <a:bodyPr/>
                    <a:lstStyle/>
                    <a:p>
                      <a:r>
                        <a:rPr sz="1300" b="0">
                          <a:solidFill>
                            <a:srgbClr val="2B3A44"/>
                          </a:solidFill>
                          <a:latin typeface="Calibri"/>
                        </a:rPr>
                        <a:t>39 N</a:t>
                      </a:r>
                    </a:p>
                  </a:txBody>
                  <a:tcPr>
                    <a:solidFill>
                      <a:srgbClr val="E4F2F4"/>
                    </a:solidFill>
                  </a:tcPr>
                </a:tc>
                <a:tc>
                  <a:txBody>
                    <a:bodyPr/>
                    <a:lstStyle/>
                    <a:p>
                      <a:r>
                        <a:rPr sz="1300" b="0">
                          <a:solidFill>
                            <a:srgbClr val="2B3A44"/>
                          </a:solidFill>
                          <a:latin typeface="Calibri"/>
                        </a:rPr>
                        <a:t>64 / 110</a:t>
                      </a:r>
                    </a:p>
                  </a:txBody>
                  <a:tcPr>
                    <a:solidFill>
                      <a:srgbClr val="E4F2F4"/>
                    </a:solidFill>
                  </a:tcPr>
                </a:tc>
              </a:tr>
              <a:tr h="470268">
                <a:tc>
                  <a:txBody>
                    <a:bodyPr/>
                    <a:lstStyle/>
                    <a:p>
                      <a:r>
                        <a:rPr sz="1300" b="0">
                          <a:solidFill>
                            <a:srgbClr val="2B3A44"/>
                          </a:solidFill>
                          <a:latin typeface="Calibri"/>
                        </a:rPr>
                        <a:t>Platform, 10° tilt</a:t>
                      </a:r>
                    </a:p>
                  </a:txBody>
                  <a:tcPr>
                    <a:solidFill>
                      <a:srgbClr val="FFFFFF"/>
                    </a:solidFill>
                  </a:tcPr>
                </a:tc>
                <a:tc>
                  <a:txBody>
                    <a:bodyPr/>
                    <a:lstStyle/>
                    <a:p>
                      <a:r>
                        <a:rPr sz="1300" b="0">
                          <a:solidFill>
                            <a:srgbClr val="2B3A44"/>
                          </a:solidFill>
                          <a:latin typeface="Calibri"/>
                        </a:rPr>
                        <a:t>2.85 s</a:t>
                      </a:r>
                    </a:p>
                  </a:txBody>
                  <a:tcPr>
                    <a:solidFill>
                      <a:srgbClr val="FFFFFF"/>
                    </a:solidFill>
                  </a:tcPr>
                </a:tc>
                <a:tc>
                  <a:txBody>
                    <a:bodyPr/>
                    <a:lstStyle/>
                    <a:p>
                      <a:r>
                        <a:rPr sz="1300" b="0">
                          <a:solidFill>
                            <a:srgbClr val="2B3A44"/>
                          </a:solidFill>
                          <a:latin typeface="Calibri"/>
                        </a:rPr>
                        <a:t>4.30 s</a:t>
                      </a:r>
                    </a:p>
                  </a:txBody>
                  <a:tcPr>
                    <a:solidFill>
                      <a:srgbClr val="FFFFFF"/>
                    </a:solidFill>
                  </a:tcPr>
                </a:tc>
                <a:tc>
                  <a:txBody>
                    <a:bodyPr/>
                    <a:lstStyle/>
                    <a:p>
                      <a:r>
                        <a:rPr sz="1300" b="0">
                          <a:solidFill>
                            <a:srgbClr val="2B3A44"/>
                          </a:solidFill>
                          <a:latin typeface="Calibri"/>
                        </a:rPr>
                        <a:t>65 N</a:t>
                      </a:r>
                    </a:p>
                  </a:txBody>
                  <a:tcPr>
                    <a:solidFill>
                      <a:srgbClr val="FFFFFF"/>
                    </a:solidFill>
                  </a:tcPr>
                </a:tc>
                <a:tc>
                  <a:txBody>
                    <a:bodyPr/>
                    <a:lstStyle/>
                    <a:p>
                      <a:r>
                        <a:rPr sz="1300" b="0">
                          <a:solidFill>
                            <a:srgbClr val="2B3A44"/>
                          </a:solidFill>
                          <a:latin typeface="Calibri"/>
                        </a:rPr>
                        <a:t>106 / 141</a:t>
                      </a:r>
                    </a:p>
                  </a:txBody>
                  <a:tcPr>
                    <a:solidFill>
                      <a:srgbClr val="FFFFFF"/>
                    </a:solidFill>
                  </a:tcPr>
                </a:tc>
              </a:tr>
            </a:tbl>
          </a:graphicData>
        </a:graphic>
      </p:graphicFrame>
      <p:sp>
        <p:nvSpPr>
          <p:cNvPr id="6" name="TextBox 5"/>
          <p:cNvSpPr txBox="1"/>
          <p:nvPr/>
        </p:nvSpPr>
        <p:spPr>
          <a:xfrm>
            <a:off x="5577840" y="5486400"/>
            <a:ext cx="6126480" cy="1097280"/>
          </a:xfrm>
          <a:prstGeom prst="rect">
            <a:avLst/>
          </a:prstGeom>
          <a:noFill/>
        </p:spPr>
        <p:txBody>
          <a:bodyPr wrap="square" anchor="t" lIns="0" rIns="0">
            <a:spAutoFit/>
          </a:bodyPr>
          <a:lstStyle/>
          <a:p>
            <a:pPr algn="l">
              <a:spcAft>
                <a:spcPts val="600"/>
              </a:spcAft>
            </a:pPr>
            <a:r>
              <a:rPr sz="1200" b="0" i="0">
                <a:solidFill>
                  <a:srgbClr val="5C6B75"/>
                </a:solidFill>
                <a:latin typeface="Calibri"/>
              </a:rPr>
              <a:t>P·L / C55 in N·m/rad, the most loaded buoy. Heave, deck pitch and pin freeboard change little with the preload; the buoys' rocking changes completely.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Heave: the payload's mass matters, the tilt hardly does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Heave of the hub / deck centre against wave period</a:t>
            </a:r>
          </a:p>
        </p:txBody>
      </p:sp>
      <p:graphicFrame>
        <p:nvGraphicFramePr>
          <p:cNvPr id="4" name="Chart 3"/>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914400"/>
          </a:xfrm>
          <a:prstGeom prst="rect">
            <a:avLst/>
          </a:prstGeom>
          <a:noFill/>
        </p:spPr>
        <p:txBody>
          <a:bodyPr wrap="square" anchor="t" lIns="0" rIns="0">
            <a:spAutoFit/>
          </a:bodyPr>
          <a:lstStyle/>
          <a:p>
            <a:pPr algn="l">
              <a:spcAft>
                <a:spcPts val="600"/>
              </a:spcAft>
            </a:pPr>
            <a:r>
              <a:rPr sz="1400" b="0" i="0">
                <a:solidFill>
                  <a:srgbClr val="2B3A44"/>
                </a:solidFill>
                <a:latin typeface="Calibri"/>
              </a:rPr>
              <a:t>The payload lengthens the heave period (2.59 → 2.71 s cluster, 2.60 → 2.72 s platform), so heave falls a little below resonance. 5° and 10° of tilt change heave by ≤ 6 %.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Near the heave resonance, the tilt turns heave into pitch</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Hub / deck pitch (the whole article tilting; not the buoys' own pitch) — resonates with heave at 2.6–2.9 s</a:t>
            </a:r>
          </a:p>
        </p:txBody>
      </p:sp>
      <p:graphicFrame>
        <p:nvGraphicFramePr>
          <p:cNvPr id="4" name="Chart 3"/>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914400"/>
          </a:xfrm>
          <a:prstGeom prst="rect">
            <a:avLst/>
          </a:prstGeom>
          <a:noFill/>
        </p:spPr>
        <p:txBody>
          <a:bodyPr wrap="square" anchor="t" lIns="0" rIns="0">
            <a:spAutoFit/>
          </a:bodyPr>
          <a:lstStyle/>
          <a:p>
            <a:pPr algn="l">
              <a:spcAft>
                <a:spcPts val="600"/>
              </a:spcAft>
            </a:pPr>
            <a:r>
              <a:rPr sz="1400" b="0" i="0">
                <a:solidFill>
                  <a:srgbClr val="2B3A44"/>
                </a:solidFill>
                <a:latin typeface="Calibri"/>
              </a:rPr>
              <a:t>At 2.65 s the cluster hub pitches 2.2 → 2.9 → 3.8° and the platform deck 1.8 → 2.5 → 3.1° (level → 5° → 10°): the shifted mass couples the article's heave and pitch, which resonate together at 2.6–2.9 s. Away from it, including at the buoys' rocking resonance (4.2 s), the tilt adds almost no pitch.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tilt costs freeboard; the waves take a little more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Smallest pin freeboard during the wave cycle</a:t>
            </a:r>
          </a:p>
        </p:txBody>
      </p:sp>
      <p:graphicFrame>
        <p:nvGraphicFramePr>
          <p:cNvPr id="4" name="Chart 3"/>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914400"/>
          </a:xfrm>
          <a:prstGeom prst="rect">
            <a:avLst/>
          </a:prstGeom>
          <a:noFill/>
        </p:spPr>
        <p:txBody>
          <a:bodyPr wrap="square" anchor="t" lIns="0" rIns="0">
            <a:spAutoFit/>
          </a:bodyPr>
          <a:lstStyle/>
          <a:p>
            <a:pPr algn="l">
              <a:spcAft>
                <a:spcPts val="600"/>
              </a:spcAft>
            </a:pPr>
            <a:r>
              <a:rPr sz="1400" b="0" i="0">
                <a:solidFill>
                  <a:srgbClr val="2B3A44"/>
                </a:solidFill>
                <a:latin typeface="Calibri"/>
              </a:rPr>
              <a:t>The lowest pins lose still-water freeboard as the article tilts; the waves take ~85 mm more at worst (2.65 s). No pin comes near the water at H = 0.1 m; linearly, at 10° a pin would reach it only at H ≈ 0.43 m (platform) or 0.56 m (cluster).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With a payload, the buoys rock hard at ~4.2 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buoys' own pitch on their gimbals (dashed: FloatSim without the weight preload, payload centred)</a:t>
            </a:r>
          </a:p>
        </p:txBody>
      </p:sp>
      <p:graphicFrame>
        <p:nvGraphicFramePr>
          <p:cNvPr id="4" name="Chart 3"/>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914400"/>
          </a:xfrm>
          <a:prstGeom prst="rect">
            <a:avLst/>
          </a:prstGeom>
          <a:noFill/>
        </p:spPr>
        <p:txBody>
          <a:bodyPr wrap="square" anchor="t" lIns="0" rIns="0">
            <a:spAutoFit/>
          </a:bodyPr>
          <a:lstStyle/>
          <a:p>
            <a:pPr algn="l">
              <a:spcAft>
                <a:spcPts val="600"/>
              </a:spcAft>
            </a:pPr>
            <a:r>
              <a:rPr sz="1400" b="0" i="0">
                <a:solidFill>
                  <a:srgbClr val="2B3A44"/>
                </a:solidFill>
                <a:latin typeface="Calibri"/>
              </a:rPr>
              <a:t>With the preload, a payload puts the buoys' rocking resonance at ~4.2 s, where they rock 11–12.6° — level or tilted. Without the preload FloatSim gave ≤ 0.7° there and a peak at 2.65 s — the flume record's 2.76–2.9 s pitch resonance, which leaves out the load on the pins.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Watch it move: 2.65 s, the heave and pitch resonance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Payload shifted to 10°, H = 0.1 m · FloatSim with its weight preload · true scale, real time · plays in slide show</a:t>
            </a:r>
          </a:p>
        </p:txBody>
      </p:sp>
      <p:pic>
        <p:nvPicPr>
          <p:cNvPr id="4" name="Picture 3" descr="wanim_cluster_T2.65.gif"/>
          <p:cNvPicPr>
            <a:picLocks noChangeAspect="1"/>
          </p:cNvPicPr>
          <p:nvPr/>
        </p:nvPicPr>
        <p:blipFill>
          <a:blip r:embed="rId3"/>
          <a:stretch>
            <a:fillRect/>
          </a:stretch>
        </p:blipFill>
        <p:spPr>
          <a:xfrm>
            <a:off x="685800" y="1371600"/>
            <a:ext cx="5029200" cy="4859227"/>
          </a:xfrm>
          <a:prstGeom prst="rect">
            <a:avLst/>
          </a:prstGeom>
        </p:spPr>
      </p:pic>
      <p:pic>
        <p:nvPicPr>
          <p:cNvPr id="5" name="Picture 4" descr="wanim_platform_T2.65.gif"/>
          <p:cNvPicPr>
            <a:picLocks noChangeAspect="1"/>
          </p:cNvPicPr>
          <p:nvPr/>
        </p:nvPicPr>
        <p:blipFill>
          <a:blip r:embed="rId4"/>
          <a:stretch>
            <a:fillRect/>
          </a:stretch>
        </p:blipFill>
        <p:spPr>
          <a:xfrm>
            <a:off x="6446520" y="1371600"/>
            <a:ext cx="5029200" cy="4859227"/>
          </a:xfrm>
          <a:prstGeom prst="rect">
            <a:avLst/>
          </a:prstGeom>
        </p:spPr>
      </p:pic>
      <p:sp>
        <p:nvSpPr>
          <p:cNvPr id="6" name="TextBox 5"/>
          <p:cNvSpPr txBox="1"/>
          <p:nvPr/>
        </p:nvSpPr>
        <p:spPr>
          <a:xfrm>
            <a:off x="685800" y="6263640"/>
            <a:ext cx="10835640" cy="548640"/>
          </a:xfrm>
          <a:prstGeom prst="rect">
            <a:avLst/>
          </a:prstGeom>
          <a:noFill/>
        </p:spPr>
        <p:txBody>
          <a:bodyPr wrap="square" anchor="t" lIns="0" rIns="0">
            <a:spAutoFit/>
          </a:bodyPr>
          <a:lstStyle/>
          <a:p>
            <a:pPr algn="l">
              <a:spcAft>
                <a:spcPts val="600"/>
              </a:spcAft>
            </a:pPr>
            <a:r>
              <a:rPr sz="1300" b="0" i="0">
                <a:solidFill>
                  <a:srgbClr val="2B3A44"/>
                </a:solidFill>
                <a:latin typeface="Calibri"/>
              </a:rPr>
              <a:t>The whole article heaves and pitches about its tilt: hub ±3.8°, deck ±3.1°; heave 66 / 50 mm. The buoys hang nearly straight (±4.3° / ±3.8°); the lowest pin keeps 389 / 282 mm.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Watch it move: 4.2 s, the buoys' rocking resonance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Payload shifted to 10°, H = 0.1 m · FloatSim with its weight preload · true scale, real time · plays in slide show</a:t>
            </a:r>
          </a:p>
        </p:txBody>
      </p:sp>
      <p:pic>
        <p:nvPicPr>
          <p:cNvPr id="4" name="Picture 3" descr="wanim_cluster_T4.2.gif"/>
          <p:cNvPicPr>
            <a:picLocks noChangeAspect="1"/>
          </p:cNvPicPr>
          <p:nvPr/>
        </p:nvPicPr>
        <p:blipFill>
          <a:blip r:embed="rId3"/>
          <a:stretch>
            <a:fillRect/>
          </a:stretch>
        </p:blipFill>
        <p:spPr>
          <a:xfrm>
            <a:off x="685800" y="1371600"/>
            <a:ext cx="5029200" cy="4859227"/>
          </a:xfrm>
          <a:prstGeom prst="rect">
            <a:avLst/>
          </a:prstGeom>
        </p:spPr>
      </p:pic>
      <p:pic>
        <p:nvPicPr>
          <p:cNvPr id="5" name="Picture 4" descr="wanim_platform_T4.2.gif"/>
          <p:cNvPicPr>
            <a:picLocks noChangeAspect="1"/>
          </p:cNvPicPr>
          <p:nvPr/>
        </p:nvPicPr>
        <p:blipFill>
          <a:blip r:embed="rId4"/>
          <a:stretch>
            <a:fillRect/>
          </a:stretch>
        </p:blipFill>
        <p:spPr>
          <a:xfrm>
            <a:off x="6446520" y="1371600"/>
            <a:ext cx="5029200" cy="4859227"/>
          </a:xfrm>
          <a:prstGeom prst="rect">
            <a:avLst/>
          </a:prstGeom>
        </p:spPr>
      </p:pic>
      <p:sp>
        <p:nvSpPr>
          <p:cNvPr id="6" name="TextBox 5"/>
          <p:cNvSpPr txBox="1"/>
          <p:nvPr/>
        </p:nvSpPr>
        <p:spPr>
          <a:xfrm>
            <a:off x="685800" y="6263640"/>
            <a:ext cx="10835640" cy="548640"/>
          </a:xfrm>
          <a:prstGeom prst="rect">
            <a:avLst/>
          </a:prstGeom>
          <a:noFill/>
        </p:spPr>
        <p:txBody>
          <a:bodyPr wrap="square" anchor="t" lIns="0" rIns="0">
            <a:spAutoFit/>
          </a:bodyPr>
          <a:lstStyle/>
          <a:p>
            <a:pPr algn="l">
              <a:spcAft>
                <a:spcPts val="600"/>
              </a:spcAft>
            </a:pPr>
            <a:r>
              <a:rPr sz="1300" b="0" i="0">
                <a:solidFill>
                  <a:srgbClr val="2B3A44"/>
                </a:solidFill>
                <a:latin typeface="Calibri"/>
              </a:rPr>
              <a:t>The buoys swing together on their pins (±12.6° cluster, ±11.2° platform) while the hub / deck slides along the waves (0.48 / 0.41 m/s² lateral at the payload); the article barely pitches (±1.0°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Accelerations at the payload: vertical is small</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Vertical acceleration amplitude at the payload against wave period, H = 0.1 m (1 g = 9.81 m/s²)</a:t>
            </a:r>
          </a:p>
        </p:txBody>
      </p:sp>
      <p:graphicFrame>
        <p:nvGraphicFramePr>
          <p:cNvPr id="4" name="Chart 3"/>
          <p:cNvGraphicFramePr>
            <a:graphicFrameLocks noGrp="1"/>
          </p:cNvGraphicFramePr>
          <p:nvPr/>
        </p:nvGraphicFramePr>
        <p:xfrm>
          <a:off x="457200" y="1417320"/>
          <a:ext cx="5577840" cy="41605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416052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914400"/>
          </a:xfrm>
          <a:prstGeom prst="rect">
            <a:avLst/>
          </a:prstGeom>
          <a:noFill/>
        </p:spPr>
        <p:txBody>
          <a:bodyPr wrap="square" anchor="t" lIns="0" rIns="0">
            <a:spAutoFit/>
          </a:bodyPr>
          <a:lstStyle/>
          <a:p>
            <a:pPr algn="l">
              <a:spcAft>
                <a:spcPts val="600"/>
              </a:spcAft>
            </a:pPr>
            <a:r>
              <a:rPr sz="1400" b="0" i="0">
                <a:solidFill>
                  <a:srgbClr val="2B3A44"/>
                </a:solidFill>
                <a:latin typeface="Calibri"/>
              </a:rPr>
              <a:t>At most 0.42 m/s² (0.04 g), unloaded, near the heave resonance; with the payload 0.38 (cluster) and 0.34 m/s² (platform). Both articles ride the same buoys' heave, so they are alike, and the tilt changes it little.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Lateral acceleration (along the waves)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As the payload feels it: the deck's motion plus gravity swinging along the deck as it pitches</a:t>
            </a:r>
          </a:p>
        </p:txBody>
      </p:sp>
      <p:graphicFrame>
        <p:nvGraphicFramePr>
          <p:cNvPr id="4" name="Chart 3"/>
          <p:cNvGraphicFramePr>
            <a:graphicFrameLocks noGrp="1"/>
          </p:cNvGraphicFramePr>
          <p:nvPr/>
        </p:nvGraphicFramePr>
        <p:xfrm>
          <a:off x="457200" y="1417320"/>
          <a:ext cx="5577840" cy="39319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417320"/>
          <a:ext cx="5577840" cy="3931920"/>
        </p:xfrm>
        <a:graphic>
          <a:graphicData uri="http://schemas.openxmlformats.org/drawingml/2006/chart">
            <c:chart xmlns:c="http://schemas.openxmlformats.org/drawingml/2006/chart" r:id="rId4"/>
          </a:graphicData>
        </a:graphic>
      </p:graphicFrame>
      <p:sp>
        <p:nvSpPr>
          <p:cNvPr id="6" name="TextBox 5"/>
          <p:cNvSpPr txBox="1"/>
          <p:nvPr/>
        </p:nvSpPr>
        <p:spPr>
          <a:xfrm>
            <a:off x="548640" y="5440680"/>
            <a:ext cx="11064240" cy="1280160"/>
          </a:xfrm>
          <a:prstGeom prst="rect">
            <a:avLst/>
          </a:prstGeom>
          <a:noFill/>
        </p:spPr>
        <p:txBody>
          <a:bodyPr wrap="square" anchor="t" lIns="0" rIns="0">
            <a:spAutoFit/>
          </a:bodyPr>
          <a:lstStyle/>
          <a:p>
            <a:pPr algn="l">
              <a:spcAft>
                <a:spcPts val="400"/>
              </a:spcAft>
            </a:pPr>
            <a:r>
              <a:rPr sz="1300" b="1" i="0">
                <a:solidFill>
                  <a:srgbClr val="2B3A44"/>
                </a:solidFill>
                <a:latin typeface="Calibri"/>
              </a:rPr>
              <a:t>Short waves: </a:t>
            </a:r>
            <a:r>
              <a:rPr sz="1300" b="0" i="0">
                <a:solidFill>
                  <a:srgbClr val="2B3A44"/>
                </a:solidFill>
                <a:latin typeface="Calibri"/>
              </a:rPr>
              <a:t>the platform's 2.4 m span averages them out: 0.08 against 0.63 m/s² at 1.5 s (payload centred).</a:t>
            </a:r>
          </a:p>
          <a:p>
            <a:pPr algn="l">
              <a:spcAft>
                <a:spcPts val="400"/>
              </a:spcAft>
            </a:pPr>
            <a:r>
              <a:rPr sz="1300" b="1" i="0">
                <a:solidFill>
                  <a:srgbClr val="2B3A44"/>
                </a:solidFill>
                <a:latin typeface="Calibri"/>
              </a:rPr>
              <a:t>Near the heave resonance (2.35–2.65 s): </a:t>
            </a:r>
            <a:r>
              <a:rPr sz="1300" b="0" i="0">
                <a:solidFill>
                  <a:srgbClr val="2B3A44"/>
                </a:solidFill>
                <a:latin typeface="Calibri"/>
              </a:rPr>
              <a:t>the tilt adds lateral load: cluster 0.61 → 0.79, platform 0.49 → 0.60 m/s², level → 10°.</a:t>
            </a:r>
          </a:p>
          <a:p>
            <a:pPr algn="l">
              <a:spcAft>
                <a:spcPts val="400"/>
              </a:spcAft>
            </a:pPr>
            <a:r>
              <a:rPr sz="1300" b="1" i="0">
                <a:solidFill>
                  <a:srgbClr val="2B3A44"/>
                </a:solidFill>
                <a:latin typeface="Calibri"/>
              </a:rPr>
              <a:t>At 4.2 s, with a payload: </a:t>
            </a:r>
            <a:r>
              <a:rPr sz="1300" b="0" i="0">
                <a:solidFill>
                  <a:srgbClr val="2B3A44"/>
                </a:solidFill>
                <a:latin typeface="Calibri"/>
              </a:rPr>
              <a:t>0.4–0.6 m/s²: the buoys rocking on their gimbals slide the hub / deck along the waves.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For the payload, the static tilt is the biggest lateral load</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Maximum accelerations at the payload over the seven wave periods, m/s² (H = 0.1 m)</a:t>
            </a:r>
          </a:p>
        </p:txBody>
      </p:sp>
      <p:graphicFrame>
        <p:nvGraphicFramePr>
          <p:cNvPr id="4" name="Table 3"/>
          <p:cNvGraphicFramePr>
            <a:graphicFrameLocks noGrp="1"/>
          </p:cNvGraphicFramePr>
          <p:nvPr/>
        </p:nvGraphicFramePr>
        <p:xfrm>
          <a:off x="548640" y="1600200"/>
          <a:ext cx="7498080" cy="4023360"/>
        </p:xfrm>
        <a:graphic>
          <a:graphicData uri="http://schemas.openxmlformats.org/drawingml/2006/table">
            <a:tbl>
              <a:tblPr firstRow="1" bandRow="1">
                <a:tableStyleId>{5C22544A-7EE6-4342-B048-85BDC9FD1C3A}</a:tableStyleId>
              </a:tblPr>
              <a:tblGrid>
                <a:gridCol w="2103120"/>
                <a:gridCol w="1097280"/>
                <a:gridCol w="1554480"/>
                <a:gridCol w="1280160"/>
                <a:gridCol w="1463040"/>
              </a:tblGrid>
              <a:tr h="447040">
                <a:tc>
                  <a:txBody>
                    <a:bodyPr/>
                    <a:lstStyle/>
                    <a:p/>
                  </a:txBody>
                  <a:tcPr>
                    <a:solidFill>
                      <a:srgbClr val="0C8B96"/>
                    </a:solidFill>
                  </a:tcPr>
                </a:tc>
                <a:tc>
                  <a:txBody>
                    <a:bodyPr/>
                    <a:lstStyle/>
                    <a:p>
                      <a:r>
                        <a:rPr sz="1300" b="1">
                          <a:solidFill>
                            <a:srgbClr val="FFFFFF"/>
                          </a:solidFill>
                          <a:latin typeface="Calibri"/>
                        </a:rPr>
                        <a:t>Vertical, max</a:t>
                      </a:r>
                    </a:p>
                  </a:txBody>
                  <a:tcPr>
                    <a:solidFill>
                      <a:srgbClr val="0C8B96"/>
                    </a:solidFill>
                  </a:tcPr>
                </a:tc>
                <a:tc>
                  <a:txBody>
                    <a:bodyPr/>
                    <a:lstStyle/>
                    <a:p>
                      <a:r>
                        <a:rPr sz="1300" b="1">
                          <a:solidFill>
                            <a:srgbClr val="FFFFFF"/>
                          </a:solidFill>
                          <a:latin typeface="Calibri"/>
                        </a:rPr>
                        <a:t>Lateral from the waves, max</a:t>
                      </a:r>
                    </a:p>
                  </a:txBody>
                  <a:tcPr>
                    <a:solidFill>
                      <a:srgbClr val="0C8B96"/>
                    </a:solidFill>
                  </a:tcPr>
                </a:tc>
                <a:tc>
                  <a:txBody>
                    <a:bodyPr/>
                    <a:lstStyle/>
                    <a:p>
                      <a:r>
                        <a:rPr sz="1300" b="1">
                          <a:solidFill>
                            <a:srgbClr val="FFFFFF"/>
                          </a:solidFill>
                          <a:latin typeface="Calibri"/>
                        </a:rPr>
                        <a:t>Static tilt, g·sin θ</a:t>
                      </a:r>
                    </a:p>
                  </a:txBody>
                  <a:tcPr>
                    <a:solidFill>
                      <a:srgbClr val="0C8B96"/>
                    </a:solidFill>
                  </a:tcPr>
                </a:tc>
                <a:tc>
                  <a:txBody>
                    <a:bodyPr/>
                    <a:lstStyle/>
                    <a:p>
                      <a:r>
                        <a:rPr sz="1300" b="1">
                          <a:solidFill>
                            <a:srgbClr val="FFFFFF"/>
                          </a:solidFill>
                          <a:latin typeface="Calibri"/>
                        </a:rPr>
                        <a:t>Total lateral, max</a:t>
                      </a:r>
                    </a:p>
                  </a:txBody>
                  <a:tcPr>
                    <a:solidFill>
                      <a:srgbClr val="0C8B96"/>
                    </a:solidFill>
                  </a:tcPr>
                </a:tc>
              </a:tr>
              <a:tr h="447040">
                <a:tc>
                  <a:txBody>
                    <a:bodyPr/>
                    <a:lstStyle/>
                    <a:p>
                      <a:r>
                        <a:rPr sz="1300" b="0">
                          <a:solidFill>
                            <a:srgbClr val="2B3A44"/>
                          </a:solidFill>
                          <a:latin typeface="Calibri"/>
                        </a:rPr>
                        <a:t>Cluster, unloaded</a:t>
                      </a:r>
                    </a:p>
                  </a:txBody>
                  <a:tcPr>
                    <a:solidFill>
                      <a:srgbClr val="E4F2F4"/>
                    </a:solidFill>
                  </a:tcPr>
                </a:tc>
                <a:tc>
                  <a:txBody>
                    <a:bodyPr/>
                    <a:lstStyle/>
                    <a:p>
                      <a:r>
                        <a:rPr sz="1300" b="0">
                          <a:solidFill>
                            <a:srgbClr val="2B3A44"/>
                          </a:solidFill>
                          <a:latin typeface="Calibri"/>
                        </a:rPr>
                        <a:t>0.42</a:t>
                      </a:r>
                    </a:p>
                  </a:txBody>
                  <a:tcPr>
                    <a:solidFill>
                      <a:srgbClr val="E4F2F4"/>
                    </a:solidFill>
                  </a:tcPr>
                </a:tc>
                <a:tc>
                  <a:txBody>
                    <a:bodyPr/>
                    <a:lstStyle/>
                    <a:p>
                      <a:r>
                        <a:rPr sz="1300" b="0">
                          <a:solidFill>
                            <a:srgbClr val="2B3A44"/>
                          </a:solidFill>
                          <a:latin typeface="Calibri"/>
                        </a:rPr>
                        <a:t>1.16</a:t>
                      </a:r>
                    </a:p>
                  </a:txBody>
                  <a:tcPr>
                    <a:solidFill>
                      <a:srgbClr val="E4F2F4"/>
                    </a:solidFill>
                  </a:tcPr>
                </a:tc>
                <a:tc>
                  <a:txBody>
                    <a:bodyPr/>
                    <a:lstStyle/>
                    <a:p>
                      <a:r>
                        <a:rPr sz="1300" b="0">
                          <a:solidFill>
                            <a:srgbClr val="2B3A44"/>
                          </a:solidFill>
                          <a:latin typeface="Calibri"/>
                        </a:rPr>
                        <a:t>0.00</a:t>
                      </a:r>
                    </a:p>
                  </a:txBody>
                  <a:tcPr>
                    <a:solidFill>
                      <a:srgbClr val="E4F2F4"/>
                    </a:solidFill>
                  </a:tcPr>
                </a:tc>
                <a:tc>
                  <a:txBody>
                    <a:bodyPr/>
                    <a:lstStyle/>
                    <a:p>
                      <a:r>
                        <a:rPr sz="1300" b="0">
                          <a:solidFill>
                            <a:srgbClr val="2B3A44"/>
                          </a:solidFill>
                          <a:latin typeface="Calibri"/>
                        </a:rPr>
                        <a:t>1.16 (0.12 g)</a:t>
                      </a:r>
                    </a:p>
                  </a:txBody>
                  <a:tcPr>
                    <a:solidFill>
                      <a:srgbClr val="E4F2F4"/>
                    </a:solidFill>
                  </a:tcPr>
                </a:tc>
              </a:tr>
              <a:tr h="447040">
                <a:tc>
                  <a:txBody>
                    <a:bodyPr/>
                    <a:lstStyle/>
                    <a:p>
                      <a:r>
                        <a:rPr sz="1300" b="0">
                          <a:solidFill>
                            <a:srgbClr val="2B3A44"/>
                          </a:solidFill>
                          <a:latin typeface="Calibri"/>
                        </a:rPr>
                        <a:t>Cluster, payload centred</a:t>
                      </a:r>
                    </a:p>
                  </a:txBody>
                  <a:tcPr>
                    <a:solidFill>
                      <a:srgbClr val="FFFFFF"/>
                    </a:solidFill>
                  </a:tcPr>
                </a:tc>
                <a:tc>
                  <a:txBody>
                    <a:bodyPr/>
                    <a:lstStyle/>
                    <a:p>
                      <a:r>
                        <a:rPr sz="1300" b="0">
                          <a:solidFill>
                            <a:srgbClr val="2B3A44"/>
                          </a:solidFill>
                          <a:latin typeface="Calibri"/>
                        </a:rPr>
                        <a:t>0.38</a:t>
                      </a:r>
                    </a:p>
                  </a:txBody>
                  <a:tcPr>
                    <a:solidFill>
                      <a:srgbClr val="FFFFFF"/>
                    </a:solidFill>
                  </a:tcPr>
                </a:tc>
                <a:tc>
                  <a:txBody>
                    <a:bodyPr/>
                    <a:lstStyle/>
                    <a:p>
                      <a:r>
                        <a:rPr sz="1300" b="0">
                          <a:solidFill>
                            <a:srgbClr val="2B3A44"/>
                          </a:solidFill>
                          <a:latin typeface="Calibri"/>
                        </a:rPr>
                        <a:t>0.63</a:t>
                      </a:r>
                    </a:p>
                  </a:txBody>
                  <a:tcPr>
                    <a:solidFill>
                      <a:srgbClr val="FFFFFF"/>
                    </a:solidFill>
                  </a:tcPr>
                </a:tc>
                <a:tc>
                  <a:txBody>
                    <a:bodyPr/>
                    <a:lstStyle/>
                    <a:p>
                      <a:r>
                        <a:rPr sz="1300" b="0">
                          <a:solidFill>
                            <a:srgbClr val="2B3A44"/>
                          </a:solidFill>
                          <a:latin typeface="Calibri"/>
                        </a:rPr>
                        <a:t>0.00</a:t>
                      </a:r>
                    </a:p>
                  </a:txBody>
                  <a:tcPr>
                    <a:solidFill>
                      <a:srgbClr val="FFFFFF"/>
                    </a:solidFill>
                  </a:tcPr>
                </a:tc>
                <a:tc>
                  <a:txBody>
                    <a:bodyPr/>
                    <a:lstStyle/>
                    <a:p>
                      <a:r>
                        <a:rPr sz="1300" b="0">
                          <a:solidFill>
                            <a:srgbClr val="2B3A44"/>
                          </a:solidFill>
                          <a:latin typeface="Calibri"/>
                        </a:rPr>
                        <a:t>0.63 (0.06 g)</a:t>
                      </a:r>
                    </a:p>
                  </a:txBody>
                  <a:tcPr>
                    <a:solidFill>
                      <a:srgbClr val="FFFFFF"/>
                    </a:solidFill>
                  </a:tcPr>
                </a:tc>
              </a:tr>
              <a:tr h="447040">
                <a:tc>
                  <a:txBody>
                    <a:bodyPr/>
                    <a:lstStyle/>
                    <a:p>
                      <a:r>
                        <a:rPr sz="1300" b="0">
                          <a:solidFill>
                            <a:srgbClr val="2B3A44"/>
                          </a:solidFill>
                          <a:latin typeface="Calibri"/>
                        </a:rPr>
                        <a:t>Cluster, 5° tilt</a:t>
                      </a:r>
                    </a:p>
                  </a:txBody>
                  <a:tcPr>
                    <a:solidFill>
                      <a:srgbClr val="E4F2F4"/>
                    </a:solidFill>
                  </a:tcPr>
                </a:tc>
                <a:tc>
                  <a:txBody>
                    <a:bodyPr/>
                    <a:lstStyle/>
                    <a:p>
                      <a:r>
                        <a:rPr sz="1300" b="0">
                          <a:solidFill>
                            <a:srgbClr val="2B3A44"/>
                          </a:solidFill>
                          <a:latin typeface="Calibri"/>
                        </a:rPr>
                        <a:t>0.38</a:t>
                      </a:r>
                    </a:p>
                  </a:txBody>
                  <a:tcPr>
                    <a:solidFill>
                      <a:srgbClr val="E4F2F4"/>
                    </a:solidFill>
                  </a:tcPr>
                </a:tc>
                <a:tc>
                  <a:txBody>
                    <a:bodyPr/>
                    <a:lstStyle/>
                    <a:p>
                      <a:r>
                        <a:rPr sz="1300" b="0">
                          <a:solidFill>
                            <a:srgbClr val="2B3A44"/>
                          </a:solidFill>
                          <a:latin typeface="Calibri"/>
                        </a:rPr>
                        <a:t>0.69</a:t>
                      </a:r>
                    </a:p>
                  </a:txBody>
                  <a:tcPr>
                    <a:solidFill>
                      <a:srgbClr val="E4F2F4"/>
                    </a:solidFill>
                  </a:tcPr>
                </a:tc>
                <a:tc>
                  <a:txBody>
                    <a:bodyPr/>
                    <a:lstStyle/>
                    <a:p>
                      <a:r>
                        <a:rPr sz="1300" b="0">
                          <a:solidFill>
                            <a:srgbClr val="2B3A44"/>
                          </a:solidFill>
                          <a:latin typeface="Calibri"/>
                        </a:rPr>
                        <a:t>0.85</a:t>
                      </a:r>
                    </a:p>
                  </a:txBody>
                  <a:tcPr>
                    <a:solidFill>
                      <a:srgbClr val="E4F2F4"/>
                    </a:solidFill>
                  </a:tcPr>
                </a:tc>
                <a:tc>
                  <a:txBody>
                    <a:bodyPr/>
                    <a:lstStyle/>
                    <a:p>
                      <a:r>
                        <a:rPr sz="1300" b="0">
                          <a:solidFill>
                            <a:srgbClr val="2B3A44"/>
                          </a:solidFill>
                          <a:latin typeface="Calibri"/>
                        </a:rPr>
                        <a:t>1.55 (0.16 g)</a:t>
                      </a:r>
                    </a:p>
                  </a:txBody>
                  <a:tcPr>
                    <a:solidFill>
                      <a:srgbClr val="E4F2F4"/>
                    </a:solidFill>
                  </a:tcPr>
                </a:tc>
              </a:tr>
              <a:tr h="447040">
                <a:tc>
                  <a:txBody>
                    <a:bodyPr/>
                    <a:lstStyle/>
                    <a:p>
                      <a:r>
                        <a:rPr sz="1300" b="0">
                          <a:solidFill>
                            <a:srgbClr val="2B3A44"/>
                          </a:solidFill>
                          <a:latin typeface="Calibri"/>
                        </a:rPr>
                        <a:t>Cluster, 10° tilt</a:t>
                      </a:r>
                    </a:p>
                  </a:txBody>
                  <a:tcPr>
                    <a:solidFill>
                      <a:srgbClr val="FFFFFF"/>
                    </a:solidFill>
                  </a:tcPr>
                </a:tc>
                <a:tc>
                  <a:txBody>
                    <a:bodyPr/>
                    <a:lstStyle/>
                    <a:p>
                      <a:r>
                        <a:rPr sz="1300" b="0">
                          <a:solidFill>
                            <a:srgbClr val="2B3A44"/>
                          </a:solidFill>
                          <a:latin typeface="Calibri"/>
                        </a:rPr>
                        <a:t>0.37</a:t>
                      </a:r>
                    </a:p>
                  </a:txBody>
                  <a:tcPr>
                    <a:solidFill>
                      <a:srgbClr val="FFFFFF"/>
                    </a:solidFill>
                  </a:tcPr>
                </a:tc>
                <a:tc>
                  <a:txBody>
                    <a:bodyPr/>
                    <a:lstStyle/>
                    <a:p>
                      <a:r>
                        <a:rPr sz="1300" b="0">
                          <a:solidFill>
                            <a:srgbClr val="2B3A44"/>
                          </a:solidFill>
                          <a:latin typeface="Calibri"/>
                        </a:rPr>
                        <a:t>0.79</a:t>
                      </a:r>
                    </a:p>
                  </a:txBody>
                  <a:tcPr>
                    <a:solidFill>
                      <a:srgbClr val="FFFFFF"/>
                    </a:solidFill>
                  </a:tcPr>
                </a:tc>
                <a:tc>
                  <a:txBody>
                    <a:bodyPr/>
                    <a:lstStyle/>
                    <a:p>
                      <a:r>
                        <a:rPr sz="1300" b="0">
                          <a:solidFill>
                            <a:srgbClr val="2B3A44"/>
                          </a:solidFill>
                          <a:latin typeface="Calibri"/>
                        </a:rPr>
                        <a:t>1.70</a:t>
                      </a:r>
                    </a:p>
                  </a:txBody>
                  <a:tcPr>
                    <a:solidFill>
                      <a:srgbClr val="FFFFFF"/>
                    </a:solidFill>
                  </a:tcPr>
                </a:tc>
                <a:tc>
                  <a:txBody>
                    <a:bodyPr/>
                    <a:lstStyle/>
                    <a:p>
                      <a:r>
                        <a:rPr sz="1300" b="0">
                          <a:solidFill>
                            <a:srgbClr val="2B3A44"/>
                          </a:solidFill>
                          <a:latin typeface="Calibri"/>
                        </a:rPr>
                        <a:t>2.49 (0.25 g)</a:t>
                      </a:r>
                    </a:p>
                  </a:txBody>
                  <a:tcPr>
                    <a:solidFill>
                      <a:srgbClr val="FFFFFF"/>
                    </a:solidFill>
                  </a:tcPr>
                </a:tc>
              </a:tr>
              <a:tr h="447040">
                <a:tc>
                  <a:txBody>
                    <a:bodyPr/>
                    <a:lstStyle/>
                    <a:p>
                      <a:r>
                        <a:rPr sz="1300" b="0">
                          <a:solidFill>
                            <a:srgbClr val="2B3A44"/>
                          </a:solidFill>
                          <a:latin typeface="Calibri"/>
                        </a:rPr>
                        <a:t>Platform, unloaded</a:t>
                      </a:r>
                    </a:p>
                  </a:txBody>
                  <a:tcPr>
                    <a:solidFill>
                      <a:srgbClr val="E4F2F4"/>
                    </a:solidFill>
                  </a:tcPr>
                </a:tc>
                <a:tc>
                  <a:txBody>
                    <a:bodyPr/>
                    <a:lstStyle/>
                    <a:p>
                      <a:r>
                        <a:rPr sz="1300" b="0">
                          <a:solidFill>
                            <a:srgbClr val="2B3A44"/>
                          </a:solidFill>
                          <a:latin typeface="Calibri"/>
                        </a:rPr>
                        <a:t>0.37</a:t>
                      </a:r>
                    </a:p>
                  </a:txBody>
                  <a:tcPr>
                    <a:solidFill>
                      <a:srgbClr val="E4F2F4"/>
                    </a:solidFill>
                  </a:tcPr>
                </a:tc>
                <a:tc>
                  <a:txBody>
                    <a:bodyPr/>
                    <a:lstStyle/>
                    <a:p>
                      <a:r>
                        <a:rPr sz="1300" b="0">
                          <a:solidFill>
                            <a:srgbClr val="2B3A44"/>
                          </a:solidFill>
                          <a:latin typeface="Calibri"/>
                        </a:rPr>
                        <a:t>0.79</a:t>
                      </a:r>
                    </a:p>
                  </a:txBody>
                  <a:tcPr>
                    <a:solidFill>
                      <a:srgbClr val="E4F2F4"/>
                    </a:solidFill>
                  </a:tcPr>
                </a:tc>
                <a:tc>
                  <a:txBody>
                    <a:bodyPr/>
                    <a:lstStyle/>
                    <a:p>
                      <a:r>
                        <a:rPr sz="1300" b="0">
                          <a:solidFill>
                            <a:srgbClr val="2B3A44"/>
                          </a:solidFill>
                          <a:latin typeface="Calibri"/>
                        </a:rPr>
                        <a:t>0.00</a:t>
                      </a:r>
                    </a:p>
                  </a:txBody>
                  <a:tcPr>
                    <a:solidFill>
                      <a:srgbClr val="E4F2F4"/>
                    </a:solidFill>
                  </a:tcPr>
                </a:tc>
                <a:tc>
                  <a:txBody>
                    <a:bodyPr/>
                    <a:lstStyle/>
                    <a:p>
                      <a:r>
                        <a:rPr sz="1300" b="0">
                          <a:solidFill>
                            <a:srgbClr val="2B3A44"/>
                          </a:solidFill>
                          <a:latin typeface="Calibri"/>
                        </a:rPr>
                        <a:t>0.79 (0.08 g)</a:t>
                      </a:r>
                    </a:p>
                  </a:txBody>
                  <a:tcPr>
                    <a:solidFill>
                      <a:srgbClr val="E4F2F4"/>
                    </a:solidFill>
                  </a:tcPr>
                </a:tc>
              </a:tr>
              <a:tr h="447040">
                <a:tc>
                  <a:txBody>
                    <a:bodyPr/>
                    <a:lstStyle/>
                    <a:p>
                      <a:r>
                        <a:rPr sz="1300" b="0">
                          <a:solidFill>
                            <a:srgbClr val="2B3A44"/>
                          </a:solidFill>
                          <a:latin typeface="Calibri"/>
                        </a:rPr>
                        <a:t>Platform, payload centred</a:t>
                      </a:r>
                    </a:p>
                  </a:txBody>
                  <a:tcPr>
                    <a:solidFill>
                      <a:srgbClr val="FFFFFF"/>
                    </a:solidFill>
                  </a:tcPr>
                </a:tc>
                <a:tc>
                  <a:txBody>
                    <a:bodyPr/>
                    <a:lstStyle/>
                    <a:p>
                      <a:r>
                        <a:rPr sz="1300" b="0">
                          <a:solidFill>
                            <a:srgbClr val="2B3A44"/>
                          </a:solidFill>
                          <a:latin typeface="Calibri"/>
                        </a:rPr>
                        <a:t>0.34</a:t>
                      </a:r>
                    </a:p>
                  </a:txBody>
                  <a:tcPr>
                    <a:solidFill>
                      <a:srgbClr val="FFFFFF"/>
                    </a:solidFill>
                  </a:tcPr>
                </a:tc>
                <a:tc>
                  <a:txBody>
                    <a:bodyPr/>
                    <a:lstStyle/>
                    <a:p>
                      <a:r>
                        <a:rPr sz="1300" b="0">
                          <a:solidFill>
                            <a:srgbClr val="2B3A44"/>
                          </a:solidFill>
                          <a:latin typeface="Calibri"/>
                        </a:rPr>
                        <a:t>0.52</a:t>
                      </a:r>
                    </a:p>
                  </a:txBody>
                  <a:tcPr>
                    <a:solidFill>
                      <a:srgbClr val="FFFFFF"/>
                    </a:solidFill>
                  </a:tcPr>
                </a:tc>
                <a:tc>
                  <a:txBody>
                    <a:bodyPr/>
                    <a:lstStyle/>
                    <a:p>
                      <a:r>
                        <a:rPr sz="1300" b="0">
                          <a:solidFill>
                            <a:srgbClr val="2B3A44"/>
                          </a:solidFill>
                          <a:latin typeface="Calibri"/>
                        </a:rPr>
                        <a:t>0.00</a:t>
                      </a:r>
                    </a:p>
                  </a:txBody>
                  <a:tcPr>
                    <a:solidFill>
                      <a:srgbClr val="FFFFFF"/>
                    </a:solidFill>
                  </a:tcPr>
                </a:tc>
                <a:tc>
                  <a:txBody>
                    <a:bodyPr/>
                    <a:lstStyle/>
                    <a:p>
                      <a:r>
                        <a:rPr sz="1300" b="0">
                          <a:solidFill>
                            <a:srgbClr val="2B3A44"/>
                          </a:solidFill>
                          <a:latin typeface="Calibri"/>
                        </a:rPr>
                        <a:t>0.52 (0.05 g)</a:t>
                      </a:r>
                    </a:p>
                  </a:txBody>
                  <a:tcPr>
                    <a:solidFill>
                      <a:srgbClr val="FFFFFF"/>
                    </a:solidFill>
                  </a:tcPr>
                </a:tc>
              </a:tr>
              <a:tr h="447040">
                <a:tc>
                  <a:txBody>
                    <a:bodyPr/>
                    <a:lstStyle/>
                    <a:p>
                      <a:r>
                        <a:rPr sz="1300" b="0">
                          <a:solidFill>
                            <a:srgbClr val="2B3A44"/>
                          </a:solidFill>
                          <a:latin typeface="Calibri"/>
                        </a:rPr>
                        <a:t>Platform, 5° tilt</a:t>
                      </a:r>
                    </a:p>
                  </a:txBody>
                  <a:tcPr>
                    <a:solidFill>
                      <a:srgbClr val="E4F2F4"/>
                    </a:solidFill>
                  </a:tcPr>
                </a:tc>
                <a:tc>
                  <a:txBody>
                    <a:bodyPr/>
                    <a:lstStyle/>
                    <a:p>
                      <a:r>
                        <a:rPr sz="1300" b="0">
                          <a:solidFill>
                            <a:srgbClr val="2B3A44"/>
                          </a:solidFill>
                          <a:latin typeface="Calibri"/>
                        </a:rPr>
                        <a:t>0.32</a:t>
                      </a:r>
                    </a:p>
                  </a:txBody>
                  <a:tcPr>
                    <a:solidFill>
                      <a:srgbClr val="E4F2F4"/>
                    </a:solidFill>
                  </a:tcPr>
                </a:tc>
                <a:tc>
                  <a:txBody>
                    <a:bodyPr/>
                    <a:lstStyle/>
                    <a:p>
                      <a:r>
                        <a:rPr sz="1300" b="0">
                          <a:solidFill>
                            <a:srgbClr val="2B3A44"/>
                          </a:solidFill>
                          <a:latin typeface="Calibri"/>
                        </a:rPr>
                        <a:t>0.53</a:t>
                      </a:r>
                    </a:p>
                  </a:txBody>
                  <a:tcPr>
                    <a:solidFill>
                      <a:srgbClr val="E4F2F4"/>
                    </a:solidFill>
                  </a:tcPr>
                </a:tc>
                <a:tc>
                  <a:txBody>
                    <a:bodyPr/>
                    <a:lstStyle/>
                    <a:p>
                      <a:r>
                        <a:rPr sz="1300" b="0">
                          <a:solidFill>
                            <a:srgbClr val="2B3A44"/>
                          </a:solidFill>
                          <a:latin typeface="Calibri"/>
                        </a:rPr>
                        <a:t>0.85</a:t>
                      </a:r>
                    </a:p>
                  </a:txBody>
                  <a:tcPr>
                    <a:solidFill>
                      <a:srgbClr val="E4F2F4"/>
                    </a:solidFill>
                  </a:tcPr>
                </a:tc>
                <a:tc>
                  <a:txBody>
                    <a:bodyPr/>
                    <a:lstStyle/>
                    <a:p>
                      <a:r>
                        <a:rPr sz="1300" b="0">
                          <a:solidFill>
                            <a:srgbClr val="2B3A44"/>
                          </a:solidFill>
                          <a:latin typeface="Calibri"/>
                        </a:rPr>
                        <a:t>1.39 (0.14 g)</a:t>
                      </a:r>
                    </a:p>
                  </a:txBody>
                  <a:tcPr>
                    <a:solidFill>
                      <a:srgbClr val="E4F2F4"/>
                    </a:solidFill>
                  </a:tcPr>
                </a:tc>
              </a:tr>
              <a:tr h="447040">
                <a:tc>
                  <a:txBody>
                    <a:bodyPr/>
                    <a:lstStyle/>
                    <a:p>
                      <a:r>
                        <a:rPr sz="1300" b="0">
                          <a:solidFill>
                            <a:srgbClr val="2B3A44"/>
                          </a:solidFill>
                          <a:latin typeface="Calibri"/>
                        </a:rPr>
                        <a:t>Platform, 10° tilt</a:t>
                      </a:r>
                    </a:p>
                  </a:txBody>
                  <a:tcPr>
                    <a:solidFill>
                      <a:srgbClr val="FFFFFF"/>
                    </a:solidFill>
                  </a:tcPr>
                </a:tc>
                <a:tc>
                  <a:txBody>
                    <a:bodyPr/>
                    <a:lstStyle/>
                    <a:p>
                      <a:r>
                        <a:rPr sz="1300" b="0">
                          <a:solidFill>
                            <a:srgbClr val="2B3A44"/>
                          </a:solidFill>
                          <a:latin typeface="Calibri"/>
                        </a:rPr>
                        <a:t>0.30</a:t>
                      </a:r>
                    </a:p>
                  </a:txBody>
                  <a:tcPr>
                    <a:solidFill>
                      <a:srgbClr val="FFFFFF"/>
                    </a:solidFill>
                  </a:tcPr>
                </a:tc>
                <a:tc>
                  <a:txBody>
                    <a:bodyPr/>
                    <a:lstStyle/>
                    <a:p>
                      <a:r>
                        <a:rPr sz="1300" b="0">
                          <a:solidFill>
                            <a:srgbClr val="2B3A44"/>
                          </a:solidFill>
                          <a:latin typeface="Calibri"/>
                        </a:rPr>
                        <a:t>0.60</a:t>
                      </a:r>
                    </a:p>
                  </a:txBody>
                  <a:tcPr>
                    <a:solidFill>
                      <a:srgbClr val="FFFFFF"/>
                    </a:solidFill>
                  </a:tcPr>
                </a:tc>
                <a:tc>
                  <a:txBody>
                    <a:bodyPr/>
                    <a:lstStyle/>
                    <a:p>
                      <a:r>
                        <a:rPr sz="1300" b="0">
                          <a:solidFill>
                            <a:srgbClr val="2B3A44"/>
                          </a:solidFill>
                          <a:latin typeface="Calibri"/>
                        </a:rPr>
                        <a:t>1.70</a:t>
                      </a:r>
                    </a:p>
                  </a:txBody>
                  <a:tcPr>
                    <a:solidFill>
                      <a:srgbClr val="FFFFFF"/>
                    </a:solidFill>
                  </a:tcPr>
                </a:tc>
                <a:tc>
                  <a:txBody>
                    <a:bodyPr/>
                    <a:lstStyle/>
                    <a:p>
                      <a:r>
                        <a:rPr sz="1300" b="0">
                          <a:solidFill>
                            <a:srgbClr val="2B3A44"/>
                          </a:solidFill>
                          <a:latin typeface="Calibri"/>
                        </a:rPr>
                        <a:t>2.30 (0.23 g)</a:t>
                      </a:r>
                    </a:p>
                  </a:txBody>
                  <a:tcPr>
                    <a:solidFill>
                      <a:srgbClr val="FFFFFF"/>
                    </a:solidFill>
                  </a:tcPr>
                </a:tc>
              </a:tr>
            </a:tbl>
          </a:graphicData>
        </a:graphic>
      </p:graphicFrame>
      <p:sp>
        <p:nvSpPr>
          <p:cNvPr id="5" name="Rounded Rectangle 4"/>
          <p:cNvSpPr/>
          <p:nvPr/>
        </p:nvSpPr>
        <p:spPr>
          <a:xfrm>
            <a:off x="8412480" y="1600200"/>
            <a:ext cx="3246120" cy="155448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41080" y="1737360"/>
            <a:ext cx="278892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1.70 m/s²</a:t>
            </a:r>
          </a:p>
        </p:txBody>
      </p:sp>
      <p:sp>
        <p:nvSpPr>
          <p:cNvPr id="7" name="TextBox 6"/>
          <p:cNvSpPr txBox="1"/>
          <p:nvPr/>
        </p:nvSpPr>
        <p:spPr>
          <a:xfrm>
            <a:off x="8641080" y="2404872"/>
            <a:ext cx="2788920" cy="685800"/>
          </a:xfrm>
          <a:prstGeom prst="rect">
            <a:avLst/>
          </a:prstGeom>
          <a:noFill/>
        </p:spPr>
        <p:txBody>
          <a:bodyPr wrap="square" anchor="t" lIns="0" rIns="0">
            <a:spAutoFit/>
          </a:bodyPr>
          <a:lstStyle/>
          <a:p>
            <a:pPr algn="l">
              <a:spcAft>
                <a:spcPts val="600"/>
              </a:spcAft>
            </a:pPr>
            <a:r>
              <a:rPr sz="1300" b="0" i="0">
                <a:solidFill>
                  <a:srgbClr val="2B3A44"/>
                </a:solidFill>
                <a:latin typeface="Calibri"/>
              </a:rPr>
              <a:t>along the deck from a 10° tilt alone (0.17 g), before any wave</a:t>
            </a:r>
          </a:p>
        </p:txBody>
      </p:sp>
      <p:sp>
        <p:nvSpPr>
          <p:cNvPr id="8" name="Rounded Rectangle 7"/>
          <p:cNvSpPr/>
          <p:nvPr/>
        </p:nvSpPr>
        <p:spPr>
          <a:xfrm>
            <a:off x="8412480" y="3337560"/>
            <a:ext cx="3246120" cy="155448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41080" y="3474720"/>
            <a:ext cx="278892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0.25 / 0.23 g</a:t>
            </a:r>
          </a:p>
        </p:txBody>
      </p:sp>
      <p:sp>
        <p:nvSpPr>
          <p:cNvPr id="10" name="TextBox 9"/>
          <p:cNvSpPr txBox="1"/>
          <p:nvPr/>
        </p:nvSpPr>
        <p:spPr>
          <a:xfrm>
            <a:off x="8641080" y="4142232"/>
            <a:ext cx="2788920" cy="685800"/>
          </a:xfrm>
          <a:prstGeom prst="rect">
            <a:avLst/>
          </a:prstGeom>
          <a:noFill/>
        </p:spPr>
        <p:txBody>
          <a:bodyPr wrap="square" anchor="t" lIns="0" rIns="0">
            <a:spAutoFit/>
          </a:bodyPr>
          <a:lstStyle/>
          <a:p>
            <a:pPr algn="l">
              <a:spcAft>
                <a:spcPts val="600"/>
              </a:spcAft>
            </a:pPr>
            <a:r>
              <a:rPr sz="1300" b="0" i="0">
                <a:solidFill>
                  <a:srgbClr val="2B3A44"/>
                </a:solidFill>
                <a:latin typeface="Calibri"/>
              </a:rPr>
              <a:t>worst total lateral at 10°: cluster / platform</a:t>
            </a:r>
          </a:p>
        </p:txBody>
      </p:sp>
      <p:sp>
        <p:nvSpPr>
          <p:cNvPr id="11" name="TextBox 10"/>
          <p:cNvSpPr txBox="1"/>
          <p:nvPr/>
        </p:nvSpPr>
        <p:spPr>
          <a:xfrm>
            <a:off x="8412480" y="5074920"/>
            <a:ext cx="3246120" cy="1463040"/>
          </a:xfrm>
          <a:prstGeom prst="rect">
            <a:avLst/>
          </a:prstGeom>
          <a:noFill/>
        </p:spPr>
        <p:txBody>
          <a:bodyPr wrap="square" anchor="t" lIns="0" rIns="0">
            <a:spAutoFit/>
          </a:bodyPr>
          <a:lstStyle/>
          <a:p>
            <a:pPr algn="l">
              <a:spcAft>
                <a:spcPts val="600"/>
              </a:spcAft>
            </a:pPr>
            <a:r>
              <a:rPr sz="1300" b="0" i="0">
                <a:solidFill>
                  <a:srgbClr val="5C6B75"/>
                </a:solidFill>
                <a:latin typeface="Calibri"/>
              </a:rPr>
              <a:t>Keeping the payload level matters more for its lateral restraint than the wave motion does.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One rocking period for all the buoys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Each buoy alone would differ; tied to one hub they rock together</a:t>
            </a:r>
          </a:p>
        </p:txBody>
      </p:sp>
      <p:graphicFrame>
        <p:nvGraphicFramePr>
          <p:cNvPr id="4" name="Table 3"/>
          <p:cNvGraphicFramePr>
            <a:graphicFrameLocks noGrp="1"/>
          </p:cNvGraphicFramePr>
          <p:nvPr/>
        </p:nvGraphicFramePr>
        <p:xfrm>
          <a:off x="548640" y="1600200"/>
          <a:ext cx="5852160" cy="1828800"/>
        </p:xfrm>
        <a:graphic>
          <a:graphicData uri="http://schemas.openxmlformats.org/drawingml/2006/table">
            <a:tbl>
              <a:tblPr firstRow="1" bandRow="1">
                <a:tableStyleId>{5C22544A-7EE6-4342-B048-85BDC9FD1C3A}</a:tableStyleId>
              </a:tblPr>
              <a:tblGrid>
                <a:gridCol w="1170432"/>
                <a:gridCol w="1170432"/>
                <a:gridCol w="1170432"/>
                <a:gridCol w="1170432"/>
                <a:gridCol w="1170432"/>
              </a:tblGrid>
              <a:tr h="457200">
                <a:tc>
                  <a:txBody>
                    <a:bodyPr/>
                    <a:lstStyle/>
                    <a:p>
                      <a:r>
                        <a:rPr sz="1300" b="1">
                          <a:solidFill>
                            <a:srgbClr val="FFFFFF"/>
                          </a:solidFill>
                          <a:latin typeface="Calibri"/>
                        </a:rPr>
                        <a:t>Cluster at 10°</a:t>
                      </a:r>
                    </a:p>
                  </a:txBody>
                  <a:tcPr>
                    <a:solidFill>
                      <a:srgbClr val="0C8B96"/>
                    </a:solidFill>
                  </a:tcPr>
                </a:tc>
                <a:tc>
                  <a:txBody>
                    <a:bodyPr/>
                    <a:lstStyle/>
                    <a:p>
                      <a:r>
                        <a:rPr sz="1300" b="1">
                          <a:solidFill>
                            <a:srgbClr val="FFFFFF"/>
                          </a:solidFill>
                          <a:latin typeface="Calibri"/>
                        </a:rPr>
                        <a:t>Sinkage</a:t>
                      </a:r>
                    </a:p>
                  </a:txBody>
                  <a:tcPr>
                    <a:solidFill>
                      <a:srgbClr val="0C8B96"/>
                    </a:solidFill>
                  </a:tcPr>
                </a:tc>
                <a:tc>
                  <a:txBody>
                    <a:bodyPr/>
                    <a:lstStyle/>
                    <a:p>
                      <a:r>
                        <a:rPr sz="1300" b="1">
                          <a:solidFill>
                            <a:srgbClr val="FFFFFF"/>
                          </a:solidFill>
                          <a:latin typeface="Calibri"/>
                        </a:rPr>
                        <a:t>Load on pin</a:t>
                      </a:r>
                    </a:p>
                  </a:txBody>
                  <a:tcPr>
                    <a:solidFill>
                      <a:srgbClr val="0C8B96"/>
                    </a:solidFill>
                  </a:tcPr>
                </a:tc>
                <a:tc>
                  <a:txBody>
                    <a:bodyPr/>
                    <a:lstStyle/>
                    <a:p>
                      <a:r>
                        <a:rPr sz="1300" b="1">
                          <a:solidFill>
                            <a:srgbClr val="FFFFFF"/>
                          </a:solidFill>
                          <a:latin typeface="Calibri"/>
                        </a:rPr>
                        <a:t>Net stiffness</a:t>
                      </a:r>
                    </a:p>
                  </a:txBody>
                  <a:tcPr>
                    <a:solidFill>
                      <a:srgbClr val="0C8B96"/>
                    </a:solidFill>
                  </a:tcPr>
                </a:tc>
                <a:tc>
                  <a:txBody>
                    <a:bodyPr/>
                    <a:lstStyle/>
                    <a:p>
                      <a:r>
                        <a:rPr sz="1300" b="1">
                          <a:solidFill>
                            <a:srgbClr val="FFFFFF"/>
                          </a:solidFill>
                          <a:latin typeface="Calibri"/>
                        </a:rPr>
                        <a:t>Period if alone</a:t>
                      </a:r>
                    </a:p>
                  </a:txBody>
                  <a:tcPr>
                    <a:solidFill>
                      <a:srgbClr val="0C8B96"/>
                    </a:solidFill>
                  </a:tcPr>
                </a:tc>
              </a:tr>
              <a:tr h="457200">
                <a:tc>
                  <a:txBody>
                    <a:bodyPr/>
                    <a:lstStyle/>
                    <a:p>
                      <a:r>
                        <a:rPr sz="1300" b="0">
                          <a:solidFill>
                            <a:srgbClr val="2B3A44"/>
                          </a:solidFill>
                          <a:latin typeface="Calibri"/>
                        </a:rPr>
                        <a:t>Loaded pair</a:t>
                      </a:r>
                    </a:p>
                  </a:txBody>
                  <a:tcPr>
                    <a:solidFill>
                      <a:srgbClr val="E4F2F4"/>
                    </a:solidFill>
                  </a:tcPr>
                </a:tc>
                <a:tc>
                  <a:txBody>
                    <a:bodyPr/>
                    <a:lstStyle/>
                    <a:p>
                      <a:r>
                        <a:rPr sz="1300" b="0">
                          <a:solidFill>
                            <a:srgbClr val="2B3A44"/>
                          </a:solidFill>
                          <a:latin typeface="Calibri"/>
                        </a:rPr>
                        <a:t>242 mm</a:t>
                      </a:r>
                    </a:p>
                  </a:txBody>
                  <a:tcPr>
                    <a:solidFill>
                      <a:srgbClr val="E4F2F4"/>
                    </a:solidFill>
                  </a:tcPr>
                </a:tc>
                <a:tc>
                  <a:txBody>
                    <a:bodyPr/>
                    <a:lstStyle/>
                    <a:p>
                      <a:r>
                        <a:rPr sz="1300" b="0">
                          <a:solidFill>
                            <a:srgbClr val="2B3A44"/>
                          </a:solidFill>
                          <a:latin typeface="Calibri"/>
                        </a:rPr>
                        <a:t>45 N</a:t>
                      </a:r>
                    </a:p>
                  </a:txBody>
                  <a:tcPr>
                    <a:solidFill>
                      <a:srgbClr val="E4F2F4"/>
                    </a:solidFill>
                  </a:tcPr>
                </a:tc>
                <a:tc>
                  <a:txBody>
                    <a:bodyPr/>
                    <a:lstStyle/>
                    <a:p>
                      <a:r>
                        <a:rPr sz="1300" b="0">
                          <a:solidFill>
                            <a:srgbClr val="2B3A44"/>
                          </a:solidFill>
                          <a:latin typeface="Calibri"/>
                        </a:rPr>
                        <a:t>44 N·m/rad</a:t>
                      </a:r>
                    </a:p>
                  </a:txBody>
                  <a:tcPr>
                    <a:solidFill>
                      <a:srgbClr val="E4F2F4"/>
                    </a:solidFill>
                  </a:tcPr>
                </a:tc>
                <a:tc>
                  <a:txBody>
                    <a:bodyPr/>
                    <a:lstStyle/>
                    <a:p>
                      <a:r>
                        <a:rPr sz="1300" b="0">
                          <a:solidFill>
                            <a:srgbClr val="2B3A44"/>
                          </a:solidFill>
                          <a:latin typeface="Calibri"/>
                        </a:rPr>
                        <a:t>~4.44 s</a:t>
                      </a:r>
                    </a:p>
                  </a:txBody>
                  <a:tcPr>
                    <a:solidFill>
                      <a:srgbClr val="E4F2F4"/>
                    </a:solidFill>
                  </a:tcPr>
                </a:tc>
              </a:tr>
              <a:tr h="457200">
                <a:tc>
                  <a:txBody>
                    <a:bodyPr/>
                    <a:lstStyle/>
                    <a:p>
                      <a:r>
                        <a:rPr sz="1300" b="0">
                          <a:solidFill>
                            <a:srgbClr val="2B3A44"/>
                          </a:solidFill>
                          <a:latin typeface="Calibri"/>
                        </a:rPr>
                        <a:t>Other pair</a:t>
                      </a:r>
                    </a:p>
                  </a:txBody>
                  <a:tcPr>
                    <a:solidFill>
                      <a:srgbClr val="FFFFFF"/>
                    </a:solidFill>
                  </a:tcPr>
                </a:tc>
                <a:tc>
                  <a:txBody>
                    <a:bodyPr/>
                    <a:lstStyle/>
                    <a:p>
                      <a:r>
                        <a:rPr sz="1300" b="0">
                          <a:solidFill>
                            <a:srgbClr val="2B3A44"/>
                          </a:solidFill>
                          <a:latin typeface="Calibri"/>
                        </a:rPr>
                        <a:t>140 mm</a:t>
                      </a:r>
                    </a:p>
                  </a:txBody>
                  <a:tcPr>
                    <a:solidFill>
                      <a:srgbClr val="FFFFFF"/>
                    </a:solidFill>
                  </a:tcPr>
                </a:tc>
                <a:tc>
                  <a:txBody>
                    <a:bodyPr/>
                    <a:lstStyle/>
                    <a:p>
                      <a:r>
                        <a:rPr sz="1300" b="0">
                          <a:solidFill>
                            <a:srgbClr val="2B3A44"/>
                          </a:solidFill>
                          <a:latin typeface="Calibri"/>
                        </a:rPr>
                        <a:t>26 N</a:t>
                      </a:r>
                    </a:p>
                  </a:txBody>
                  <a:tcPr>
                    <a:solidFill>
                      <a:srgbClr val="FFFFFF"/>
                    </a:solidFill>
                  </a:tcPr>
                </a:tc>
                <a:tc>
                  <a:txBody>
                    <a:bodyPr/>
                    <a:lstStyle/>
                    <a:p>
                      <a:r>
                        <a:rPr sz="1300" b="0">
                          <a:solidFill>
                            <a:srgbClr val="2B3A44"/>
                          </a:solidFill>
                          <a:latin typeface="Calibri"/>
                        </a:rPr>
                        <a:t>54 N·m/rad</a:t>
                      </a:r>
                    </a:p>
                  </a:txBody>
                  <a:tcPr>
                    <a:solidFill>
                      <a:srgbClr val="FFFFFF"/>
                    </a:solidFill>
                  </a:tcPr>
                </a:tc>
                <a:tc>
                  <a:txBody>
                    <a:bodyPr/>
                    <a:lstStyle/>
                    <a:p>
                      <a:r>
                        <a:rPr sz="1300" b="0">
                          <a:solidFill>
                            <a:srgbClr val="2B3A44"/>
                          </a:solidFill>
                          <a:latin typeface="Calibri"/>
                        </a:rPr>
                        <a:t>~4.01 s</a:t>
                      </a:r>
                    </a:p>
                  </a:txBody>
                  <a:tcPr>
                    <a:solidFill>
                      <a:srgbClr val="FFFFFF"/>
                    </a:solidFill>
                  </a:tcPr>
                </a:tc>
              </a:tr>
              <a:tr h="457200">
                <a:tc>
                  <a:txBody>
                    <a:bodyPr/>
                    <a:lstStyle/>
                    <a:p>
                      <a:r>
                        <a:rPr sz="1300" b="0">
                          <a:solidFill>
                            <a:srgbClr val="2B3A44"/>
                          </a:solidFill>
                          <a:latin typeface="Calibri"/>
                        </a:rPr>
                        <a:t>Level (all four)</a:t>
                      </a:r>
                    </a:p>
                  </a:txBody>
                  <a:tcPr>
                    <a:solidFill>
                      <a:srgbClr val="E4F2F4"/>
                    </a:solidFill>
                  </a:tcPr>
                </a:tc>
                <a:tc>
                  <a:txBody>
                    <a:bodyPr/>
                    <a:lstStyle/>
                    <a:p>
                      <a:r>
                        <a:rPr sz="1300" b="0">
                          <a:solidFill>
                            <a:srgbClr val="2B3A44"/>
                          </a:solidFill>
                          <a:latin typeface="Calibri"/>
                        </a:rPr>
                        <a:t>191 mm</a:t>
                      </a:r>
                    </a:p>
                  </a:txBody>
                  <a:tcPr>
                    <a:solidFill>
                      <a:srgbClr val="E4F2F4"/>
                    </a:solidFill>
                  </a:tcPr>
                </a:tc>
                <a:tc>
                  <a:txBody>
                    <a:bodyPr/>
                    <a:lstStyle/>
                    <a:p>
                      <a:r>
                        <a:rPr sz="1300" b="0">
                          <a:solidFill>
                            <a:srgbClr val="2B3A44"/>
                          </a:solidFill>
                          <a:latin typeface="Calibri"/>
                        </a:rPr>
                        <a:t>36 N</a:t>
                      </a:r>
                    </a:p>
                  </a:txBody>
                  <a:tcPr>
                    <a:solidFill>
                      <a:srgbClr val="E4F2F4"/>
                    </a:solidFill>
                  </a:tcPr>
                </a:tc>
                <a:tc>
                  <a:txBody>
                    <a:bodyPr/>
                    <a:lstStyle/>
                    <a:p>
                      <a:r>
                        <a:rPr sz="1300" b="0">
                          <a:solidFill>
                            <a:srgbClr val="2B3A44"/>
                          </a:solidFill>
                          <a:latin typeface="Calibri"/>
                        </a:rPr>
                        <a:t>49 N·m/rad</a:t>
                      </a:r>
                    </a:p>
                  </a:txBody>
                  <a:tcPr>
                    <a:solidFill>
                      <a:srgbClr val="E4F2F4"/>
                    </a:solidFill>
                  </a:tcPr>
                </a:tc>
                <a:tc>
                  <a:txBody>
                    <a:bodyPr/>
                    <a:lstStyle/>
                    <a:p>
                      <a:r>
                        <a:rPr sz="1300" b="0">
                          <a:solidFill>
                            <a:srgbClr val="2B3A44"/>
                          </a:solidFill>
                          <a:latin typeface="Calibri"/>
                        </a:rPr>
                        <a:t>4.22 s</a:t>
                      </a:r>
                    </a:p>
                  </a:txBody>
                  <a:tcPr>
                    <a:solidFill>
                      <a:srgbClr val="E4F2F4"/>
                    </a:solidFill>
                  </a:tcPr>
                </a:tc>
              </a:tr>
            </a:tbl>
          </a:graphicData>
        </a:graphic>
      </p:graphicFrame>
      <p:sp>
        <p:nvSpPr>
          <p:cNvPr id="5" name="TextBox 4"/>
          <p:cNvSpPr txBox="1"/>
          <p:nvPr/>
        </p:nvSpPr>
        <p:spPr>
          <a:xfrm>
            <a:off x="548640" y="3657600"/>
            <a:ext cx="5852160" cy="2926080"/>
          </a:xfrm>
          <a:prstGeom prst="rect">
            <a:avLst/>
          </a:prstGeom>
          <a:noFill/>
        </p:spPr>
        <p:txBody>
          <a:bodyPr wrap="square" anchor="t" lIns="0" rIns="0">
            <a:spAutoFit/>
          </a:bodyPr>
          <a:lstStyle/>
          <a:p>
            <a:pPr algn="l">
              <a:spcAft>
                <a:spcPts val="800"/>
              </a:spcAft>
            </a:pPr>
            <a:r>
              <a:rPr sz="1400" b="1" i="0">
                <a:solidFill>
                  <a:srgbClr val="2B3A44"/>
                </a:solidFill>
                <a:latin typeface="Calibri"/>
              </a:rPr>
              <a:t>The hub carries all the pins together: </a:t>
            </a:r>
            <a:r>
              <a:rPr sz="1400" b="0" i="0">
                <a:solidFill>
                  <a:srgbClr val="2B3A44"/>
                </a:solidFill>
                <a:latin typeface="Calibri"/>
              </a:rPr>
              <a:t>in the mode the waves drive, every buoy leans the same way, so they share one period.</a:t>
            </a:r>
          </a:p>
          <a:p>
            <a:pPr algn="l">
              <a:spcAft>
                <a:spcPts val="800"/>
              </a:spcAft>
            </a:pPr>
            <a:r>
              <a:rPr sz="1400" b="1" i="0">
                <a:solidFill>
                  <a:srgbClr val="2B3A44"/>
                </a:solidFill>
                <a:latin typeface="Calibri"/>
              </a:rPr>
              <a:t>Its stiffness is the sum of theirs: </a:t>
            </a:r>
            <a:r>
              <a:rPr sz="1400" b="0" i="0">
                <a:solidFill>
                  <a:srgbClr val="2B3A44"/>
                </a:solidFill>
                <a:latin typeface="Calibri"/>
              </a:rPr>
              <a:t>2 × 44 + 2 × 54 = 196, against 4 × 49 = 195 level → 4.21 vs 4.22 s.</a:t>
            </a:r>
          </a:p>
          <a:p>
            <a:pPr algn="l">
              <a:spcAft>
                <a:spcPts val="800"/>
              </a:spcAft>
            </a:pPr>
            <a:r>
              <a:rPr sz="1400" b="1" i="0">
                <a:solidFill>
                  <a:srgbClr val="2B3A44"/>
                </a:solidFill>
                <a:latin typeface="Calibri"/>
              </a:rPr>
              <a:t>Why: </a:t>
            </a:r>
            <a:r>
              <a:rPr sz="1400" b="0" i="0">
                <a:solidFill>
                  <a:srgbClr val="2B3A44"/>
                </a:solidFill>
                <a:latin typeface="Calibri"/>
              </a:rPr>
              <a:t>a buoy's stiffness falls almost linearly as it sinks; the shift sinks one side and lifts the other by the same amount.</a:t>
            </a:r>
          </a:p>
        </p:txBody>
      </p:sp>
      <p:sp>
        <p:nvSpPr>
          <p:cNvPr id="6" name="Rounded Rectangle 5"/>
          <p:cNvSpPr/>
          <p:nvPr/>
        </p:nvSpPr>
        <p:spPr>
          <a:xfrm>
            <a:off x="6766560" y="1600200"/>
            <a:ext cx="4892040" cy="141732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1737360"/>
            <a:ext cx="443484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12.4–12.6°</a:t>
            </a:r>
          </a:p>
        </p:txBody>
      </p:sp>
      <p:sp>
        <p:nvSpPr>
          <p:cNvPr id="8" name="TextBox 7"/>
          <p:cNvSpPr txBox="1"/>
          <p:nvPr/>
        </p:nvSpPr>
        <p:spPr>
          <a:xfrm>
            <a:off x="6995160" y="2404872"/>
            <a:ext cx="4434840" cy="548640"/>
          </a:xfrm>
          <a:prstGeom prst="rect">
            <a:avLst/>
          </a:prstGeom>
          <a:noFill/>
        </p:spPr>
        <p:txBody>
          <a:bodyPr wrap="square" anchor="t" lIns="0" rIns="0">
            <a:spAutoFit/>
          </a:bodyPr>
          <a:lstStyle/>
          <a:p>
            <a:pPr algn="l">
              <a:spcAft>
                <a:spcPts val="600"/>
              </a:spcAft>
            </a:pPr>
            <a:r>
              <a:rPr sz="1300" b="0" i="0">
                <a:solidFill>
                  <a:srgbClr val="2B3A44"/>
                </a:solidFill>
                <a:latin typeface="Calibri"/>
              </a:rPr>
              <a:t>the four cluster buoys' rocking at 4.2 s, 10° tilt: almost equal</a:t>
            </a:r>
          </a:p>
        </p:txBody>
      </p:sp>
      <p:sp>
        <p:nvSpPr>
          <p:cNvPr id="9" name="Rounded Rectangle 8"/>
          <p:cNvSpPr/>
          <p:nvPr/>
        </p:nvSpPr>
        <p:spPr>
          <a:xfrm>
            <a:off x="6766560" y="3200400"/>
            <a:ext cx="4892040" cy="141732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3337560"/>
            <a:ext cx="443484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10.1–11.2°</a:t>
            </a:r>
          </a:p>
        </p:txBody>
      </p:sp>
      <p:sp>
        <p:nvSpPr>
          <p:cNvPr id="11" name="TextBox 10"/>
          <p:cNvSpPr txBox="1"/>
          <p:nvPr/>
        </p:nvSpPr>
        <p:spPr>
          <a:xfrm>
            <a:off x="6995160" y="4005072"/>
            <a:ext cx="4434840" cy="548640"/>
          </a:xfrm>
          <a:prstGeom prst="rect">
            <a:avLst/>
          </a:prstGeom>
          <a:noFill/>
        </p:spPr>
        <p:txBody>
          <a:bodyPr wrap="square" anchor="t" lIns="0" rIns="0">
            <a:spAutoFit/>
          </a:bodyPr>
          <a:lstStyle/>
          <a:p>
            <a:pPr algn="l">
              <a:spcAft>
                <a:spcPts val="600"/>
              </a:spcAft>
            </a:pPr>
            <a:r>
              <a:rPr sz="1300" b="0" i="0">
                <a:solidFill>
                  <a:srgbClr val="2B3A44"/>
                </a:solidFill>
                <a:latin typeface="Calibri"/>
              </a:rPr>
              <a:t>all 16 platform buoys at 4.2 s, 10° tilt</a:t>
            </a:r>
          </a:p>
        </p:txBody>
      </p:sp>
      <p:sp>
        <p:nvSpPr>
          <p:cNvPr id="12" name="TextBox 11"/>
          <p:cNvSpPr txBox="1"/>
          <p:nvPr/>
        </p:nvSpPr>
        <p:spPr>
          <a:xfrm>
            <a:off x="6766560" y="4800600"/>
            <a:ext cx="4892040" cy="1737360"/>
          </a:xfrm>
          <a:prstGeom prst="rect">
            <a:avLst/>
          </a:prstGeom>
          <a:noFill/>
        </p:spPr>
        <p:txBody>
          <a:bodyPr wrap="square" anchor="t" lIns="0" rIns="0">
            <a:spAutoFit/>
          </a:bodyPr>
          <a:lstStyle/>
          <a:p>
            <a:pPr algn="l">
              <a:spcAft>
                <a:spcPts val="600"/>
              </a:spcAft>
            </a:pPr>
            <a:r>
              <a:rPr sz="1300" b="0" i="0">
                <a:solidFill>
                  <a:srgbClr val="5C6B75"/>
                </a:solidFill>
                <a:latin typeface="Calibri"/>
              </a:rPr>
              <a:t>The buoys can rock against each other only by sliding sideways relative to one another — those modes sit near 9 s. A cross-wise twisting pair (3.7 / 4.4 s) needs waves from the side to be driven.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What it means for testing with a payload</a:t>
            </a:r>
          </a:p>
        </p:txBody>
      </p:sp>
      <p:sp>
        <p:nvSpPr>
          <p:cNvPr id="3" name="Rounded Rectangle 2"/>
          <p:cNvSpPr/>
          <p:nvPr/>
        </p:nvSpPr>
        <p:spPr>
          <a:xfrm>
            <a:off x="548640" y="1371600"/>
            <a:ext cx="5440680" cy="429768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54480"/>
            <a:ext cx="5029200" cy="457200"/>
          </a:xfrm>
          <a:prstGeom prst="rect">
            <a:avLst/>
          </a:prstGeom>
          <a:noFill/>
        </p:spPr>
        <p:txBody>
          <a:bodyPr wrap="square" anchor="t" lIns="0" rIns="0">
            <a:spAutoFit/>
          </a:bodyPr>
          <a:lstStyle/>
          <a:p>
            <a:pPr algn="l">
              <a:spcAft>
                <a:spcPts val="600"/>
              </a:spcAft>
            </a:pPr>
            <a:r>
              <a:rPr sz="2000" b="1" i="0">
                <a:solidFill>
                  <a:srgbClr val="0C8B96"/>
                </a:solidFill>
                <a:latin typeface="Calibri"/>
              </a:rPr>
              <a:t>Guidance</a:t>
            </a:r>
          </a:p>
        </p:txBody>
      </p:sp>
      <p:sp>
        <p:nvSpPr>
          <p:cNvPr id="5" name="TextBox 4"/>
          <p:cNvSpPr txBox="1"/>
          <p:nvPr/>
        </p:nvSpPr>
        <p:spPr>
          <a:xfrm>
            <a:off x="777240" y="2103120"/>
            <a:ext cx="5029200" cy="3566160"/>
          </a:xfrm>
          <a:prstGeom prst="rect">
            <a:avLst/>
          </a:prstGeom>
          <a:noFill/>
        </p:spPr>
        <p:txBody>
          <a:bodyPr wrap="square" anchor="t" lIns="0" rIns="0">
            <a:spAutoFit/>
          </a:bodyPr>
          <a:lstStyle/>
          <a:p>
            <a:pPr algn="l">
              <a:spcAft>
                <a:spcPts val="700"/>
              </a:spcAft>
            </a:pPr>
            <a:r>
              <a:rPr sz="1400" b="1" i="0">
                <a:solidFill>
                  <a:srgbClr val="2B3A44"/>
                </a:solidFill>
                <a:latin typeface="Calibri"/>
              </a:rPr>
              <a:t>Avoid waves near 4.2 s with a payload on board: </a:t>
            </a:r>
            <a:r>
              <a:rPr sz="1400" b="0" i="0">
                <a:solidFill>
                  <a:srgbClr val="2B3A44"/>
                </a:solidFill>
                <a:latin typeface="Calibri"/>
              </a:rPr>
              <a:t>the buoys rock 11–12.6° on their gimbals at H = 0.1 m, level or tilted.</a:t>
            </a:r>
          </a:p>
          <a:p>
            <a:pPr algn="l">
              <a:spcAft>
                <a:spcPts val="700"/>
              </a:spcAft>
            </a:pPr>
            <a:r>
              <a:rPr sz="1400" b="1" i="0">
                <a:solidFill>
                  <a:srgbClr val="2B3A44"/>
                </a:solidFill>
                <a:latin typeface="Calibri"/>
              </a:rPr>
              <a:t>The mass sets the rocking; the tilt sets the freeboard: </a:t>
            </a:r>
            <a:r>
              <a:rPr sz="1400" b="0" i="0">
                <a:solidFill>
                  <a:srgbClr val="2B3A44"/>
                </a:solidFill>
                <a:latin typeface="Calibri"/>
              </a:rPr>
              <a:t>keep the payload level to keep the low side's pins dry.</a:t>
            </a:r>
          </a:p>
          <a:p>
            <a:pPr algn="l">
              <a:spcAft>
                <a:spcPts val="700"/>
              </a:spcAft>
            </a:pPr>
            <a:r>
              <a:rPr sz="1400" b="1" i="0">
                <a:solidFill>
                  <a:srgbClr val="2B3A44"/>
                </a:solidFill>
                <a:latin typeface="Calibri"/>
              </a:rPr>
              <a:t>Near the heave resonance (2.6–2.8 s) </a:t>
            </a:r>
            <a:r>
              <a:rPr sz="1400" b="0" i="0">
                <a:solidFill>
                  <a:srgbClr val="2B3A44"/>
                </a:solidFill>
                <a:latin typeface="Calibri"/>
              </a:rPr>
              <a:t>a tilted payload adds pitch: up to 3.8° (cluster) and 3.1° (platform) at 10°.</a:t>
            </a:r>
          </a:p>
          <a:p>
            <a:pPr algn="l">
              <a:spcAft>
                <a:spcPts val="700"/>
              </a:spcAft>
            </a:pPr>
            <a:r>
              <a:rPr sz="1400" b="1" i="0">
                <a:solidFill>
                  <a:srgbClr val="2B3A44"/>
                </a:solidFill>
                <a:latin typeface="Calibri"/>
              </a:rPr>
              <a:t>Pins stay dry at H = 0.1 m </a:t>
            </a:r>
            <a:r>
              <a:rPr sz="1400" b="0" i="0">
                <a:solidFill>
                  <a:srgbClr val="2B3A44"/>
                </a:solidFill>
                <a:latin typeface="Calibri"/>
              </a:rPr>
              <a:t>in every case (≥ 282 mm).</a:t>
            </a:r>
          </a:p>
          <a:p>
            <a:pPr algn="l">
              <a:spcAft>
                <a:spcPts val="700"/>
              </a:spcAft>
            </a:pPr>
            <a:r>
              <a:rPr sz="1400" b="1" i="0">
                <a:solidFill>
                  <a:srgbClr val="2B3A44"/>
                </a:solidFill>
                <a:latin typeface="Calibri"/>
              </a:rPr>
              <a:t>Lateral restraint: </a:t>
            </a:r>
            <a:r>
              <a:rPr sz="1400" b="0" i="0">
                <a:solidFill>
                  <a:srgbClr val="2B3A44"/>
                </a:solidFill>
                <a:latin typeface="Calibri"/>
              </a:rPr>
              <a:t>design for the static tilt plus waves: up to 0.25 g at 10°, of which 0.17 g is the tilt alone.</a:t>
            </a:r>
          </a:p>
        </p:txBody>
      </p:sp>
      <p:sp>
        <p:nvSpPr>
          <p:cNvPr id="6" name="Rounded Rectangle 5"/>
          <p:cNvSpPr/>
          <p:nvPr/>
        </p:nvSpPr>
        <p:spPr>
          <a:xfrm>
            <a:off x="6217920" y="1371600"/>
            <a:ext cx="5440680" cy="4297680"/>
          </a:xfrm>
          <a:prstGeom prst="roundRect">
            <a:avLst>
              <a:gd name="adj" fmla="val 6000"/>
            </a:avLst>
          </a:prstGeom>
          <a:solidFill>
            <a:srgbClr val="F6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5029200" cy="457200"/>
          </a:xfrm>
          <a:prstGeom prst="rect">
            <a:avLst/>
          </a:prstGeom>
          <a:noFill/>
        </p:spPr>
        <p:txBody>
          <a:bodyPr wrap="square" anchor="t" lIns="0" rIns="0">
            <a:spAutoFit/>
          </a:bodyPr>
          <a:lstStyle/>
          <a:p>
            <a:pPr algn="l">
              <a:spcAft>
                <a:spcPts val="600"/>
              </a:spcAft>
            </a:pPr>
            <a:r>
              <a:rPr sz="2000" b="1" i="0">
                <a:solidFill>
                  <a:srgbClr val="B2432C"/>
                </a:solidFill>
                <a:latin typeface="Calibri"/>
              </a:rPr>
              <a:t>Not included</a:t>
            </a:r>
          </a:p>
        </p:txBody>
      </p:sp>
      <p:sp>
        <p:nvSpPr>
          <p:cNvPr id="8" name="TextBox 7"/>
          <p:cNvSpPr txBox="1"/>
          <p:nvPr/>
        </p:nvSpPr>
        <p:spPr>
          <a:xfrm>
            <a:off x="6446520" y="2103120"/>
            <a:ext cx="5029200" cy="3566160"/>
          </a:xfrm>
          <a:prstGeom prst="rect">
            <a:avLst/>
          </a:prstGeom>
          <a:noFill/>
        </p:spPr>
        <p:txBody>
          <a:bodyPr wrap="square" anchor="t" lIns="0" rIns="0">
            <a:spAutoFit/>
          </a:bodyPr>
          <a:lstStyle/>
          <a:p>
            <a:pPr algn="l">
              <a:spcAft>
                <a:spcPts val="900"/>
              </a:spcAft>
            </a:pPr>
            <a:r>
              <a:rPr sz="1500" b="1" i="0">
                <a:solidFill>
                  <a:srgbClr val="2B3A44"/>
                </a:solidFill>
                <a:latin typeface="Calibri"/>
              </a:rPr>
              <a:t>Large rocking: </a:t>
            </a:r>
            <a:r>
              <a:rPr sz="1500" b="0" i="0">
                <a:solidFill>
                  <a:srgbClr val="2B3A44"/>
                </a:solidFill>
                <a:latin typeface="Calibri"/>
              </a:rPr>
              <a:t>11–12.6° is past FloatSim's small-angle range (5.7°); the size is indicative, the resonance period is not. Gimbal travel is not modelled.</a:t>
            </a:r>
          </a:p>
          <a:p>
            <a:pPr algn="l">
              <a:spcAft>
                <a:spcPts val="900"/>
              </a:spcAft>
            </a:pPr>
            <a:r>
              <a:rPr sz="1500" b="1" i="0">
                <a:solidFill>
                  <a:srgbClr val="2B3A44"/>
                </a:solidFill>
                <a:latin typeface="Calibri"/>
              </a:rPr>
              <a:t>Waves: </a:t>
            </a:r>
            <a:r>
              <a:rPr sz="1500" b="0" i="0">
                <a:solidFill>
                  <a:srgbClr val="2B3A44"/>
                </a:solidFill>
                <a:latin typeface="Calibri"/>
              </a:rPr>
              <a:t>regular, along the shift only; waves from the side drive other modes.</a:t>
            </a:r>
          </a:p>
          <a:p>
            <a:pPr algn="l">
              <a:spcAft>
                <a:spcPts val="900"/>
              </a:spcAft>
            </a:pPr>
            <a:r>
              <a:rPr sz="1500" b="1" i="0">
                <a:solidFill>
                  <a:srgbClr val="2B3A44"/>
                </a:solidFill>
                <a:latin typeface="Calibri"/>
              </a:rPr>
              <a:t>Periods: </a:t>
            </a:r>
            <a:r>
              <a:rPr sz="1500" b="0" i="0">
                <a:solidFill>
                  <a:srgbClr val="2B3A44"/>
                </a:solidFill>
                <a:latin typeface="Calibri"/>
              </a:rPr>
              <a:t>seven points; the peaks between them are not resolved.</a:t>
            </a:r>
          </a:p>
          <a:p>
            <a:pPr algn="l">
              <a:spcAft>
                <a:spcPts val="900"/>
              </a:spcAft>
            </a:pPr>
            <a:r>
              <a:rPr sz="1500" b="1" i="0">
                <a:solidFill>
                  <a:srgbClr val="2B3A44"/>
                </a:solidFill>
                <a:latin typeface="Calibri"/>
              </a:rPr>
              <a:t>Model: </a:t>
            </a:r>
            <a:r>
              <a:rPr sz="1500" b="0" i="0">
                <a:solidFill>
                  <a:srgbClr val="2B3A44"/>
                </a:solidFill>
                <a:latin typeface="Calibri"/>
              </a:rPr>
              <a:t>linear about each equilibrium; 12-panel BEM (~0.05 s on the periods); free-floating with a soft hold, not the flume mooring.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Appendix: FloatSim's weight preload</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Opt-in `simulation.weight_preload: true` (main 05128b7, dd889f2; docs/weight-preload-plan.md)</a:t>
            </a:r>
          </a:p>
        </p:txBody>
      </p:sp>
      <p:graphicFrame>
        <p:nvGraphicFramePr>
          <p:cNvPr id="4" name="Table 3"/>
          <p:cNvGraphicFramePr>
            <a:graphicFrameLocks noGrp="1"/>
          </p:cNvGraphicFramePr>
          <p:nvPr/>
        </p:nvGraphicFramePr>
        <p:xfrm>
          <a:off x="548640" y="1645920"/>
          <a:ext cx="11064240" cy="3840480"/>
        </p:xfrm>
        <a:graphic>
          <a:graphicData uri="http://schemas.openxmlformats.org/drawingml/2006/table">
            <a:tbl>
              <a:tblPr firstRow="1" bandRow="1">
                <a:tableStyleId>{5C22544A-7EE6-4342-B048-85BDC9FD1C3A}</a:tableStyleId>
              </a:tblPr>
              <a:tblGrid>
                <a:gridCol w="5532120"/>
                <a:gridCol w="5532120"/>
              </a:tblGrid>
              <a:tr h="640080">
                <a:tc>
                  <a:txBody>
                    <a:bodyPr/>
                    <a:lstStyle/>
                    <a:p>
                      <a:r>
                        <a:rPr sz="1300" b="1">
                          <a:solidFill>
                            <a:srgbClr val="FFFFFF"/>
                          </a:solidFill>
                          <a:latin typeface="Calibri"/>
                        </a:rPr>
                        <a:t>Check</a:t>
                      </a:r>
                    </a:p>
                  </a:txBody>
                  <a:tcPr>
                    <a:solidFill>
                      <a:srgbClr val="0C8B96"/>
                    </a:solidFill>
                  </a:tcPr>
                </a:tc>
                <a:tc>
                  <a:txBody>
                    <a:bodyPr/>
                    <a:lstStyle/>
                    <a:p>
                      <a:r>
                        <a:rPr sz="1300" b="1">
                          <a:solidFill>
                            <a:srgbClr val="FFFFFF"/>
                          </a:solidFill>
                          <a:latin typeface="Calibri"/>
                        </a:rPr>
                        <a:t>Result</a:t>
                      </a:r>
                    </a:p>
                  </a:txBody>
                  <a:tcPr>
                    <a:solidFill>
                      <a:srgbClr val="0C8B96"/>
                    </a:solidFill>
                  </a:tcPr>
                </a:tc>
              </a:tr>
              <a:tr h="640080">
                <a:tc>
                  <a:txBody>
                    <a:bodyPr/>
                    <a:lstStyle/>
                    <a:p>
                      <a:r>
                        <a:rPr sz="1300" b="0">
                          <a:solidFill>
                            <a:srgbClr val="2B3A44"/>
                          </a:solidFill>
                          <a:latin typeface="Calibri"/>
                        </a:rPr>
                        <a:t>Gate A: a float pinned at its top, T = 2π√((I + mL²)/(C55 − P L))</a:t>
                      </a:r>
                    </a:p>
                  </a:txBody>
                  <a:tcPr>
                    <a:solidFill>
                      <a:srgbClr val="E4F2F4"/>
                    </a:solidFill>
                  </a:tcPr>
                </a:tc>
                <a:tc>
                  <a:txBody>
                    <a:bodyPr/>
                    <a:lstStyle/>
                    <a:p>
                      <a:r>
                        <a:rPr sz="1300" b="0">
                          <a:solidFill>
                            <a:srgbClr val="2B3A44"/>
                          </a:solidFill>
                          <a:latin typeface="Calibri"/>
                        </a:rPr>
                        <a:t>pin force exact; periods within 1e-4 (9.98 / 4.62 / 5.93 s); finite-amplitude correction matches</a:t>
                      </a:r>
                    </a:p>
                  </a:txBody>
                  <a:tcPr>
                    <a:solidFill>
                      <a:srgbClr val="E4F2F4"/>
                    </a:solidFill>
                  </a:tcPr>
                </a:tc>
              </a:tr>
              <a:tr h="640080">
                <a:tc>
                  <a:txBody>
                    <a:bodyPr/>
                    <a:lstStyle/>
                    <a:p>
                      <a:r>
                        <a:rPr sz="1300" b="0">
                          <a:solidFill>
                            <a:srgbClr val="2B3A44"/>
                          </a:solidFill>
                          <a:latin typeface="Calibri"/>
                        </a:rPr>
                        <a:t>Gate B: switch off</a:t>
                      </a:r>
                    </a:p>
                  </a:txBody>
                  <a:tcPr>
                    <a:solidFill>
                      <a:srgbClr val="FFFFFF"/>
                    </a:solidFill>
                  </a:tcPr>
                </a:tc>
                <a:tc>
                  <a:txBody>
                    <a:bodyPr/>
                    <a:lstStyle/>
                    <a:p>
                      <a:r>
                        <a:rPr sz="1300" b="0">
                          <a:solidFill>
                            <a:srgbClr val="2B3A44"/>
                          </a:solidFill>
                          <a:latin typeface="Calibri"/>
                        </a:rPr>
                        <a:t>unchanged: 786 fast tests pass</a:t>
                      </a:r>
                    </a:p>
                  </a:txBody>
                  <a:tcPr>
                    <a:solidFill>
                      <a:srgbClr val="FFFFFF"/>
                    </a:solidFill>
                  </a:tcPr>
                </a:tc>
              </a:tr>
              <a:tr h="640080">
                <a:tc>
                  <a:txBody>
                    <a:bodyPr/>
                    <a:lstStyle/>
                    <a:p>
                      <a:r>
                        <a:rPr sz="1300" b="0">
                          <a:solidFill>
                            <a:srgbClr val="2B3A44"/>
                          </a:solidFill>
                          <a:latin typeface="Calibri"/>
                        </a:rPr>
                        <a:t>Gate C: the flume cluster vs the study's statics</a:t>
                      </a:r>
                    </a:p>
                  </a:txBody>
                  <a:tcPr>
                    <a:solidFill>
                      <a:srgbClr val="E4F2F4"/>
                    </a:solidFill>
                  </a:tcPr>
                </a:tc>
                <a:tc>
                  <a:txBody>
                    <a:bodyPr/>
                    <a:lstStyle/>
                    <a:p>
                      <a:r>
                        <a:rPr sz="1300" b="0">
                          <a:solidFill>
                            <a:srgbClr val="2B3A44"/>
                          </a:solidFill>
                          <a:latin typeface="Calibri"/>
                        </a:rPr>
                        <a:t>157.94 mm sinkage (10 kg), 0.869° tilt (1 kg at 0.1 m), a quarter of the load per pin</a:t>
                      </a:r>
                    </a:p>
                  </a:txBody>
                  <a:tcPr>
                    <a:solidFill>
                      <a:srgbClr val="E4F2F4"/>
                    </a:solidFill>
                  </a:tcPr>
                </a:tc>
              </a:tr>
              <a:tr h="640080">
                <a:tc>
                  <a:txBody>
                    <a:bodyPr/>
                    <a:lstStyle/>
                    <a:p>
                      <a:r>
                        <a:rPr sz="1300" b="0">
                          <a:solidFill>
                            <a:srgbClr val="2B3A44"/>
                          </a:solidFill>
                          <a:latin typeface="Calibri"/>
                        </a:rPr>
                        <a:t>Geometric stiffness K_geo</a:t>
                      </a:r>
                    </a:p>
                  </a:txBody>
                  <a:tcPr>
                    <a:solidFill>
                      <a:srgbClr val="FFFFFF"/>
                    </a:solidFill>
                  </a:tcPr>
                </a:tc>
                <a:tc>
                  <a:txBody>
                    <a:bodyPr/>
                    <a:lstStyle/>
                    <a:p>
                      <a:r>
                        <a:rPr sz="1300" b="0">
                          <a:solidFill>
                            <a:srgbClr val="2B3A44"/>
                          </a:solidFill>
                          <a:latin typeface="Calibri"/>
                        </a:rPr>
                        <a:t>= the closed form (−P L) on the pinned float and on the cluster; symmetric</a:t>
                      </a:r>
                    </a:p>
                  </a:txBody>
                  <a:tcPr>
                    <a:solidFill>
                      <a:srgbClr val="FFFFFF"/>
                    </a:solidFill>
                  </a:tcPr>
                </a:tc>
              </a:tr>
              <a:tr h="640080">
                <a:tc>
                  <a:txBody>
                    <a:bodyPr/>
                    <a:lstStyle/>
                    <a:p>
                      <a:r>
                        <a:rPr sz="1300" b="0">
                          <a:solidFill>
                            <a:srgbClr val="2B3A44"/>
                          </a:solidFill>
                          <a:latin typeface="Calibri"/>
                        </a:rPr>
                        <a:t>This study</a:t>
                      </a:r>
                    </a:p>
                  </a:txBody>
                  <a:tcPr>
                    <a:solidFill>
                      <a:srgbClr val="E4F2F4"/>
                    </a:solidFill>
                  </a:tcPr>
                </a:tc>
                <a:tc>
                  <a:txBody>
                    <a:bodyPr/>
                    <a:lstStyle/>
                    <a:p>
                      <a:r>
                        <a:rPr sz="1300" b="0">
                          <a:solidFill>
                            <a:srgbClr val="2B3A44"/>
                          </a:solidFill>
                          <a:latin typeface="Calibri"/>
                        </a:rPr>
                        <a:t>static solve keeps the statics geometry to 1e-15 m; periods = the closed-form estimate</a:t>
                      </a:r>
                    </a:p>
                  </a:txBody>
                  <a:tcPr>
                    <a:solidFill>
                      <a:srgbClr val="E4F2F4"/>
                    </a:solidFill>
                  </a:tcPr>
                </a:tc>
              </a:tr>
            </a:tbl>
          </a:graphicData>
        </a:graphic>
      </p:graphicFrame>
      <p:sp>
        <p:nvSpPr>
          <p:cNvPr id="5" name="TextBox 4"/>
          <p:cNvSpPr txBox="1"/>
          <p:nvPr/>
        </p:nvSpPr>
        <p:spPr>
          <a:xfrm>
            <a:off x="548640" y="5669280"/>
            <a:ext cx="11064240" cy="914400"/>
          </a:xfrm>
          <a:prstGeom prst="rect">
            <a:avLst/>
          </a:prstGeom>
          <a:noFill/>
        </p:spPr>
        <p:txBody>
          <a:bodyPr wrap="square" anchor="t" lIns="0" rIns="0">
            <a:spAutoFit/>
          </a:bodyPr>
          <a:lstStyle/>
          <a:p>
            <a:pPr algn="l">
              <a:spcAft>
                <a:spcPts val="600"/>
              </a:spcAft>
            </a:pPr>
            <a:r>
              <a:rPr sz="1300" b="0" i="0">
                <a:solidFill>
                  <a:srgbClr val="5C6B75"/>
                </a:solidFill>
                <a:latin typeface="Calibri"/>
              </a:rPr>
              <a:t>The flume mooring and wall-effect records were run without the preload: their buoy-rocking results are the ones affected (the unloaded platform's rocking mode is 3.10 s, not 2.81 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Appendix: what loading each buoy does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Its share of the hub, deck and payload sits on its pin, 1.62 m above its centre of gravity</a:t>
            </a:r>
          </a:p>
        </p:txBody>
      </p:sp>
      <p:graphicFrame>
        <p:nvGraphicFramePr>
          <p:cNvPr id="4" name="Chart 3"/>
          <p:cNvGraphicFramePr>
            <a:graphicFrameLocks noGrp="1"/>
          </p:cNvGraphicFramePr>
          <p:nvPr/>
        </p:nvGraphicFramePr>
        <p:xfrm>
          <a:off x="457200" y="1371600"/>
          <a:ext cx="5669280" cy="3703320"/>
        </p:xfrm>
        <a:graphic>
          <a:graphicData uri="http://schemas.openxmlformats.org/drawingml/2006/chart">
            <c:chart xmlns:c="http://schemas.openxmlformats.org/drawingml/2006/chart" r:id="rId3"/>
          </a:graphicData>
        </a:graphic>
      </p:graphicFrame>
      <p:sp>
        <p:nvSpPr>
          <p:cNvPr id="5" name="TextBox 4"/>
          <p:cNvSpPr txBox="1"/>
          <p:nvPr/>
        </p:nvSpPr>
        <p:spPr>
          <a:xfrm>
            <a:off x="6355080" y="1417320"/>
            <a:ext cx="5349240" cy="3566160"/>
          </a:xfrm>
          <a:prstGeom prst="rect">
            <a:avLst/>
          </a:prstGeom>
          <a:noFill/>
        </p:spPr>
        <p:txBody>
          <a:bodyPr wrap="square" anchor="t" lIns="0" rIns="0">
            <a:spAutoFit/>
          </a:bodyPr>
          <a:lstStyle/>
          <a:p>
            <a:pPr algn="l">
              <a:spcAft>
                <a:spcPts val="500"/>
              </a:spcAft>
            </a:pPr>
            <a:r>
              <a:rPr sz="1300" b="1" i="0">
                <a:solidFill>
                  <a:srgbClr val="2B3A44"/>
                </a:solidFill>
                <a:latin typeface="Calibri"/>
              </a:rPr>
              <a:t>It sinks to carry its load: </a:t>
            </a:r>
            <a:r>
              <a:rPr sz="1300" b="0" i="0">
                <a:solidFill>
                  <a:srgbClr val="2B3A44"/>
                </a:solidFill>
                <a:latin typeface="Calibri"/>
              </a:rPr>
              <a:t>P = C33 × sinkage, 186 N per metre, until the spar top (the pin) reaches the water.</a:t>
            </a:r>
          </a:p>
          <a:p>
            <a:pPr algn="l">
              <a:spcAft>
                <a:spcPts val="500"/>
              </a:spcAft>
            </a:pPr>
            <a:r>
              <a:rPr sz="1300" b="1" i="0">
                <a:solidFill>
                  <a:srgbClr val="2B3A44"/>
                </a:solidFill>
                <a:latin typeface="Calibri"/>
              </a:rPr>
              <a:t>Sinking raises its righting: </a:t>
            </a:r>
            <a:r>
              <a:rPr sz="1300" b="0" i="0">
                <a:solidFill>
                  <a:srgbClr val="2B3A44"/>
                </a:solidFill>
                <a:latin typeface="Calibri"/>
              </a:rPr>
              <a:t>the new buoyancy is added high up the spar: C55 grows 71 → 239 N·m/rad by the time the pin reaches the water.</a:t>
            </a:r>
          </a:p>
          <a:p>
            <a:pPr algn="l">
              <a:spcAft>
                <a:spcPts val="500"/>
              </a:spcAft>
            </a:pPr>
            <a:r>
              <a:rPr sz="1300" b="1" i="0">
                <a:solidFill>
                  <a:srgbClr val="2B3A44"/>
                </a:solidFill>
                <a:latin typeface="Calibri"/>
              </a:rPr>
              <a:t>The load on the pin tips it: </a:t>
            </a:r>
            <a:r>
              <a:rPr sz="1300" b="0" i="0">
                <a:solidFill>
                  <a:srgbClr val="2B3A44"/>
                </a:solidFill>
                <a:latin typeface="Calibri"/>
              </a:rPr>
              <a:t>when the buoy leans, the pin and its load move sideways and push it over: P × L grows 0 → 216 N·m/rad.</a:t>
            </a:r>
          </a:p>
          <a:p>
            <a:pPr algn="l">
              <a:spcAft>
                <a:spcPts val="500"/>
              </a:spcAft>
            </a:pPr>
            <a:r>
              <a:rPr sz="1300" b="1" i="0">
                <a:solidFill>
                  <a:srgbClr val="2B3A44"/>
                </a:solidFill>
                <a:latin typeface="Calibri"/>
              </a:rPr>
              <a:t>Net: the more load, the softer it rocks: </a:t>
            </a:r>
            <a:r>
              <a:rPr sz="1300" b="0" i="0">
                <a:solidFill>
                  <a:srgbClr val="2B3A44"/>
                </a:solidFill>
                <a:latin typeface="Calibri"/>
              </a:rPr>
              <a:t>71 → 23 N·m/rad. A payload slows the buoys' rocking from ~2.85 to ~4.2 s.</a:t>
            </a:r>
          </a:p>
          <a:p>
            <a:pPr algn="l">
              <a:spcAft>
                <a:spcPts val="500"/>
              </a:spcAft>
            </a:pPr>
            <a:r>
              <a:rPr sz="1300" b="1" i="0">
                <a:solidFill>
                  <a:srgbClr val="2B3A44"/>
                </a:solidFill>
                <a:latin typeface="Calibri"/>
              </a:rPr>
              <a:t>A shifted payload loads the near buoys more: </a:t>
            </a:r>
            <a:r>
              <a:rPr sz="1300" b="0" i="0">
                <a:solidFill>
                  <a:srgbClr val="2B3A44"/>
                </a:solidFill>
                <a:latin typeface="Calibri"/>
              </a:rPr>
              <a:t>they sink deeper, lose freeboard and get softer; the far ones rise and stiffen. All the buoys still rock together at one period (the sum of their stiffnesses barely changes).</a:t>
            </a:r>
          </a:p>
        </p:txBody>
      </p:sp>
      <p:graphicFrame>
        <p:nvGraphicFramePr>
          <p:cNvPr id="6" name="Table 5"/>
          <p:cNvGraphicFramePr>
            <a:graphicFrameLocks noGrp="1"/>
          </p:cNvGraphicFramePr>
          <p:nvPr/>
        </p:nvGraphicFramePr>
        <p:xfrm>
          <a:off x="457200" y="5166360"/>
          <a:ext cx="10424160" cy="1463040"/>
        </p:xfrm>
        <a:graphic>
          <a:graphicData uri="http://schemas.openxmlformats.org/drawingml/2006/table">
            <a:tbl>
              <a:tblPr firstRow="1" bandRow="1">
                <a:tableStyleId>{5C22544A-7EE6-4342-B048-85BDC9FD1C3A}</a:tableStyleId>
              </a:tblPr>
              <a:tblGrid>
                <a:gridCol w="2103120"/>
                <a:gridCol w="1234440"/>
                <a:gridCol w="1051560"/>
                <a:gridCol w="685800"/>
                <a:gridCol w="1143000"/>
                <a:gridCol w="1280160"/>
                <a:gridCol w="1051560"/>
                <a:gridCol w="685800"/>
                <a:gridCol w="1188720"/>
              </a:tblGrid>
              <a:tr h="292608">
                <a:tc>
                  <a:txBody>
                    <a:bodyPr/>
                    <a:lstStyle/>
                    <a:p>
                      <a:r>
                        <a:rPr sz="1100" b="1">
                          <a:solidFill>
                            <a:srgbClr val="FFFFFF"/>
                          </a:solidFill>
                          <a:latin typeface="Calibri"/>
                        </a:rPr>
                        <a:t>Buoy</a:t>
                      </a:r>
                    </a:p>
                  </a:txBody>
                  <a:tcPr>
                    <a:solidFill>
                      <a:srgbClr val="0C8B96"/>
                    </a:solidFill>
                  </a:tcPr>
                </a:tc>
                <a:tc>
                  <a:txBody>
                    <a:bodyPr/>
                    <a:lstStyle/>
                    <a:p>
                      <a:r>
                        <a:rPr sz="1100" b="1">
                          <a:solidFill>
                            <a:srgbClr val="FFFFFF"/>
                          </a:solidFill>
                          <a:latin typeface="Calibri"/>
                        </a:rPr>
                        <a:t>Cluster: sinkage</a:t>
                      </a:r>
                    </a:p>
                  </a:txBody>
                  <a:tcPr>
                    <a:solidFill>
                      <a:srgbClr val="0C8B96"/>
                    </a:solidFill>
                  </a:tcPr>
                </a:tc>
                <a:tc>
                  <a:txBody>
                    <a:bodyPr/>
                    <a:lstStyle/>
                    <a:p>
                      <a:r>
                        <a:rPr sz="1100" b="1">
                          <a:solidFill>
                            <a:srgbClr val="FFFFFF"/>
                          </a:solidFill>
                          <a:latin typeface="Calibri"/>
                        </a:rPr>
                        <a:t>P·L / C55</a:t>
                      </a:r>
                    </a:p>
                  </a:txBody>
                  <a:tcPr>
                    <a:solidFill>
                      <a:srgbClr val="0C8B96"/>
                    </a:solidFill>
                  </a:tcPr>
                </a:tc>
                <a:tc>
                  <a:txBody>
                    <a:bodyPr/>
                    <a:lstStyle/>
                    <a:p>
                      <a:r>
                        <a:rPr sz="1100" b="1">
                          <a:solidFill>
                            <a:srgbClr val="FFFFFF"/>
                          </a:solidFill>
                          <a:latin typeface="Calibri"/>
                        </a:rPr>
                        <a:t>Net</a:t>
                      </a:r>
                    </a:p>
                  </a:txBody>
                  <a:tcPr>
                    <a:solidFill>
                      <a:srgbClr val="0C8B96"/>
                    </a:solidFill>
                  </a:tcPr>
                </a:tc>
                <a:tc>
                  <a:txBody>
                    <a:bodyPr/>
                    <a:lstStyle/>
                    <a:p>
                      <a:r>
                        <a:rPr sz="1100" b="1">
                          <a:solidFill>
                            <a:srgbClr val="FFFFFF"/>
                          </a:solidFill>
                          <a:latin typeface="Calibri"/>
                        </a:rPr>
                        <a:t>Pin above water</a:t>
                      </a:r>
                    </a:p>
                  </a:txBody>
                  <a:tcPr>
                    <a:solidFill>
                      <a:srgbClr val="0C8B96"/>
                    </a:solidFill>
                  </a:tcPr>
                </a:tc>
                <a:tc>
                  <a:txBody>
                    <a:bodyPr/>
                    <a:lstStyle/>
                    <a:p>
                      <a:r>
                        <a:rPr sz="1100" b="1">
                          <a:solidFill>
                            <a:srgbClr val="FFFFFF"/>
                          </a:solidFill>
                          <a:latin typeface="Calibri"/>
                        </a:rPr>
                        <a:t>Platform: sinkage</a:t>
                      </a:r>
                    </a:p>
                  </a:txBody>
                  <a:tcPr>
                    <a:solidFill>
                      <a:srgbClr val="0C8B96"/>
                    </a:solidFill>
                  </a:tcPr>
                </a:tc>
                <a:tc>
                  <a:txBody>
                    <a:bodyPr/>
                    <a:lstStyle/>
                    <a:p>
                      <a:r>
                        <a:rPr sz="1100" b="1">
                          <a:solidFill>
                            <a:srgbClr val="FFFFFF"/>
                          </a:solidFill>
                          <a:latin typeface="Calibri"/>
                        </a:rPr>
                        <a:t>P·L / C55</a:t>
                      </a:r>
                    </a:p>
                  </a:txBody>
                  <a:tcPr>
                    <a:solidFill>
                      <a:srgbClr val="0C8B96"/>
                    </a:solidFill>
                  </a:tcPr>
                </a:tc>
                <a:tc>
                  <a:txBody>
                    <a:bodyPr/>
                    <a:lstStyle/>
                    <a:p>
                      <a:r>
                        <a:rPr sz="1100" b="1">
                          <a:solidFill>
                            <a:srgbClr val="FFFFFF"/>
                          </a:solidFill>
                          <a:latin typeface="Calibri"/>
                        </a:rPr>
                        <a:t>Net</a:t>
                      </a:r>
                    </a:p>
                  </a:txBody>
                  <a:tcPr>
                    <a:solidFill>
                      <a:srgbClr val="0C8B96"/>
                    </a:solidFill>
                  </a:tcPr>
                </a:tc>
                <a:tc>
                  <a:txBody>
                    <a:bodyPr/>
                    <a:lstStyle/>
                    <a:p>
                      <a:r>
                        <a:rPr sz="1100" b="1">
                          <a:solidFill>
                            <a:srgbClr val="FFFFFF"/>
                          </a:solidFill>
                          <a:latin typeface="Calibri"/>
                        </a:rPr>
                        <a:t>Pin above water</a:t>
                      </a:r>
                    </a:p>
                  </a:txBody>
                  <a:tcPr>
                    <a:solidFill>
                      <a:srgbClr val="0C8B96"/>
                    </a:solidFill>
                  </a:tcPr>
                </a:tc>
              </a:tr>
              <a:tr h="292608">
                <a:tc>
                  <a:txBody>
                    <a:bodyPr/>
                    <a:lstStyle/>
                    <a:p>
                      <a:r>
                        <a:rPr sz="1100" b="0">
                          <a:solidFill>
                            <a:srgbClr val="2B3A44"/>
                          </a:solidFill>
                          <a:latin typeface="Calibri"/>
                        </a:rPr>
                        <a:t>unloaded</a:t>
                      </a:r>
                    </a:p>
                  </a:txBody>
                  <a:tcPr>
                    <a:solidFill>
                      <a:srgbClr val="E4F2F4"/>
                    </a:solidFill>
                  </a:tcPr>
                </a:tc>
                <a:tc>
                  <a:txBody>
                    <a:bodyPr/>
                    <a:lstStyle/>
                    <a:p>
                      <a:r>
                        <a:rPr sz="1100" b="0">
                          <a:solidFill>
                            <a:srgbClr val="2B3A44"/>
                          </a:solidFill>
                          <a:latin typeface="Calibri"/>
                        </a:rPr>
                        <a:t>26 mm</a:t>
                      </a:r>
                    </a:p>
                  </a:txBody>
                  <a:tcPr>
                    <a:solidFill>
                      <a:srgbClr val="E4F2F4"/>
                    </a:solidFill>
                  </a:tcPr>
                </a:tc>
                <a:tc>
                  <a:txBody>
                    <a:bodyPr/>
                    <a:lstStyle/>
                    <a:p>
                      <a:r>
                        <a:rPr sz="1100" b="0">
                          <a:solidFill>
                            <a:srgbClr val="2B3A44"/>
                          </a:solidFill>
                          <a:latin typeface="Calibri"/>
                        </a:rPr>
                        <a:t>8 / 75</a:t>
                      </a:r>
                    </a:p>
                  </a:txBody>
                  <a:tcPr>
                    <a:solidFill>
                      <a:srgbClr val="E4F2F4"/>
                    </a:solidFill>
                  </a:tcPr>
                </a:tc>
                <a:tc>
                  <a:txBody>
                    <a:bodyPr/>
                    <a:lstStyle/>
                    <a:p>
                      <a:r>
                        <a:rPr sz="1100" b="0">
                          <a:solidFill>
                            <a:srgbClr val="2B3A44"/>
                          </a:solidFill>
                          <a:latin typeface="Calibri"/>
                        </a:rPr>
                        <a:t>67</a:t>
                      </a:r>
                    </a:p>
                  </a:txBody>
                  <a:tcPr>
                    <a:solidFill>
                      <a:srgbClr val="E4F2F4"/>
                    </a:solidFill>
                  </a:tcPr>
                </a:tc>
                <a:tc>
                  <a:txBody>
                    <a:bodyPr/>
                    <a:lstStyle/>
                    <a:p>
                      <a:r>
                        <a:rPr sz="1100" b="0">
                          <a:solidFill>
                            <a:srgbClr val="2B3A44"/>
                          </a:solidFill>
                          <a:latin typeface="Calibri"/>
                        </a:rPr>
                        <a:t>691 mm</a:t>
                      </a:r>
                    </a:p>
                  </a:txBody>
                  <a:tcPr>
                    <a:solidFill>
                      <a:srgbClr val="E4F2F4"/>
                    </a:solidFill>
                  </a:tcPr>
                </a:tc>
                <a:tc>
                  <a:txBody>
                    <a:bodyPr/>
                    <a:lstStyle/>
                    <a:p>
                      <a:r>
                        <a:rPr sz="1100" b="0">
                          <a:solidFill>
                            <a:srgbClr val="2B3A44"/>
                          </a:solidFill>
                          <a:latin typeface="Calibri"/>
                        </a:rPr>
                        <a:t>46 mm</a:t>
                      </a:r>
                    </a:p>
                  </a:txBody>
                  <a:tcPr>
                    <a:solidFill>
                      <a:srgbClr val="E4F2F4"/>
                    </a:solidFill>
                  </a:tcPr>
                </a:tc>
                <a:tc>
                  <a:txBody>
                    <a:bodyPr/>
                    <a:lstStyle/>
                    <a:p>
                      <a:r>
                        <a:rPr sz="1100" b="0">
                          <a:solidFill>
                            <a:srgbClr val="2B3A44"/>
                          </a:solidFill>
                          <a:latin typeface="Calibri"/>
                        </a:rPr>
                        <a:t>14 / 79</a:t>
                      </a:r>
                    </a:p>
                  </a:txBody>
                  <a:tcPr>
                    <a:solidFill>
                      <a:srgbClr val="E4F2F4"/>
                    </a:solidFill>
                  </a:tcPr>
                </a:tc>
                <a:tc>
                  <a:txBody>
                    <a:bodyPr/>
                    <a:lstStyle/>
                    <a:p>
                      <a:r>
                        <a:rPr sz="1100" b="0">
                          <a:solidFill>
                            <a:srgbClr val="2B3A44"/>
                          </a:solidFill>
                          <a:latin typeface="Calibri"/>
                        </a:rPr>
                        <a:t>65</a:t>
                      </a:r>
                    </a:p>
                  </a:txBody>
                  <a:tcPr>
                    <a:solidFill>
                      <a:srgbClr val="E4F2F4"/>
                    </a:solidFill>
                  </a:tcPr>
                </a:tc>
                <a:tc>
                  <a:txBody>
                    <a:bodyPr/>
                    <a:lstStyle/>
                    <a:p>
                      <a:r>
                        <a:rPr sz="1100" b="0">
                          <a:solidFill>
                            <a:srgbClr val="2B3A44"/>
                          </a:solidFill>
                          <a:latin typeface="Calibri"/>
                        </a:rPr>
                        <a:t>671 mm</a:t>
                      </a:r>
                    </a:p>
                  </a:txBody>
                  <a:tcPr>
                    <a:solidFill>
                      <a:srgbClr val="E4F2F4"/>
                    </a:solidFill>
                  </a:tcPr>
                </a:tc>
              </a:tr>
              <a:tr h="292608">
                <a:tc>
                  <a:txBody>
                    <a:bodyPr/>
                    <a:lstStyle/>
                    <a:p>
                      <a:r>
                        <a:rPr sz="1100" b="0">
                          <a:solidFill>
                            <a:srgbClr val="2B3A44"/>
                          </a:solidFill>
                          <a:latin typeface="Calibri"/>
                        </a:rPr>
                        <a:t>payload centred</a:t>
                      </a:r>
                    </a:p>
                  </a:txBody>
                  <a:tcPr>
                    <a:solidFill>
                      <a:srgbClr val="FFFFFF"/>
                    </a:solidFill>
                  </a:tcPr>
                </a:tc>
                <a:tc>
                  <a:txBody>
                    <a:bodyPr/>
                    <a:lstStyle/>
                    <a:p>
                      <a:r>
                        <a:rPr sz="1100" b="0">
                          <a:solidFill>
                            <a:srgbClr val="2B3A44"/>
                          </a:solidFill>
                          <a:latin typeface="Calibri"/>
                        </a:rPr>
                        <a:t>191 mm</a:t>
                      </a:r>
                    </a:p>
                  </a:txBody>
                  <a:tcPr>
                    <a:solidFill>
                      <a:srgbClr val="FFFFFF"/>
                    </a:solidFill>
                  </a:tcPr>
                </a:tc>
                <a:tc>
                  <a:txBody>
                    <a:bodyPr/>
                    <a:lstStyle/>
                    <a:p>
                      <a:r>
                        <a:rPr sz="1100" b="0">
                          <a:solidFill>
                            <a:srgbClr val="2B3A44"/>
                          </a:solidFill>
                          <a:latin typeface="Calibri"/>
                        </a:rPr>
                        <a:t>58 / 106</a:t>
                      </a:r>
                    </a:p>
                  </a:txBody>
                  <a:tcPr>
                    <a:solidFill>
                      <a:srgbClr val="FFFFFF"/>
                    </a:solidFill>
                  </a:tcPr>
                </a:tc>
                <a:tc>
                  <a:txBody>
                    <a:bodyPr/>
                    <a:lstStyle/>
                    <a:p>
                      <a:r>
                        <a:rPr sz="1100" b="0">
                          <a:solidFill>
                            <a:srgbClr val="2B3A44"/>
                          </a:solidFill>
                          <a:latin typeface="Calibri"/>
                        </a:rPr>
                        <a:t>49</a:t>
                      </a:r>
                    </a:p>
                  </a:txBody>
                  <a:tcPr>
                    <a:solidFill>
                      <a:srgbClr val="FFFFFF"/>
                    </a:solidFill>
                  </a:tcPr>
                </a:tc>
                <a:tc>
                  <a:txBody>
                    <a:bodyPr/>
                    <a:lstStyle/>
                    <a:p>
                      <a:r>
                        <a:rPr sz="1100" b="0">
                          <a:solidFill>
                            <a:srgbClr val="2B3A44"/>
                          </a:solidFill>
                          <a:latin typeface="Calibri"/>
                        </a:rPr>
                        <a:t>526 mm</a:t>
                      </a:r>
                    </a:p>
                  </a:txBody>
                  <a:tcPr>
                    <a:solidFill>
                      <a:srgbClr val="FFFFFF"/>
                    </a:solidFill>
                  </a:tcPr>
                </a:tc>
                <a:tc>
                  <a:txBody>
                    <a:bodyPr/>
                    <a:lstStyle/>
                    <a:p>
                      <a:r>
                        <a:rPr sz="1100" b="0">
                          <a:solidFill>
                            <a:srgbClr val="2B3A44"/>
                          </a:solidFill>
                          <a:latin typeface="Calibri"/>
                        </a:rPr>
                        <a:t>211 mm</a:t>
                      </a:r>
                    </a:p>
                  </a:txBody>
                  <a:tcPr>
                    <a:solidFill>
                      <a:srgbClr val="FFFFFF"/>
                    </a:solidFill>
                  </a:tcPr>
                </a:tc>
                <a:tc>
                  <a:txBody>
                    <a:bodyPr/>
                    <a:lstStyle/>
                    <a:p>
                      <a:r>
                        <a:rPr sz="1100" b="0">
                          <a:solidFill>
                            <a:srgbClr val="2B3A44"/>
                          </a:solidFill>
                          <a:latin typeface="Calibri"/>
                        </a:rPr>
                        <a:t>64 / 110</a:t>
                      </a:r>
                    </a:p>
                  </a:txBody>
                  <a:tcPr>
                    <a:solidFill>
                      <a:srgbClr val="FFFFFF"/>
                    </a:solidFill>
                  </a:tcPr>
                </a:tc>
                <a:tc>
                  <a:txBody>
                    <a:bodyPr/>
                    <a:lstStyle/>
                    <a:p>
                      <a:r>
                        <a:rPr sz="1100" b="0">
                          <a:solidFill>
                            <a:srgbClr val="2B3A44"/>
                          </a:solidFill>
                          <a:latin typeface="Calibri"/>
                        </a:rPr>
                        <a:t>47</a:t>
                      </a:r>
                    </a:p>
                  </a:txBody>
                  <a:tcPr>
                    <a:solidFill>
                      <a:srgbClr val="FFFFFF"/>
                    </a:solidFill>
                  </a:tcPr>
                </a:tc>
                <a:tc>
                  <a:txBody>
                    <a:bodyPr/>
                    <a:lstStyle/>
                    <a:p>
                      <a:r>
                        <a:rPr sz="1100" b="0">
                          <a:solidFill>
                            <a:srgbClr val="2B3A44"/>
                          </a:solidFill>
                          <a:latin typeface="Calibri"/>
                        </a:rPr>
                        <a:t>506 mm</a:t>
                      </a:r>
                    </a:p>
                  </a:txBody>
                  <a:tcPr>
                    <a:solidFill>
                      <a:srgbClr val="FFFFFF"/>
                    </a:solidFill>
                  </a:tcPr>
                </a:tc>
              </a:tr>
              <a:tr h="292608">
                <a:tc>
                  <a:txBody>
                    <a:bodyPr/>
                    <a:lstStyle/>
                    <a:p>
                      <a:r>
                        <a:rPr sz="1100" b="0">
                          <a:solidFill>
                            <a:srgbClr val="2B3A44"/>
                          </a:solidFill>
                          <a:latin typeface="Calibri"/>
                        </a:rPr>
                        <a:t>10° tilt, loaded side</a:t>
                      </a:r>
                    </a:p>
                  </a:txBody>
                  <a:tcPr>
                    <a:solidFill>
                      <a:srgbClr val="E4F2F4"/>
                    </a:solidFill>
                  </a:tcPr>
                </a:tc>
                <a:tc>
                  <a:txBody>
                    <a:bodyPr/>
                    <a:lstStyle/>
                    <a:p>
                      <a:r>
                        <a:rPr sz="1100" b="0">
                          <a:solidFill>
                            <a:srgbClr val="2B3A44"/>
                          </a:solidFill>
                          <a:latin typeface="Calibri"/>
                        </a:rPr>
                        <a:t>242 mm</a:t>
                      </a:r>
                    </a:p>
                  </a:txBody>
                  <a:tcPr>
                    <a:solidFill>
                      <a:srgbClr val="E4F2F4"/>
                    </a:solidFill>
                  </a:tcPr>
                </a:tc>
                <a:tc>
                  <a:txBody>
                    <a:bodyPr/>
                    <a:lstStyle/>
                    <a:p>
                      <a:r>
                        <a:rPr sz="1100" b="0">
                          <a:solidFill>
                            <a:srgbClr val="2B3A44"/>
                          </a:solidFill>
                          <a:latin typeface="Calibri"/>
                        </a:rPr>
                        <a:t>73 / 117</a:t>
                      </a:r>
                    </a:p>
                  </a:txBody>
                  <a:tcPr>
                    <a:solidFill>
                      <a:srgbClr val="E4F2F4"/>
                    </a:solidFill>
                  </a:tcPr>
                </a:tc>
                <a:tc>
                  <a:txBody>
                    <a:bodyPr/>
                    <a:lstStyle/>
                    <a:p>
                      <a:r>
                        <a:rPr sz="1100" b="0">
                          <a:solidFill>
                            <a:srgbClr val="2B3A44"/>
                          </a:solidFill>
                          <a:latin typeface="Calibri"/>
                        </a:rPr>
                        <a:t>44</a:t>
                      </a:r>
                    </a:p>
                  </a:txBody>
                  <a:tcPr>
                    <a:solidFill>
                      <a:srgbClr val="E4F2F4"/>
                    </a:solidFill>
                  </a:tcPr>
                </a:tc>
                <a:tc>
                  <a:txBody>
                    <a:bodyPr/>
                    <a:lstStyle/>
                    <a:p>
                      <a:r>
                        <a:rPr sz="1100" b="0">
                          <a:solidFill>
                            <a:srgbClr val="2B3A44"/>
                          </a:solidFill>
                          <a:latin typeface="Calibri"/>
                        </a:rPr>
                        <a:t>475 mm</a:t>
                      </a:r>
                    </a:p>
                  </a:txBody>
                  <a:tcPr>
                    <a:solidFill>
                      <a:srgbClr val="E4F2F4"/>
                    </a:solidFill>
                  </a:tcPr>
                </a:tc>
                <a:tc>
                  <a:txBody>
                    <a:bodyPr/>
                    <a:lstStyle/>
                    <a:p>
                      <a:r>
                        <a:rPr sz="1100" b="0">
                          <a:solidFill>
                            <a:srgbClr val="2B3A44"/>
                          </a:solidFill>
                          <a:latin typeface="Calibri"/>
                        </a:rPr>
                        <a:t>350 mm</a:t>
                      </a:r>
                    </a:p>
                  </a:txBody>
                  <a:tcPr>
                    <a:solidFill>
                      <a:srgbClr val="E4F2F4"/>
                    </a:solidFill>
                  </a:tcPr>
                </a:tc>
                <a:tc>
                  <a:txBody>
                    <a:bodyPr/>
                    <a:lstStyle/>
                    <a:p>
                      <a:r>
                        <a:rPr sz="1100" b="0">
                          <a:solidFill>
                            <a:srgbClr val="2B3A44"/>
                          </a:solidFill>
                          <a:latin typeface="Calibri"/>
                        </a:rPr>
                        <a:t>106 / 141</a:t>
                      </a:r>
                    </a:p>
                  </a:txBody>
                  <a:tcPr>
                    <a:solidFill>
                      <a:srgbClr val="E4F2F4"/>
                    </a:solidFill>
                  </a:tcPr>
                </a:tc>
                <a:tc>
                  <a:txBody>
                    <a:bodyPr/>
                    <a:lstStyle/>
                    <a:p>
                      <a:r>
                        <a:rPr sz="1100" b="0">
                          <a:solidFill>
                            <a:srgbClr val="2B3A44"/>
                          </a:solidFill>
                          <a:latin typeface="Calibri"/>
                        </a:rPr>
                        <a:t>35</a:t>
                      </a:r>
                    </a:p>
                  </a:txBody>
                  <a:tcPr>
                    <a:solidFill>
                      <a:srgbClr val="E4F2F4"/>
                    </a:solidFill>
                  </a:tcPr>
                </a:tc>
                <a:tc>
                  <a:txBody>
                    <a:bodyPr/>
                    <a:lstStyle/>
                    <a:p>
                      <a:r>
                        <a:rPr sz="1100" b="0">
                          <a:solidFill>
                            <a:srgbClr val="2B3A44"/>
                          </a:solidFill>
                          <a:latin typeface="Calibri"/>
                        </a:rPr>
                        <a:t>367 mm</a:t>
                      </a:r>
                    </a:p>
                  </a:txBody>
                  <a:tcPr>
                    <a:solidFill>
                      <a:srgbClr val="E4F2F4"/>
                    </a:solidFill>
                  </a:tcPr>
                </a:tc>
              </a:tr>
              <a:tr h="292608">
                <a:tc>
                  <a:txBody>
                    <a:bodyPr/>
                    <a:lstStyle/>
                    <a:p>
                      <a:r>
                        <a:rPr sz="1100" b="0">
                          <a:solidFill>
                            <a:srgbClr val="2B3A44"/>
                          </a:solidFill>
                          <a:latin typeface="Calibri"/>
                        </a:rPr>
                        <a:t>10° tilt, other side</a:t>
                      </a:r>
                    </a:p>
                  </a:txBody>
                  <a:tcPr>
                    <a:solidFill>
                      <a:srgbClr val="FFFFFF"/>
                    </a:solidFill>
                  </a:tcPr>
                </a:tc>
                <a:tc>
                  <a:txBody>
                    <a:bodyPr/>
                    <a:lstStyle/>
                    <a:p>
                      <a:r>
                        <a:rPr sz="1100" b="0">
                          <a:solidFill>
                            <a:srgbClr val="2B3A44"/>
                          </a:solidFill>
                          <a:latin typeface="Calibri"/>
                        </a:rPr>
                        <a:t>140 mm</a:t>
                      </a:r>
                    </a:p>
                  </a:txBody>
                  <a:tcPr>
                    <a:solidFill>
                      <a:srgbClr val="FFFFFF"/>
                    </a:solidFill>
                  </a:tcPr>
                </a:tc>
                <a:tc>
                  <a:txBody>
                    <a:bodyPr/>
                    <a:lstStyle/>
                    <a:p>
                      <a:r>
                        <a:rPr sz="1100" b="0">
                          <a:solidFill>
                            <a:srgbClr val="2B3A44"/>
                          </a:solidFill>
                          <a:latin typeface="Calibri"/>
                        </a:rPr>
                        <a:t>42 / 96</a:t>
                      </a:r>
                    </a:p>
                  </a:txBody>
                  <a:tcPr>
                    <a:solidFill>
                      <a:srgbClr val="FFFFFF"/>
                    </a:solidFill>
                  </a:tcPr>
                </a:tc>
                <a:tc>
                  <a:txBody>
                    <a:bodyPr/>
                    <a:lstStyle/>
                    <a:p>
                      <a:r>
                        <a:rPr sz="1100" b="0">
                          <a:solidFill>
                            <a:srgbClr val="2B3A44"/>
                          </a:solidFill>
                          <a:latin typeface="Calibri"/>
                        </a:rPr>
                        <a:t>54</a:t>
                      </a:r>
                    </a:p>
                  </a:txBody>
                  <a:tcPr>
                    <a:solidFill>
                      <a:srgbClr val="FFFFFF"/>
                    </a:solidFill>
                  </a:tcPr>
                </a:tc>
                <a:tc>
                  <a:txBody>
                    <a:bodyPr/>
                    <a:lstStyle/>
                    <a:p>
                      <a:r>
                        <a:rPr sz="1100" b="0">
                          <a:solidFill>
                            <a:srgbClr val="2B3A44"/>
                          </a:solidFill>
                          <a:latin typeface="Calibri"/>
                        </a:rPr>
                        <a:t>577 mm</a:t>
                      </a:r>
                    </a:p>
                  </a:txBody>
                  <a:tcPr>
                    <a:solidFill>
                      <a:srgbClr val="FFFFFF"/>
                    </a:solidFill>
                  </a:tcPr>
                </a:tc>
                <a:tc>
                  <a:txBody>
                    <a:bodyPr/>
                    <a:lstStyle/>
                    <a:p>
                      <a:r>
                        <a:rPr sz="1100" b="0">
                          <a:solidFill>
                            <a:srgbClr val="2B3A44"/>
                          </a:solidFill>
                          <a:latin typeface="Calibri"/>
                        </a:rPr>
                        <a:t>72 mm</a:t>
                      </a:r>
                    </a:p>
                  </a:txBody>
                  <a:tcPr>
                    <a:solidFill>
                      <a:srgbClr val="FFFFFF"/>
                    </a:solidFill>
                  </a:tcPr>
                </a:tc>
                <a:tc>
                  <a:txBody>
                    <a:bodyPr/>
                    <a:lstStyle/>
                    <a:p>
                      <a:r>
                        <a:rPr sz="1100" b="0">
                          <a:solidFill>
                            <a:srgbClr val="2B3A44"/>
                          </a:solidFill>
                          <a:latin typeface="Calibri"/>
                        </a:rPr>
                        <a:t>22 / 83</a:t>
                      </a:r>
                    </a:p>
                  </a:txBody>
                  <a:tcPr>
                    <a:solidFill>
                      <a:srgbClr val="FFFFFF"/>
                    </a:solidFill>
                  </a:tcPr>
                </a:tc>
                <a:tc>
                  <a:txBody>
                    <a:bodyPr/>
                    <a:lstStyle/>
                    <a:p>
                      <a:r>
                        <a:rPr sz="1100" b="0">
                          <a:solidFill>
                            <a:srgbClr val="2B3A44"/>
                          </a:solidFill>
                          <a:latin typeface="Calibri"/>
                        </a:rPr>
                        <a:t>62</a:t>
                      </a:r>
                    </a:p>
                  </a:txBody>
                  <a:tcPr>
                    <a:solidFill>
                      <a:srgbClr val="FFFFFF"/>
                    </a:solidFill>
                  </a:tcPr>
                </a:tc>
                <a:tc>
                  <a:txBody>
                    <a:bodyPr/>
                    <a:lstStyle/>
                    <a:p>
                      <a:r>
                        <a:rPr sz="1100" b="0">
                          <a:solidFill>
                            <a:srgbClr val="2B3A44"/>
                          </a:solidFill>
                          <a:latin typeface="Calibri"/>
                        </a:rPr>
                        <a:t>645 mm</a:t>
                      </a:r>
                    </a:p>
                  </a:txBody>
                  <a:tcP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Appendix: FloatSim's small-rotation limit at the pins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Linear about each equilibrium: rotations, including each buoy's rotation on its pin, must stay below ~0.1 rad (5.7°)</a:t>
            </a:r>
          </a:p>
        </p:txBody>
      </p:sp>
      <p:graphicFrame>
        <p:nvGraphicFramePr>
          <p:cNvPr id="4" name="Table 3"/>
          <p:cNvGraphicFramePr>
            <a:graphicFrameLocks noGrp="1"/>
          </p:cNvGraphicFramePr>
          <p:nvPr/>
        </p:nvGraphicFramePr>
        <p:xfrm>
          <a:off x="457200" y="1463040"/>
          <a:ext cx="6675120" cy="2651760"/>
        </p:xfrm>
        <a:graphic>
          <a:graphicData uri="http://schemas.openxmlformats.org/drawingml/2006/table">
            <a:tbl>
              <a:tblPr firstRow="1" bandRow="1">
                <a:tableStyleId>{5C22544A-7EE6-4342-B048-85BDC9FD1C3A}</a:tableStyleId>
              </a:tblPr>
              <a:tblGrid>
                <a:gridCol w="2651760"/>
                <a:gridCol w="1097280"/>
                <a:gridCol w="2926080"/>
              </a:tblGrid>
              <a:tr h="530352">
                <a:tc>
                  <a:txBody>
                    <a:bodyPr/>
                    <a:lstStyle/>
                    <a:p>
                      <a:r>
                        <a:rPr sz="1200" b="1">
                          <a:solidFill>
                            <a:srgbClr val="FFFFFF"/>
                          </a:solidFill>
                          <a:latin typeface="Calibri"/>
                        </a:rPr>
                        <a:t>Motion</a:t>
                      </a:r>
                    </a:p>
                  </a:txBody>
                  <a:tcPr>
                    <a:solidFill>
                      <a:srgbClr val="0C8B96"/>
                    </a:solidFill>
                  </a:tcPr>
                </a:tc>
                <a:tc>
                  <a:txBody>
                    <a:bodyPr/>
                    <a:lstStyle/>
                    <a:p>
                      <a:r>
                        <a:rPr sz="1200" b="1">
                          <a:solidFill>
                            <a:srgbClr val="FFFFFF"/>
                          </a:solidFill>
                          <a:latin typeface="Calibri"/>
                        </a:rPr>
                        <a:t>Largest here</a:t>
                      </a:r>
                    </a:p>
                  </a:txBody>
                  <a:tcPr>
                    <a:solidFill>
                      <a:srgbClr val="0C8B96"/>
                    </a:solidFill>
                  </a:tcPr>
                </a:tc>
                <a:tc>
                  <a:txBody>
                    <a:bodyPr/>
                    <a:lstStyle/>
                    <a:p>
                      <a:r>
                        <a:rPr sz="1200" b="1">
                          <a:solidFill>
                            <a:srgbClr val="FFFFFF"/>
                          </a:solidFill>
                          <a:latin typeface="Calibri"/>
                        </a:rPr>
                        <a:t>Within ~5.7°?</a:t>
                      </a:r>
                    </a:p>
                  </a:txBody>
                  <a:tcPr>
                    <a:solidFill>
                      <a:srgbClr val="0C8B96"/>
                    </a:solidFill>
                  </a:tcPr>
                </a:tc>
              </a:tr>
              <a:tr h="530352">
                <a:tc>
                  <a:txBody>
                    <a:bodyPr/>
                    <a:lstStyle/>
                    <a:p>
                      <a:r>
                        <a:rPr sz="1200" b="0">
                          <a:solidFill>
                            <a:srgbClr val="2B3A44"/>
                          </a:solidFill>
                          <a:latin typeface="Calibri"/>
                        </a:rPr>
                        <a:t>Static tilt of the hub / deck (5°, 10°)</a:t>
                      </a:r>
                    </a:p>
                  </a:txBody>
                  <a:tcPr>
                    <a:solidFill>
                      <a:srgbClr val="E4F2F4"/>
                    </a:solidFill>
                  </a:tcPr>
                </a:tc>
                <a:tc>
                  <a:txBody>
                    <a:bodyPr/>
                    <a:lstStyle/>
                    <a:p>
                      <a:r>
                        <a:rPr sz="1200" b="0">
                          <a:solidFill>
                            <a:srgbClr val="2B3A44"/>
                          </a:solidFill>
                          <a:latin typeface="Calibri"/>
                        </a:rPr>
                        <a:t>10°</a:t>
                      </a:r>
                    </a:p>
                  </a:txBody>
                  <a:tcPr>
                    <a:solidFill>
                      <a:srgbClr val="E4F2F4"/>
                    </a:solidFill>
                  </a:tcPr>
                </a:tc>
                <a:tc>
                  <a:txBody>
                    <a:bodyPr/>
                    <a:lstStyle/>
                    <a:p>
                      <a:r>
                        <a:rPr sz="1200" b="0">
                          <a:solidFill>
                            <a:srgbClr val="2B3A44"/>
                          </a:solidFill>
                          <a:latin typeface="Calibri"/>
                        </a:rPr>
                        <a:t>not needed: each case is built about its own tilted equilibrium (BEM re-run there)</a:t>
                      </a:r>
                    </a:p>
                  </a:txBody>
                  <a:tcPr>
                    <a:solidFill>
                      <a:srgbClr val="E4F2F4"/>
                    </a:solidFill>
                  </a:tcPr>
                </a:tc>
              </a:tr>
              <a:tr h="530352">
                <a:tc>
                  <a:txBody>
                    <a:bodyPr/>
                    <a:lstStyle/>
                    <a:p>
                      <a:r>
                        <a:rPr sz="1200" b="0">
                          <a:solidFill>
                            <a:srgbClr val="2B3A44"/>
                          </a:solidFill>
                          <a:latin typeface="Calibri"/>
                        </a:rPr>
                        <a:t>Hub / deck pitch in the waves</a:t>
                      </a:r>
                    </a:p>
                  </a:txBody>
                  <a:tcPr>
                    <a:solidFill>
                      <a:srgbClr val="FFFFFF"/>
                    </a:solidFill>
                  </a:tcPr>
                </a:tc>
                <a:tc>
                  <a:txBody>
                    <a:bodyPr/>
                    <a:lstStyle/>
                    <a:p>
                      <a:r>
                        <a:rPr sz="1200" b="0">
                          <a:solidFill>
                            <a:srgbClr val="2B3A44"/>
                          </a:solidFill>
                          <a:latin typeface="Calibri"/>
                        </a:rPr>
                        <a:t>3.8°</a:t>
                      </a:r>
                    </a:p>
                  </a:txBody>
                  <a:tcPr>
                    <a:solidFill>
                      <a:srgbClr val="FFFFFF"/>
                    </a:solidFill>
                  </a:tcPr>
                </a:tc>
                <a:tc>
                  <a:txBody>
                    <a:bodyPr/>
                    <a:lstStyle/>
                    <a:p>
                      <a:r>
                        <a:rPr sz="1200" b="0">
                          <a:solidFill>
                            <a:srgbClr val="2B3A44"/>
                          </a:solidFill>
                          <a:latin typeface="Calibri"/>
                        </a:rPr>
                        <a:t>yes</a:t>
                      </a:r>
                    </a:p>
                  </a:txBody>
                  <a:tcPr>
                    <a:solidFill>
                      <a:srgbClr val="FFFFFF"/>
                    </a:solidFill>
                  </a:tcPr>
                </a:tc>
              </a:tr>
              <a:tr h="530352">
                <a:tc>
                  <a:txBody>
                    <a:bodyPr/>
                    <a:lstStyle/>
                    <a:p>
                      <a:r>
                        <a:rPr sz="1200" b="0">
                          <a:solidFill>
                            <a:srgbClr val="2B3A44"/>
                          </a:solidFill>
                          <a:latin typeface="Calibri"/>
                        </a:rPr>
                        <a:t>Pin motion relative to the water</a:t>
                      </a:r>
                    </a:p>
                  </a:txBody>
                  <a:tcPr>
                    <a:solidFill>
                      <a:srgbClr val="E4F2F4"/>
                    </a:solidFill>
                  </a:tcPr>
                </a:tc>
                <a:tc>
                  <a:txBody>
                    <a:bodyPr/>
                    <a:lstStyle/>
                    <a:p>
                      <a:r>
                        <a:rPr sz="1200" b="0">
                          <a:solidFill>
                            <a:srgbClr val="2B3A44"/>
                          </a:solidFill>
                          <a:latin typeface="Calibri"/>
                        </a:rPr>
                        <a:t>84 mm</a:t>
                      </a:r>
                    </a:p>
                  </a:txBody>
                  <a:tcPr>
                    <a:solidFill>
                      <a:srgbClr val="E4F2F4"/>
                    </a:solidFill>
                  </a:tcPr>
                </a:tc>
                <a:tc>
                  <a:txBody>
                    <a:bodyPr/>
                    <a:lstStyle/>
                    <a:p>
                      <a:r>
                        <a:rPr sz="1200" b="0">
                          <a:solidFill>
                            <a:srgbClr val="2B3A44"/>
                          </a:solidFill>
                          <a:latin typeface="Calibri"/>
                        </a:rPr>
                        <a:t>yes (small against the spar)</a:t>
                      </a:r>
                    </a:p>
                  </a:txBody>
                  <a:tcPr>
                    <a:solidFill>
                      <a:srgbClr val="E4F2F4"/>
                    </a:solidFill>
                  </a:tcPr>
                </a:tc>
              </a:tr>
              <a:tr h="530352">
                <a:tc>
                  <a:txBody>
                    <a:bodyPr/>
                    <a:lstStyle/>
                    <a:p>
                      <a:r>
                        <a:rPr sz="1200" b="0">
                          <a:solidFill>
                            <a:srgbClr val="2B3A44"/>
                          </a:solidFill>
                          <a:latin typeface="Calibri"/>
                        </a:rPr>
                        <a:t>Buoys rocking on their pins (gimbals), 4.2 s</a:t>
                      </a:r>
                    </a:p>
                  </a:txBody>
                  <a:tcPr>
                    <a:solidFill>
                      <a:srgbClr val="FFFFFF"/>
                    </a:solidFill>
                  </a:tcPr>
                </a:tc>
                <a:tc>
                  <a:txBody>
                    <a:bodyPr/>
                    <a:lstStyle/>
                    <a:p>
                      <a:r>
                        <a:rPr sz="1200" b="0">
                          <a:solidFill>
                            <a:srgbClr val="2B3A44"/>
                          </a:solidFill>
                          <a:latin typeface="Calibri"/>
                        </a:rPr>
                        <a:t>12.6°</a:t>
                      </a:r>
                    </a:p>
                  </a:txBody>
                  <a:tcPr>
                    <a:solidFill>
                      <a:srgbClr val="FFFFFF"/>
                    </a:solidFill>
                  </a:tcPr>
                </a:tc>
                <a:tc>
                  <a:txBody>
                    <a:bodyPr/>
                    <a:lstStyle/>
                    <a:p>
                      <a:r>
                        <a:rPr sz="1200" b="0">
                          <a:solidFill>
                            <a:srgbClr val="2B3A44"/>
                          </a:solidFill>
                          <a:latin typeface="Calibri"/>
                        </a:rPr>
                        <a:t>no: ~2.2× the limit</a:t>
                      </a:r>
                    </a:p>
                  </a:txBody>
                  <a:tcPr>
                    <a:solidFill>
                      <a:srgbClr val="FFFFFF"/>
                    </a:solidFill>
                  </a:tcPr>
                </a:tc>
              </a:tr>
            </a:tbl>
          </a:graphicData>
        </a:graphic>
      </p:graphicFrame>
      <p:sp>
        <p:nvSpPr>
          <p:cNvPr id="5" name="TextBox 4"/>
          <p:cNvSpPr txBox="1"/>
          <p:nvPr/>
        </p:nvSpPr>
        <p:spPr>
          <a:xfrm>
            <a:off x="457200" y="4343400"/>
            <a:ext cx="6675120" cy="2286000"/>
          </a:xfrm>
          <a:prstGeom prst="rect">
            <a:avLst/>
          </a:prstGeom>
          <a:noFill/>
        </p:spPr>
        <p:txBody>
          <a:bodyPr wrap="square" anchor="t" lIns="0" rIns="0">
            <a:spAutoFit/>
          </a:bodyPr>
          <a:lstStyle/>
          <a:p>
            <a:pPr algn="l">
              <a:spcAft>
                <a:spcPts val="700"/>
              </a:spcAft>
            </a:pPr>
            <a:r>
              <a:rPr sz="1300" b="1" i="0">
                <a:solidFill>
                  <a:srgbClr val="2B3A44"/>
                </a:solidFill>
                <a:latin typeface="Calibri"/>
              </a:rPr>
              <a:t>What FloatSim linearises: </a:t>
            </a:r>
            <a:r>
              <a:rPr sz="1300" b="0" i="0">
                <a:solidFill>
                  <a:srgbClr val="2B3A44"/>
                </a:solidFill>
                <a:latin typeface="Calibri"/>
              </a:rPr>
              <a:t>the rotations (small-angle, rotation vector); the hydrostatic restoring (a fixed matrix at the BEM draft); the wave forces (at the mean position); the pin load's tipping (P L θ, not P L sin θ); the gimbals' yaw lock (first order in the relative angle).</a:t>
            </a:r>
          </a:p>
          <a:p>
            <a:pPr algn="l">
              <a:spcAft>
                <a:spcPts val="700"/>
              </a:spcAft>
            </a:pPr>
            <a:r>
              <a:rPr sz="1300" b="1" i="0">
                <a:solidFill>
                  <a:srgbClr val="2B3A44"/>
                </a:solidFill>
                <a:latin typeface="Calibri"/>
              </a:rPr>
              <a:t>What it keeps exact: </a:t>
            </a:r>
            <a:r>
              <a:rPr sz="1300" b="0" i="0">
                <a:solidFill>
                  <a:srgbClr val="2B3A44"/>
                </a:solidFill>
                <a:latin typeface="Calibri"/>
              </a:rPr>
              <a:t>where the pins are (the joint arms rotate with the bodies) and the drag (non-linear, relative to the waves).</a:t>
            </a:r>
          </a:p>
        </p:txBody>
      </p:sp>
      <p:sp>
        <p:nvSpPr>
          <p:cNvPr id="6" name="Rounded Rectangle 5"/>
          <p:cNvSpPr/>
          <p:nvPr/>
        </p:nvSpPr>
        <p:spPr>
          <a:xfrm>
            <a:off x="7406640" y="1463040"/>
            <a:ext cx="4297680" cy="5120640"/>
          </a:xfrm>
          <a:prstGeom prst="roundRect">
            <a:avLst>
              <a:gd name="adj" fmla="val 6000"/>
            </a:avLst>
          </a:prstGeom>
          <a:solidFill>
            <a:srgbClr val="F6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35240" y="1600200"/>
            <a:ext cx="3886200" cy="457200"/>
          </a:xfrm>
          <a:prstGeom prst="rect">
            <a:avLst/>
          </a:prstGeom>
          <a:noFill/>
        </p:spPr>
        <p:txBody>
          <a:bodyPr wrap="square" anchor="t" lIns="0" rIns="0">
            <a:spAutoFit/>
          </a:bodyPr>
          <a:lstStyle/>
          <a:p>
            <a:pPr algn="l">
              <a:spcAft>
                <a:spcPts val="600"/>
              </a:spcAft>
            </a:pPr>
            <a:r>
              <a:rPr sz="1800" b="1" i="0">
                <a:solidFill>
                  <a:srgbClr val="B2432C"/>
                </a:solidFill>
                <a:latin typeface="Calibri"/>
              </a:rPr>
              <a:t>At 12.6° of rocking</a:t>
            </a:r>
          </a:p>
        </p:txBody>
      </p:sp>
      <p:sp>
        <p:nvSpPr>
          <p:cNvPr id="8" name="TextBox 7"/>
          <p:cNvSpPr txBox="1"/>
          <p:nvPr/>
        </p:nvSpPr>
        <p:spPr>
          <a:xfrm>
            <a:off x="7635240" y="2103120"/>
            <a:ext cx="3886200" cy="4389120"/>
          </a:xfrm>
          <a:prstGeom prst="rect">
            <a:avLst/>
          </a:prstGeom>
          <a:noFill/>
        </p:spPr>
        <p:txBody>
          <a:bodyPr wrap="square" anchor="t" lIns="0" rIns="0">
            <a:spAutoFit/>
          </a:bodyPr>
          <a:lstStyle/>
          <a:p>
            <a:pPr algn="l">
              <a:spcAft>
                <a:spcPts val="800"/>
              </a:spcAft>
            </a:pPr>
            <a:r>
              <a:rPr sz="1300" b="1" i="0">
                <a:solidFill>
                  <a:srgbClr val="2B3A44"/>
                </a:solidFill>
                <a:latin typeface="Calibri"/>
              </a:rPr>
              <a:t>Geometry: small error. </a:t>
            </a:r>
            <a:r>
              <a:rPr sz="1300" b="0" i="0">
                <a:solidFill>
                  <a:srgbClr val="2B3A44"/>
                </a:solidFill>
                <a:latin typeface="Calibri"/>
              </a:rPr>
              <a:t>sin θ / θ = 0.992; the pin drops L(1 − cos θ) = 39 mm, which the exact pin positions already carry.</a:t>
            </a:r>
          </a:p>
          <a:p>
            <a:pPr algn="l">
              <a:spcAft>
                <a:spcPts val="800"/>
              </a:spcAft>
            </a:pPr>
            <a:r>
              <a:rPr sz="1300" b="1" i="0">
                <a:solidFill>
                  <a:srgbClr val="2B3A44"/>
                </a:solidFill>
                <a:latin typeface="Calibri"/>
              </a:rPr>
              <a:t>Damping: the real uncertainty. </a:t>
            </a:r>
            <a:r>
              <a:rPr sz="1300" b="0" i="0">
                <a:solidFill>
                  <a:srgbClr val="2B3A44"/>
                </a:solidFill>
                <a:latin typeface="Calibri"/>
              </a:rPr>
              <a:t>The amplitude at resonance is set by the drag and the perforated heave plate, whose damping is still to be measured in the tank.</a:t>
            </a:r>
          </a:p>
          <a:p>
            <a:pPr algn="l">
              <a:spcAft>
                <a:spcPts val="800"/>
              </a:spcAft>
            </a:pPr>
            <a:r>
              <a:rPr sz="1300" b="1" i="0">
                <a:solidFill>
                  <a:srgbClr val="2B3A44"/>
                </a:solidFill>
                <a:latin typeface="Calibri"/>
              </a:rPr>
              <a:t>Not modelled: </a:t>
            </a:r>
            <a:r>
              <a:rPr sz="1300" b="0" i="0">
                <a:solidFill>
                  <a:srgbClr val="2B3A44"/>
                </a:solidFill>
                <a:latin typeface="Calibri"/>
              </a:rPr>
              <a:t>the gimbals' travel and any stops; a non-linear (Level 2) FloatSim, tracked as LEVEL2-INTEGRATOR-UNWIRED.</a:t>
            </a:r>
          </a:p>
          <a:p>
            <a:pPr algn="l">
              <a:spcAft>
                <a:spcPts val="800"/>
              </a:spcAft>
            </a:pPr>
            <a:r>
              <a:rPr sz="1300" b="1" i="0">
                <a:solidFill>
                  <a:srgbClr val="B2432C"/>
                </a:solidFill>
                <a:latin typeface="Calibri"/>
              </a:rPr>
              <a:t>So: </a:t>
            </a:r>
            <a:r>
              <a:rPr sz="1300" b="0" i="0">
                <a:solidFill>
                  <a:srgbClr val="B2432C"/>
                </a:solidFill>
                <a:latin typeface="Calibri"/>
              </a:rPr>
              <a:t>the resonance period (~4.2 s) stands; read the 11–12.6° as indicative, and confirm with a rocking decay in the tank.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