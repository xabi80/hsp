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1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A5560"/>
                </a:solidFill>
                <a:latin typeface="Segoe UI"/>
              </a:rPr>
              <a:t>PHASES 1–3 · OSU LARGE WAVE FLUME · TEAMER REVIEW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42A38"/>
                </a:solidFill>
                <a:latin typeface="Segoe UI"/>
              </a:rPr>
              <a:t>Station-keeping mooring in the flume
for 1 buoy, 1 cluster and the 4×4 platform</a:t>
            </a:r>
          </a:p>
          <a:p>
            <a:pPr>
              <a:spcBef>
                <a:spcPts val="1000"/>
              </a:spcBef>
            </a:pPr>
            <a:r>
              <a:rPr sz="1900">
                <a:solidFill>
                  <a:srgbClr val="51606A"/>
                </a:solidFill>
                <a:latin typeface="Segoe UI"/>
              </a:rPr>
              <a:t>Which mooring we need, and how the flume size influences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FFFFFF"/>
                </a:solidFill>
                <a:latin typeface="Segoe UI"/>
              </a:rPr>
              <a:t>Answer: four soft horizontal lines at the waterline, T_surge ≈ 15 s. On the coupled models the heave period shifts ≤ 0.45 %, pitch &lt; 1 %, the buoy-tilt mode ≤ 2.4 %, with zero trim.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The question, and what the mooring has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100"/>
              </a:spcAft>
            </a:pPr>
            <a:r>
              <a:rPr sz="1600">
                <a:solidFill>
                  <a:srgbClr val="0C8B96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B262E"/>
                </a:solidFill>
                <a:latin typeface="Segoe UI"/>
              </a:rPr>
              <a:t>Reviewer: </a:t>
            </a:r>
            <a:r>
              <a:rPr sz="1600" b="0" i="1">
                <a:solidFill>
                  <a:srgbClr val="1B262E"/>
                </a:solidFill>
                <a:latin typeface="Segoe UI"/>
              </a:rPr>
              <a:t>which mooring do we need, and how could the flume size influence it?</a:t>
            </a:r>
          </a:p>
          <a:p>
            <a:pPr>
              <a:spcBef>
                <a:spcPts val="100"/>
              </a:spcBef>
              <a:spcAft>
                <a:spcPts val="1100"/>
              </a:spcAft>
            </a:pPr>
            <a:r>
              <a:rPr sz="1600">
                <a:solidFill>
                  <a:srgbClr val="0C8B96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B262E"/>
                </a:solidFill>
                <a:latin typeface="Segoe UI"/>
              </a:rPr>
              <a:t>Role: </a:t>
            </a:r>
            <a:r>
              <a:rPr sz="1600" b="0" i="0">
                <a:solidFill>
                  <a:srgbClr val="1B262E"/>
                </a:solidFill>
                <a:latin typeface="Segoe UI"/>
              </a:rPr>
              <a:t>station-keeping only. Hold each article in the test section against the mean wave drift, without changing what we measure (free decay, heave/pitch response, accelerations).</a:t>
            </a:r>
          </a:p>
          <a:p>
            <a:pPr>
              <a:spcBef>
                <a:spcPts val="100"/>
              </a:spcBef>
              <a:spcAft>
                <a:spcPts val="1100"/>
              </a:spcAft>
            </a:pPr>
            <a:r>
              <a:rPr sz="1600">
                <a:solidFill>
                  <a:srgbClr val="0C8B96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B262E"/>
                </a:solidFill>
                <a:latin typeface="Segoe UI"/>
              </a:rPr>
              <a:t>Field site is deep water: </a:t>
            </a:r>
            <a:r>
              <a:rPr sz="1600" b="0" i="0">
                <a:solidFill>
                  <a:srgbClr val="1B262E"/>
                </a:solidFill>
                <a:latin typeface="Segoe UI"/>
              </a:rPr>
              <a:t>a 2.7 m-deep flume cannot hold a scale model of the field mooring → an equivalent soft mooring, characterised and put in the model.</a:t>
            </a:r>
          </a:p>
          <a:p>
            <a:pPr>
              <a:spcBef>
                <a:spcPts val="100"/>
              </a:spcBef>
              <a:spcAft>
                <a:spcPts val="1100"/>
              </a:spcAft>
            </a:pPr>
            <a:r>
              <a:rPr sz="1600">
                <a:solidFill>
                  <a:srgbClr val="0C8B96"/>
                </a:solidFill>
                <a:latin typeface="Segoe UI"/>
              </a:rPr>
              <a:t>▪  </a:t>
            </a:r>
            <a:r>
              <a:rPr sz="1600" b="1" i="0">
                <a:solidFill>
                  <a:srgbClr val="1B262E"/>
                </a:solidFill>
                <a:latin typeface="Segoe UI"/>
              </a:rPr>
              <a:t>Test waves: </a:t>
            </a:r>
            <a:r>
              <a:rPr sz="1600" b="0" i="0">
                <a:solidFill>
                  <a:srgbClr val="1B262E"/>
                </a:solidFill>
                <a:latin typeface="Segoe UI"/>
              </a:rPr>
              <a:t>H = 0.2–0.5 m, T = 1.4–4.0 s. Flume: OSU LWF, 3.66 m wide, 2.7 m deep, 104 m long.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086600" y="1828800"/>
            <a:ext cx="4983480" cy="384048"/>
          </a:xfrm>
          <a:prstGeom prst="rect">
            <a:avLst/>
          </a:prstGeom>
          <a:solidFill>
            <a:srgbClr val="0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9752" y="1837943"/>
            <a:ext cx="130759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Article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7072" y="1837943"/>
            <a:ext cx="75895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5752" y="1837943"/>
            <a:ext cx="121615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Surge inertia M+A₁₁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1632" y="1837943"/>
            <a:ext cx="12618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Span / wall gap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2212848"/>
            <a:ext cx="4983480" cy="384048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9752" y="2221991"/>
            <a:ext cx="130759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B262E"/>
                </a:solidFill>
                <a:latin typeface="Segoe UI"/>
              </a:rPr>
              <a:t>1 buoy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221991"/>
            <a:ext cx="75895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22 kg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5752" y="2221991"/>
            <a:ext cx="121615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40 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71632" y="2221991"/>
            <a:ext cx="12618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0.29 m / 1.69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2606039"/>
            <a:ext cx="130759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B262E"/>
                </a:solidFill>
                <a:latin typeface="Segoe UI"/>
              </a:rPr>
              <a:t>1 cluster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2606039"/>
            <a:ext cx="75895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88 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45752" y="2606039"/>
            <a:ext cx="121615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167 kg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1632" y="2606039"/>
            <a:ext cx="12618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0.88 m / 1.39 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2980944"/>
            <a:ext cx="4983480" cy="384048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9752" y="2990087"/>
            <a:ext cx="130759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B262E"/>
                </a:solidFill>
                <a:latin typeface="Segoe UI"/>
              </a:rPr>
              <a:t>4×4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2990087"/>
            <a:ext cx="75895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358 kg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2990087"/>
            <a:ext cx="121615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669 kg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1632" y="2990087"/>
            <a:ext cx="1261872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2.06 m / 0.80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47472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1606A"/>
                </a:solidFill>
                <a:latin typeface="Segoe UI"/>
              </a:rPr>
              <a:t>Articles at the 45° test orientation: the 4×4 grid and the cluster sit square to the flume, two (cluster) or four (platform) buoys facing the waves. Each buoy is the OSU spar + heave plate (0.159 m spar, 2.52 s heave, 2.11 s pitch).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Approach: size it simply, then check it on the full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3383280" cy="502920"/>
          </a:xfrm>
          <a:prstGeom prst="rect">
            <a:avLst/>
          </a:prstGeom>
          <a:solidFill>
            <a:srgbClr val="0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0136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/>
              </a:rPr>
              <a:t>1  Hold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86000"/>
            <a:ext cx="3383280" cy="141732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1B262E"/>
                </a:solidFill>
                <a:latin typeface="Segoe UI"/>
              </a:rPr>
              <a:t>Mean drift sets the offset: δ = F / Kx. Drift from splash-zone drag on every spar, taken for a fixed body (an upper bound).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783080"/>
            <a:ext cx="3383280" cy="502920"/>
          </a:xfrm>
          <a:prstGeom prst="rect">
            <a:avLst/>
          </a:prstGeom>
          <a:solidFill>
            <a:srgbClr val="0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0136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/>
              </a:rPr>
              <a:t>2  Keep it soft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286000"/>
            <a:ext cx="3383280" cy="141732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1B262E"/>
                </a:solidFill>
                <a:latin typeface="Segoe UI"/>
              </a:rPr>
              <a:t>Surge period well above the waves: T_surge ≥ 3–5 × 4 s, so the mooring barely resists wave-frequency motion. Baseline 15 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783080"/>
            <a:ext cx="3383280" cy="502920"/>
          </a:xfrm>
          <a:prstGeom prst="rect">
            <a:avLst/>
          </a:prstGeom>
          <a:solidFill>
            <a:srgbClr val="0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0136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/>
              </a:rPr>
              <a:t>3  Don't couple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2286000"/>
            <a:ext cx="3383280" cy="141732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1B262E"/>
                </a:solidFill>
                <a:latin typeface="Segoe UI"/>
              </a:rPr>
              <a:t>Lines horizontal at the waterline, where the drift acts: no heave or pitch stiffness, no lever arm, no trim.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77639"/>
            <a:ext cx="10652760" cy="548640"/>
          </a:xfrm>
          <a:prstGeom prst="rect">
            <a:avLst/>
          </a:prstGeom>
          <a:solidFill>
            <a:srgbClr val="1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77639"/>
            <a:ext cx="10469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i="1">
                <a:solidFill>
                  <a:srgbClr val="FFFFFF"/>
                </a:solidFill>
                <a:latin typeface="Consolas"/>
              </a:rPr>
              <a:t>Kx = (M + A₁₁)(2π / T_surge)²     F_drift = (2 / 3π) ρ Cd D A U²,  U = Aω coth kh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400">
                <a:solidFill>
                  <a:srgbClr val="0C8B9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62E"/>
                </a:solidFill>
                <a:latin typeface="Segoe UI"/>
              </a:rPr>
              <a:t>Then check on the real FloatSim models </a:t>
            </a:r>
            <a:r>
              <a:rPr sz="1400" b="0" i="0">
                <a:solidFill>
                  <a:srgbClr val="1B262E"/>
                </a:solidFill>
                <a:latin typeface="Segoe UI"/>
              </a:rPr>
              <a:t>— 6-DOF buoy, 30-DOF cluster, 126-DOF platform, with the pinned joints and full inter-buoy hydrodynamics: natural periods moored vs unmoored, and the static response to the drift, for every realistic attachment point.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400">
                <a:solidFill>
                  <a:srgbClr val="0C8B96"/>
                </a:solidFill>
                <a:latin typeface="Segoe UI"/>
              </a:rPr>
              <a:t>▪  </a:t>
            </a:r>
            <a:r>
              <a:rPr sz="1400" b="1" i="0">
                <a:solidFill>
                  <a:srgbClr val="1B262E"/>
                </a:solidFill>
                <a:latin typeface="Segoe UI"/>
              </a:rPr>
              <a:t>Finally refine the drift </a:t>
            </a:r>
            <a:r>
              <a:rPr sz="1400" b="0" i="0">
                <a:solidFill>
                  <a:srgbClr val="1B262E"/>
                </a:solidFill>
                <a:latin typeface="Segoe UI"/>
              </a:rPr>
              <a:t>with the article moving (drag-limited time domain, relative velocity at each spar's waterline).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Design load: the mean wave drift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oring_si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34" y="1600200"/>
            <a:ext cx="1082085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5760720"/>
            <a:ext cx="10607040" cy="82296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788152"/>
            <a:ext cx="102412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1B262E"/>
                </a:solidFill>
                <a:latin typeface="Segoe UI"/>
              </a:rPr>
              <a:t>Left: drift per spar, fixed-body upper bound; it peaks at the steepness limit (H/L = 1/15): 5.2 N at H = 0.5 m, 1.9 N at H = 0.3 m. </a:t>
            </a:r>
            <a:r>
              <a:rPr sz="1200" b="1" i="0">
                <a:solidFill>
                  <a:srgbClr val="1B262E"/>
                </a:solidFill>
                <a:latin typeface="Segoe UI"/>
              </a:rPr>
              <a:t>Right: offset vs mooring softness — identical for all three articles, because drift and inertia both scale with the number of buoys.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Recommended mooring: X-spread of 4 soft lines at the waterline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oring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8760"/>
            <a:ext cx="6766560" cy="39098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691640"/>
            <a:ext cx="4526280" cy="365760"/>
          </a:xfrm>
          <a:prstGeom prst="rect">
            <a:avLst/>
          </a:prstGeom>
          <a:solidFill>
            <a:srgbClr val="0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34072" y="1700784"/>
            <a:ext cx="1581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T_surge = 15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25712" y="1700784"/>
            <a:ext cx="8046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 buoy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0112" y="1700784"/>
            <a:ext cx="8961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 cluster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5952" y="1700784"/>
            <a:ext cx="8046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4×4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2057400"/>
            <a:ext cx="4526280" cy="36576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34072" y="2066543"/>
            <a:ext cx="1581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B262E"/>
                </a:solidFill>
                <a:latin typeface="Segoe UI"/>
              </a:rPr>
              <a:t>Kx (N/m)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5712" y="2066543"/>
            <a:ext cx="8046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7.1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40112" y="2066543"/>
            <a:ext cx="8961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29.3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5952" y="2066543"/>
            <a:ext cx="8046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117.4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072" y="2432303"/>
            <a:ext cx="1581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B262E"/>
                </a:solidFill>
                <a:latin typeface="Segoe UI"/>
              </a:rPr>
              <a:t>Line k (N/m)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2432303"/>
            <a:ext cx="8046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40112" y="2432303"/>
            <a:ext cx="8961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8.3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5952" y="2432303"/>
            <a:ext cx="8046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33.3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2788920"/>
            <a:ext cx="4526280" cy="36576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34072" y="2798063"/>
            <a:ext cx="1581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B262E"/>
                </a:solidFill>
                <a:latin typeface="Segoe UI"/>
              </a:rPr>
              <a:t>Pretension (N)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2798063"/>
            <a:ext cx="8046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2.2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0112" y="2798063"/>
            <a:ext cx="8961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9.0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45952" y="2798063"/>
            <a:ext cx="8046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36.1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4072" y="3163823"/>
            <a:ext cx="1581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B262E"/>
                </a:solidFill>
                <a:latin typeface="Segoe UI"/>
              </a:rPr>
              <a:t>Max tension (N)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3163823"/>
            <a:ext cx="8046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0112" y="3163823"/>
            <a:ext cx="8961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5952" y="3163823"/>
            <a:ext cx="8046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66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3520439"/>
            <a:ext cx="4526280" cy="36576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34072" y="3529583"/>
            <a:ext cx="1581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B262E"/>
                </a:solidFill>
                <a:latin typeface="Segoe UI"/>
              </a:rPr>
              <a:t>Offset H 0.5 (m)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5712" y="3529583"/>
            <a:ext cx="8046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0.74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40112" y="3529583"/>
            <a:ext cx="8961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0.71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5952" y="3529583"/>
            <a:ext cx="8046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0.71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34072" y="3895344"/>
            <a:ext cx="15819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B262E"/>
                </a:solidFill>
                <a:latin typeface="Segoe UI"/>
              </a:rPr>
              <a:t>Spring stroke (m)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3895344"/>
            <a:ext cx="8046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2.0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0112" y="3895344"/>
            <a:ext cx="89611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45952" y="3895344"/>
            <a:ext cx="8046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B262E"/>
                </a:solidFill>
                <a:latin typeface="Segoe UI"/>
              </a:rPr>
              <a:t>2.0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4389120"/>
            <a:ext cx="4526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>
                <a:solidFill>
                  <a:srgbClr val="0C8B96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1B262E"/>
                </a:solidFill>
                <a:latin typeface="Segoe UI"/>
              </a:rPr>
              <a:t>Attach at the waterline: 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buoy — one collar on the spar; cluster — its 4 spars, one line each; platform — bow + stern rows, 8 spars (bridles).</a:t>
            </a:r>
          </a:p>
          <a:p>
            <a:pPr>
              <a:spcBef>
                <a:spcPts val="100"/>
              </a:spcBef>
              <a:spcAft>
                <a:spcPts val="500"/>
              </a:spcAft>
            </a:pPr>
            <a:r>
              <a:rPr sz="1250">
                <a:solidFill>
                  <a:srgbClr val="0C8B96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1B262E"/>
                </a:solidFill>
                <a:latin typeface="Segoe UI"/>
              </a:rPr>
              <a:t>Anchors on the walls, ±5 m; 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soft linear spring + low-stretch rope; same design scaled by buoy count.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5760720"/>
            <a:ext cx="10607040" cy="64008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5852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B262E"/>
                </a:solidFill>
                <a:latin typeface="Segoe UI"/>
              </a:rPr>
              <a:t>Line stiffness and pretension scale with the article; the geometry, the offset and the ~2 m spring stroke are the same for all three.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VERIFICATION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Checking it on the full FloatSim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Models: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single buoy (6 DOF); cluster = 4 buoys + hub, pinned (yaw-locked KKT joints), 30 DOF; platform = 16 buoys + 4 hubs + deck, 126 DOF. Coupled Capytaine BEM for each.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Mooring as an anisotropic point stiffness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(the deck spring element is isotropic and would add Kx to heave):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788920"/>
            <a:ext cx="9966960" cy="530352"/>
          </a:xfrm>
          <a:prstGeom prst="rect">
            <a:avLst/>
          </a:prstGeom>
          <a:solidFill>
            <a:srgbClr val="14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88920"/>
            <a:ext cx="97840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i="1">
                <a:solidFill>
                  <a:srgbClr val="FFFFFF"/>
                </a:solidFill>
                <a:latin typeface="Consolas"/>
              </a:rPr>
              <a:t>K_moor = Bᵀ diag(Kx, Ky, Kz,geo) B ,   B = [ I  −[r]× ]   at each attachment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Natural periods: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constrained eigenproblem on the joint null space, iterated on A(ω); each mode identified unmoored and tracked into the moored model (MAC ≥ 0.9).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Static drift response: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KKT solve [K Gᵀ; G 0] — offset, deck trim, and each buoy's tilt about its pin.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Attachments compared: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spar top / waterline / CoG depth (buoy); pin plane (hub or deck, +0.72 m) vs spars at the waterline or CoG depth (cluster, platform); platform corners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COUPLED CHECK, T_SURGE = 15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Result: attach at the waterline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oring_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7772400" cy="51137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600200"/>
            <a:ext cx="37490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250">
                <a:solidFill>
                  <a:srgbClr val="0C8B96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1B262E"/>
                </a:solidFill>
                <a:latin typeface="Segoe UI"/>
              </a:rPr>
              <a:t>Heave: 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−0.45 % everywhere (line pretension).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250">
                <a:solidFill>
                  <a:srgbClr val="0C8B96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1B262E"/>
                </a:solidFill>
                <a:latin typeface="Segoe UI"/>
              </a:rPr>
              <a:t>Waterline attachment: 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pitch −0.10 % (buoy), −0.45 % (cluster), −0.36 % (platform); zero trim. The cluster's buoys do not tilt at all: each spar holds its own drift.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250">
                <a:solidFill>
                  <a:srgbClr val="0C8B96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1B262E"/>
                </a:solidFill>
                <a:latin typeface="Segoe UI"/>
              </a:rPr>
              <a:t>Pin plane (deck/hub): 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no trim, but it holds the light deck still → the buoys' tilt mode shifts −8.7 %.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250">
                <a:solidFill>
                  <a:srgbClr val="0C8B96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1B262E"/>
                </a:solidFill>
                <a:latin typeface="Segoe UI"/>
              </a:rPr>
              <a:t>Avoid: 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platform corners only (9° corner tilt) and below the waterline (11°).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250">
                <a:solidFill>
                  <a:srgbClr val="0C8B96"/>
                </a:solidFill>
                <a:latin typeface="Segoe UI"/>
              </a:rPr>
              <a:t>▪  </a:t>
            </a:r>
            <a:r>
              <a:rPr sz="1250" b="1" i="0">
                <a:solidFill>
                  <a:srgbClr val="1B262E"/>
                </a:solidFill>
                <a:latin typeface="Segoe UI"/>
              </a:rPr>
              <a:t>The 3° platform buoy tilt is inherent </a:t>
            </a:r>
            <a:r>
              <a:rPr sz="1250" b="0" i="0">
                <a:solidFill>
                  <a:srgbClr val="1B262E"/>
                </a:solidFill>
                <a:latin typeface="Segoe UI"/>
              </a:rPr>
              <a:t>(drift 0.72 m below each pin), not caused by the mooring.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STIFFNESS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How soft: the surge-period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424160" cy="457200"/>
          </a:xfrm>
          <a:prstGeom prst="rect">
            <a:avLst/>
          </a:prstGeom>
          <a:solidFill>
            <a:srgbClr val="0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792224"/>
            <a:ext cx="29992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T_surge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9352" y="17922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10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2392" y="17922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15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5431" y="17922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20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8471" y="17922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25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1511" y="17922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30 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40280"/>
            <a:ext cx="10424160" cy="45720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249424"/>
            <a:ext cx="29992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B262E"/>
                </a:solidFill>
                <a:latin typeface="Segoe UI"/>
              </a:rPr>
              <a:t>Tilt-mode shift, waterline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2" y="22494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−5.26 %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22494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−2.33 %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5431" y="22494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−1.30 %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2494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−0.83 %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1511" y="22494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−0.58 %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2706624"/>
            <a:ext cx="29992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B262E"/>
                </a:solidFill>
                <a:latin typeface="Segoe UI"/>
              </a:rPr>
              <a:t>Tilt-mode shift, pin plane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27066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−17.62 %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2392" y="27066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−8.75 %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1" y="27066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−5.22 %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27066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−3.42 %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1511" y="27066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−2.40 %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154680"/>
            <a:ext cx="10424160" cy="45720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3163824"/>
            <a:ext cx="29992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B262E"/>
                </a:solidFill>
                <a:latin typeface="Segoe UI"/>
              </a:rPr>
              <a:t>Offset, H = 0.5 m (bound)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9352" y="31638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0.35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2392" y="31638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0.75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1" y="31638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1.30 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1" y="31638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2.02 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11511" y="31638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2.88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" y="3621024"/>
            <a:ext cx="29992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B262E"/>
                </a:solidFill>
                <a:latin typeface="Segoe UI"/>
              </a:rPr>
              <a:t>Offset, H = 0.3 m (bound)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9352" y="36210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0.13 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22392" y="36210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0.28 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85431" y="36210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0.48 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36210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0.75 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11511" y="3621024"/>
            <a:ext cx="13533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B262E"/>
                </a:solidFill>
                <a:latin typeface="Segoe UI"/>
              </a:rPr>
              <a:t>1.07 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3891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15 s is the compromise: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every period shift ≤ 2.4 %, offset &lt; 0.8 m, spring stroke ~2 m.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20 s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halves the tilt-mode shift, at 1.3 m offset and ~3.1 m stroke.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A single bridle at the deck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would need ≥ 25 s for the same effect, with a 2 m offset.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DRIFT, RELATIVE VELOCITY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Refinement: the drift on a moving article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rift_ref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3040"/>
            <a:ext cx="11338560" cy="34575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498348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350">
                <a:solidFill>
                  <a:srgbClr val="0C8B96"/>
                </a:solidFill>
                <a:latin typeface="Segoe UI"/>
              </a:rPr>
              <a:t>▪  </a:t>
            </a:r>
            <a:r>
              <a:rPr sz="1350" b="1" i="0">
                <a:solidFill>
                  <a:srgbClr val="1B262E"/>
                </a:solidFill>
                <a:latin typeface="Segoe UI"/>
              </a:rPr>
              <a:t>Away from resonance </a:t>
            </a:r>
            <a:r>
              <a:rPr sz="1350" b="0" i="0">
                <a:solidFill>
                  <a:srgbClr val="1B262E"/>
                </a:solidFill>
                <a:latin typeface="Segoe UI"/>
              </a:rPr>
              <a:t>the articles move with the water; where the model is valid the drift is ≤ 0.1 / 0.9 / 11 N (buoy / cluster / platform) vs a design bound of 5 / 21 / 84 N.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350">
                <a:solidFill>
                  <a:srgbClr val="0C8B96"/>
                </a:solidFill>
                <a:latin typeface="Segoe UI"/>
              </a:rPr>
              <a:t>▪  </a:t>
            </a:r>
            <a:r>
              <a:rPr sz="1350" b="1" i="0">
                <a:solidFill>
                  <a:srgbClr val="1B262E"/>
                </a:solidFill>
                <a:latin typeface="Segoe UI"/>
              </a:rPr>
              <a:t>Near the buoys' pitch / tilt resonances it reverses </a:t>
            </a:r>
            <a:r>
              <a:rPr sz="1350" b="0" i="0">
                <a:solidFill>
                  <a:srgbClr val="1B262E"/>
                </a:solidFill>
                <a:latin typeface="Segoe UI"/>
              </a:rPr>
              <a:t>(upstream) and can approach the bound's magnitude — with 30°+ buoy tilts, beyond the model's small-angle range (open markers, indicative).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1350">
                <a:solidFill>
                  <a:srgbClr val="0C8B96"/>
                </a:solidFill>
                <a:latin typeface="Segoe UI"/>
              </a:rPr>
              <a:t>▪  </a:t>
            </a:r>
            <a:r>
              <a:rPr sz="1350" b="1" i="0">
                <a:solidFill>
                  <a:srgbClr val="1B262E"/>
                </a:solidFill>
                <a:latin typeface="Segoe UI"/>
              </a:rPr>
              <a:t>Design stays on the bound, both directions: </a:t>
            </a:r>
            <a:r>
              <a:rPr sz="1350" b="0" i="0">
                <a:solidFill>
                  <a:srgbClr val="1B262E"/>
                </a:solidFill>
                <a:latin typeface="Segoe UI"/>
              </a:rPr>
              <a:t>the symmetric X-spread holds the same offset up- or downstream.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FACILITY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How the flume size influences the mooring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3383280" cy="502920"/>
          </a:xfrm>
          <a:prstGeom prst="rect">
            <a:avLst/>
          </a:prstGeom>
          <a:solidFill>
            <a:srgbClr val="0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0136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Segoe UI"/>
              </a:rPr>
              <a:t>Depth  2.7 m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86000"/>
            <a:ext cx="3383280" cy="3749039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0" i="0">
                <a:solidFill>
                  <a:srgbClr val="0C8B9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1B262E"/>
                </a:solidFill>
                <a:latin typeface="Segoe UI"/>
              </a:rPr>
              <a:t>The deep-water field mooring cannot be scaled → equivalent soft mooring.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0C8B9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1B262E"/>
                </a:solidFill>
                <a:latin typeface="Segoe UI"/>
              </a:rPr>
              <a:t>Lines must be horizontal: to a floor anchor 5 m away a line dips ~27°, adding vertical stiffness ≈ 0.3 Kx and pulling the article down.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0C8B9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1B262E"/>
                </a:solidFill>
                <a:latin typeface="Segoe UI"/>
              </a:rPr>
              <a:t>Depth raises long-wave drift (×1.9 at 4 s), but the design drift peaks near 2.2 s where depth adds only ~5 % → not design-driving.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783080"/>
            <a:ext cx="3383280" cy="502920"/>
          </a:xfrm>
          <a:prstGeom prst="rect">
            <a:avLst/>
          </a:prstGeom>
          <a:solidFill>
            <a:srgbClr val="0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0136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Segoe UI"/>
              </a:rPr>
              <a:t>Width  3.66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286000"/>
            <a:ext cx="3383280" cy="3749039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95728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0" i="0">
                <a:solidFill>
                  <a:srgbClr val="0C8B9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1B262E"/>
                </a:solidFill>
                <a:latin typeface="Segoe UI"/>
              </a:rPr>
              <a:t>Sets the X-spread angle (20°): sway stiffness ≈ ⅓ of surge, T_sway ≈ 26 s.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0C8B9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1B262E"/>
                </a:solidFill>
                <a:latin typeface="Segoe UI"/>
              </a:rPr>
              <a:t>A 10 % lateral load moves the platform 0.21 m; wall gap 0.80 m.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0C8B9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1B262E"/>
                </a:solidFill>
                <a:latin typeface="Segoe UI"/>
              </a:rPr>
              <a:t>±10 m anchors would halve the heave coupling but double the sideways excursion → the width fixes the anchors at ~±5 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783080"/>
            <a:ext cx="3383280" cy="502920"/>
          </a:xfrm>
          <a:prstGeom prst="rect">
            <a:avLst/>
          </a:prstGeom>
          <a:solidFill>
            <a:srgbClr val="0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80136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i="0">
                <a:solidFill>
                  <a:srgbClr val="FFFFFF"/>
                </a:solidFill>
                <a:latin typeface="Segoe UI"/>
              </a:rPr>
              <a:t>Length  104 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2286000"/>
            <a:ext cx="3383280" cy="3749039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395728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 b="0" i="0">
                <a:solidFill>
                  <a:srgbClr val="0C8B9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1B262E"/>
                </a:solidFill>
                <a:latin typeface="Segoe UI"/>
              </a:rPr>
              <a:t>Not a constraint: offsets &lt; 0.8 m and a ±5.3 m line footprint fit easily.</a:t>
            </a:r>
          </a:p>
          <a:p>
            <a:pPr>
              <a:spcAft>
                <a:spcPts val="900"/>
              </a:spcAft>
            </a:pPr>
            <a:r>
              <a:rPr sz="1350" b="0" i="0">
                <a:solidFill>
                  <a:srgbClr val="0C8B96"/>
                </a:solidFill>
                <a:latin typeface="Segoe UI"/>
              </a:rPr>
              <a:t>▪  </a:t>
            </a:r>
            <a:r>
              <a:rPr sz="1350" b="0" i="0">
                <a:solidFill>
                  <a:srgbClr val="1B262E"/>
                </a:solidFill>
                <a:latin typeface="Segoe UI"/>
              </a:rPr>
              <a:t>Wave gauges referenced to the mean moored position.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6172200"/>
            <a:ext cx="10607040" cy="50292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6199632"/>
            <a:ext cx="10241280" cy="4480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B262E"/>
                </a:solidFill>
                <a:latin typeface="Segoe UI"/>
              </a:rPr>
              <a:t>The width is the binding constraint (anchor spread and lateral clearance); the depth only forbids short floor-anchored 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CONFIDENCE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Limits, and how we verify in the flume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Drift is a bound: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fixed bodies, no shielding, steepest waves. The moving-body refinement is lower off-resonance but indicative near resonance (large tilts).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Linear check: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eigen-analysis + static equilibrium; regular waves give only a mean drift (irregular waves would add slow drift near T_surge).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Deep-water BEM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for the coupled models (as the field site); the flume depth effect is covered in the sidewall study.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In the flume: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static pull test (stiffness, pretension) before testing; load cells on the four lines measure the real mean drift; the measured mooring goes into the numerical model.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Open with HWRL: </a:t>
            </a:r>
            <a:r>
              <a:rPr sz="1500" b="0" i="0">
                <a:solidFill>
                  <a:srgbClr val="1B262E"/>
                </a:solidFill>
                <a:latin typeface="Segoe UI"/>
              </a:rPr>
              <a:t>wall anchor points at the waterline (or a beam / the carriage), springs with ~2 m linear stroke, load cells, motion-tracking coverage.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500">
                <a:solidFill>
                  <a:srgbClr val="0C8B96"/>
                </a:solidFill>
                <a:latin typeface="Segoe UI"/>
              </a:rPr>
              <a:t>▪  </a:t>
            </a:r>
            <a:r>
              <a:rPr sz="1500" b="1" i="0">
                <a:solidFill>
                  <a:srgbClr val="1B262E"/>
                </a:solidFill>
                <a:latin typeface="Segoe UI"/>
              </a:rPr>
              <a:t>Test-matrix note: </a:t>
            </a:r>
            <a:r>
              <a:rPr sz="1500" b="0" i="0">
                <a:solidFill>
                  <a:srgbClr val="B2432C"/>
                </a:solidFill>
                <a:latin typeface="Segoe UI"/>
              </a:rPr>
              <a:t>in H = 0.5 m waves near the pinned buoys' tilt resonance (2.6–3.0 s) the linear model predicts 30°+ buoy tilts — check the gimbal range.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8B96"/>
                </a:solidFill>
                <a:latin typeface="Segoe U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A38"/>
                </a:solidFill>
                <a:latin typeface="Segoe UI"/>
              </a:rPr>
              <a:t>Answer, per article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35024"/>
            <a:ext cx="1737360" cy="45720"/>
          </a:xfrm>
          <a:prstGeom prst="rect">
            <a:avLst/>
          </a:prstGeom>
          <a:solidFill>
            <a:srgbClr val="0C8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91640"/>
            <a:ext cx="10698480" cy="457200"/>
          </a:xfrm>
          <a:prstGeom prst="rect">
            <a:avLst/>
          </a:prstGeom>
          <a:solidFill>
            <a:srgbClr val="0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700784"/>
            <a:ext cx="28163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6472" y="1700784"/>
            <a:ext cx="22677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1 buoy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1700784"/>
            <a:ext cx="25420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1 cluster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5672" y="1700784"/>
            <a:ext cx="263347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Segoe UI"/>
              </a:rPr>
              <a:t>4×4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148840"/>
            <a:ext cx="10698480" cy="45720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157984"/>
            <a:ext cx="28163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B262E"/>
                </a:solidFill>
                <a:latin typeface="Segoe UI"/>
              </a:rPr>
              <a:t>Lines attach at (SWL)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2157984"/>
            <a:ext cx="22677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one collar on the spar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2157984"/>
            <a:ext cx="25420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its 4 spars, one line 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5672" y="2157984"/>
            <a:ext cx="263347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bow + stern rows, 8 spars (bridles)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2615184"/>
            <a:ext cx="28163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B262E"/>
                </a:solidFill>
                <a:latin typeface="Segoe UI"/>
              </a:rPr>
              <a:t>Per line: k / pretension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2615184"/>
            <a:ext cx="22677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2.0 N/m / 2 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2615184"/>
            <a:ext cx="25420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8.3 N/m / 9 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2615184"/>
            <a:ext cx="263347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33.3 N/m / 36 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063240"/>
            <a:ext cx="10698480" cy="45720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072384"/>
            <a:ext cx="28163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B262E"/>
                </a:solidFill>
                <a:latin typeface="Segoe UI"/>
              </a:rPr>
              <a:t>Moored surge period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6472" y="3072384"/>
            <a:ext cx="22677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15.0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3072384"/>
            <a:ext cx="25420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15.4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672" y="3072384"/>
            <a:ext cx="263347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15.8 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529584"/>
            <a:ext cx="28163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B262E"/>
                </a:solidFill>
                <a:latin typeface="Segoe UI"/>
              </a:rPr>
              <a:t>Heave period shift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6472" y="3529584"/>
            <a:ext cx="22677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−0.43 %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3912" y="3529584"/>
            <a:ext cx="25420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−0.45 %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5672" y="3529584"/>
            <a:ext cx="263347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−0.45 %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977639"/>
            <a:ext cx="10698480" cy="45720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3986783"/>
            <a:ext cx="28163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B262E"/>
                </a:solidFill>
                <a:latin typeface="Segoe UI"/>
              </a:rPr>
              <a:t>Pitch period shift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6472" y="3986783"/>
            <a:ext cx="22677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−0.10 %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3986783"/>
            <a:ext cx="25420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−0.45 %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5672" y="3986783"/>
            <a:ext cx="263347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−0.36 %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4443983"/>
            <a:ext cx="28163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B262E"/>
                </a:solidFill>
                <a:latin typeface="Segoe UI"/>
              </a:rPr>
              <a:t>Buoy-tilt mode shift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76472" y="4443983"/>
            <a:ext cx="22677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n/a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53912" y="4443983"/>
            <a:ext cx="25420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−2.38 %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05672" y="4443983"/>
            <a:ext cx="263347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−2.33 %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892040"/>
            <a:ext cx="10698480" cy="45720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4901183"/>
            <a:ext cx="28163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B262E"/>
                </a:solidFill>
                <a:latin typeface="Segoe UI"/>
              </a:rPr>
              <a:t>Offset, H 0.5 / 0.3 m (bound)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76472" y="4901183"/>
            <a:ext cx="22677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0.74 / 0.27 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3912" y="4901183"/>
            <a:ext cx="25420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0.71 / 0.27 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05672" y="4901183"/>
            <a:ext cx="263347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0.75 / 0.28 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" y="5358383"/>
            <a:ext cx="28163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B262E"/>
                </a:solidFill>
                <a:latin typeface="Segoe UI"/>
              </a:rPr>
              <a:t>Trim / largest buoy tilt (H 0.5)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6472" y="5358383"/>
            <a:ext cx="22677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0° / 0.0°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53912" y="5358383"/>
            <a:ext cx="25420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0° / 0.0°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05672" y="5358383"/>
            <a:ext cx="263347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0">
                <a:solidFill>
                  <a:srgbClr val="1B262E"/>
                </a:solidFill>
                <a:latin typeface="Segoe UI"/>
              </a:rPr>
              <a:t>0° / 3.0°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5989320"/>
            <a:ext cx="10607040" cy="59436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6016752"/>
            <a:ext cx="10241280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1B262E"/>
                </a:solidFill>
                <a:latin typeface="Segoe UI"/>
              </a:rPr>
              <a:t>One design, scaled by buoy count: four soft waterline lines, T_surge ≈ 15 s, wall anchors ±5 m. </a:t>
            </a:r>
            <a:r>
              <a:rPr sz="1200" b="0" i="0">
                <a:solidFill>
                  <a:srgbClr val="1B262E"/>
                </a:solidFill>
                <a:latin typeface="Segoe UI"/>
              </a:rPr>
              <a:t>Decay tests can run with the mooring connected.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