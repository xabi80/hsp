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846320"/>
            <a:ext cx="12191695" cy="2011680"/>
          </a:xfrm>
          <a:prstGeom prst="rect">
            <a:avLst/>
          </a:prstGeom>
          <a:solidFill>
            <a:srgbClr val="14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005840"/>
            <a:ext cx="106070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A5560"/>
                </a:solidFill>
                <a:latin typeface="Segoe UI"/>
              </a:rPr>
              <a:t>PHASE-3 PLATFORM · OSU LARGE WAVE FLUME · TEAMER REVIEW RESPONSE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6984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42A38"/>
                </a:solidFill>
                <a:latin typeface="Segoe UI"/>
              </a:rPr>
              <a:t>Sidewall effects on the free-decay
and wave-sweep campaigns</a:t>
            </a:r>
          </a:p>
          <a:p>
            <a:pPr>
              <a:spcBef>
                <a:spcPts val="1000"/>
              </a:spcBef>
            </a:pPr>
            <a:r>
              <a:rPr sz="1900">
                <a:solidFill>
                  <a:srgbClr val="51606A"/>
                </a:solidFill>
                <a:latin typeface="Segoe UI"/>
              </a:rPr>
              <a:t>Potential-flow BEM with explicit flume walls (method of images)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5074920"/>
            <a:ext cx="105156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FFFFFF"/>
                </a:solidFill>
                <a:latin typeface="Segoe UI"/>
              </a:rPr>
              <a:t>Finding: sidewalls do not corrupt the dynamic data. Free-decay periods shift &lt; 0.6 %; the heave response through resonance shifts ≤ 3 % at the 2.7 m depth.</a:t>
            </a:r>
          </a:p>
          <a:p>
            <a:r>
              <a:rPr sz="1300">
                <a:solidFill>
                  <a:srgbClr val="ECF4F5"/>
                </a:solidFill>
                <a:latin typeface="Segoe UI"/>
              </a:rPr>
              <a:t>The dominant flume artifact is the finite 2.7 m depth, not the walls. 16-buoy platform (4 clusters × 4), 2.5 m to buoy centres.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C8B96"/>
                </a:solidFill>
                <a:latin typeface="Segoe UI"/>
              </a:rPr>
              <a:t>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21792"/>
            <a:ext cx="10972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1">
                <a:solidFill>
                  <a:srgbClr val="142A38"/>
                </a:solidFill>
                <a:latin typeface="Segoe UI"/>
              </a:rPr>
              <a:t>Reviewer claim and our finding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35024"/>
            <a:ext cx="1737360" cy="45720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07040" cy="1005840"/>
          </a:xfrm>
          <a:prstGeom prst="rect">
            <a:avLst/>
          </a:prstGeom>
          <a:solidFill>
            <a:srgbClr val="EC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645920"/>
            <a:ext cx="101498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00" i="1">
                <a:solidFill>
                  <a:srgbClr val="0A5560"/>
                </a:solidFill>
                <a:latin typeface="Segoe UI"/>
              </a:rPr>
              <a:t>“Phase 3 platform (2.50 m) inside HWRL's 3.67 m flume leaves 0.6 m side clearance, inducing severe sidewall reflections that will corrupt dynamic data.”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78892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1200"/>
              </a:spcAft>
            </a:pPr>
            <a:r>
              <a:rPr sz="1700">
                <a:solidFill>
                  <a:srgbClr val="0C8B96"/>
                </a:solidFill>
                <a:latin typeface="Segoe UI"/>
              </a:rPr>
              <a:t>▪  </a:t>
            </a:r>
            <a:r>
              <a:rPr sz="1700" b="0" i="0">
                <a:solidFill>
                  <a:srgbClr val="1B262E"/>
                </a:solidFill>
                <a:latin typeface="Segoe UI"/>
              </a:rPr>
              <a:t>Severe reflections are the correct concern for a strong wavemaker or a body that spans the tank. The Phase-3 platform is neither, and we show it quantitatively.</a:t>
            </a:r>
          </a:p>
          <a:p>
            <a:pPr>
              <a:spcBef>
                <a:spcPts val="100"/>
              </a:spcBef>
              <a:spcAft>
                <a:spcPts val="1200"/>
              </a:spcAft>
            </a:pPr>
            <a:r>
              <a:rPr sz="1700">
                <a:solidFill>
                  <a:srgbClr val="0C8B96"/>
                </a:solidFill>
                <a:latin typeface="Segoe UI"/>
              </a:rPr>
              <a:t>▪  </a:t>
            </a:r>
            <a:r>
              <a:rPr sz="1700" b="1" i="0">
                <a:solidFill>
                  <a:srgbClr val="1B262E"/>
                </a:solidFill>
                <a:latin typeface="Segoe UI"/>
              </a:rPr>
              <a:t>Method: </a:t>
            </a:r>
            <a:r>
              <a:rPr sz="1700" b="0" i="0">
                <a:solidFill>
                  <a:srgbClr val="1B262E"/>
                </a:solidFill>
                <a:latin typeface="Segoe UI"/>
              </a:rPr>
              <a:t>Capytaine potential-flow BEM with the LWF walls modelled by the method of images; every comparison is </a:t>
            </a:r>
            <a:r>
              <a:rPr sz="1700" b="1" i="0">
                <a:solidFill>
                  <a:srgbClr val="1B262E"/>
                </a:solidFill>
                <a:latin typeface="Segoe UI"/>
              </a:rPr>
              <a:t>walls-in vs walls-out at the same depth</a:t>
            </a:r>
            <a:r>
              <a:rPr sz="1700" b="0" i="0">
                <a:solidFill>
                  <a:srgbClr val="1B262E"/>
                </a:solidFill>
                <a:latin typeface="Segoe UI"/>
              </a:rPr>
              <a:t>.</a:t>
            </a:r>
          </a:p>
          <a:p>
            <a:pPr>
              <a:spcBef>
                <a:spcPts val="100"/>
              </a:spcBef>
              <a:spcAft>
                <a:spcPts val="1200"/>
              </a:spcAft>
            </a:pPr>
            <a:r>
              <a:rPr sz="1700">
                <a:solidFill>
                  <a:srgbClr val="0C8B96"/>
                </a:solidFill>
                <a:latin typeface="Segoe UI"/>
              </a:rPr>
              <a:t>▪  </a:t>
            </a:r>
            <a:r>
              <a:rPr sz="1700" b="1" i="0">
                <a:solidFill>
                  <a:srgbClr val="1B262E"/>
                </a:solidFill>
                <a:latin typeface="Segoe UI"/>
              </a:rPr>
              <a:t>Finding: </a:t>
            </a:r>
            <a:r>
              <a:rPr sz="1700" b="0" i="0">
                <a:solidFill>
                  <a:srgbClr val="1B262E"/>
                </a:solidFill>
                <a:latin typeface="Segoe UI"/>
              </a:rPr>
              <a:t>free-decay periods shift &lt; 0.6 %; the heave response through resonance shifts ≤ 3 % at 2.7 m. </a:t>
            </a:r>
            <a:r>
              <a:rPr sz="1700" b="1" i="0">
                <a:solidFill>
                  <a:srgbClr val="0A5560"/>
                </a:solidFill>
                <a:latin typeface="Segoe UI"/>
              </a:rPr>
              <a:t>The larger flume effect is the finite depth — a known, correctable facility property, not a sidewall artifact.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C8B96"/>
                </a:solidFill>
                <a:latin typeface="Segoe UI"/>
              </a:rPr>
              <a:t>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21792"/>
            <a:ext cx="10972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1">
                <a:solidFill>
                  <a:srgbClr val="142A38"/>
                </a:solidFill>
                <a:latin typeface="Segoe UI"/>
              </a:rPr>
              <a:t>Configuration and method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35024"/>
            <a:ext cx="1737360" cy="45720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lume_block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600200"/>
            <a:ext cx="3953807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1600200"/>
            <a:ext cx="5943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1700">
                <a:solidFill>
                  <a:srgbClr val="0C8B96"/>
                </a:solidFill>
                <a:latin typeface="Segoe UI"/>
              </a:rPr>
              <a:t>▪  </a:t>
            </a:r>
            <a:r>
              <a:rPr sz="1700" b="1" i="0">
                <a:solidFill>
                  <a:srgbClr val="1B262E"/>
                </a:solidFill>
                <a:latin typeface="Segoe UI"/>
              </a:rPr>
              <a:t>Test article: </a:t>
            </a:r>
            <a:r>
              <a:rPr sz="1700" b="0" i="0">
                <a:solidFill>
                  <a:srgbClr val="1B262E"/>
                </a:solidFill>
                <a:latin typeface="Segoe UI"/>
              </a:rPr>
              <a:t>16-buoy platform — 4 clusters × 4 buoys (square), articulated (gimbal buoy→hub, hub→deck).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1700">
                <a:solidFill>
                  <a:srgbClr val="0C8B96"/>
                </a:solidFill>
                <a:latin typeface="Segoe UI"/>
              </a:rPr>
              <a:t>▪  </a:t>
            </a:r>
            <a:r>
              <a:rPr sz="1700" b="1" i="0">
                <a:solidFill>
                  <a:srgbClr val="1B262E"/>
                </a:solidFill>
                <a:latin typeface="Segoe UI"/>
              </a:rPr>
              <a:t>Hull: </a:t>
            </a:r>
            <a:r>
              <a:rPr sz="1700" b="0" i="0">
                <a:solidFill>
                  <a:srgbClr val="1B262E"/>
                </a:solidFill>
                <a:latin typeface="Segoe UI"/>
              </a:rPr>
              <a:t>Phase-1 decay-correlated spar + heave plate (T ≈ 2.6 s, ζ ≈ 13 %).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1700">
                <a:solidFill>
                  <a:srgbClr val="0C8B96"/>
                </a:solidFill>
                <a:latin typeface="Segoe UI"/>
              </a:rPr>
              <a:t>▪  </a:t>
            </a:r>
            <a:r>
              <a:rPr sz="1700" b="1" i="0">
                <a:solidFill>
                  <a:srgbClr val="1B262E"/>
                </a:solidFill>
                <a:latin typeface="Segoe UI"/>
              </a:rPr>
              <a:t>Size: </a:t>
            </a:r>
            <a:r>
              <a:rPr sz="1700" b="0" i="0">
                <a:solidFill>
                  <a:srgbClr val="1B262E"/>
                </a:solidFill>
                <a:latin typeface="Segoe UI"/>
              </a:rPr>
              <a:t>2.5 m to buoy centres; outer span 2.79 m </a:t>
            </a:r>
            <a:r>
              <a:rPr sz="1700" b="1" i="0">
                <a:solidFill>
                  <a:srgbClr val="1B262E"/>
                </a:solidFill>
                <a:latin typeface="Segoe UI"/>
              </a:rPr>
              <a:t>(76 % of width)</a:t>
            </a:r>
            <a:r>
              <a:rPr sz="1700" b="0" i="0">
                <a:solidFill>
                  <a:srgbClr val="1B262E"/>
                </a:solidFill>
                <a:latin typeface="Segoe UI"/>
              </a:rPr>
              <a:t>; clearance ~0.44 m/side.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1700">
                <a:solidFill>
                  <a:srgbClr val="0C8B96"/>
                </a:solidFill>
                <a:latin typeface="Segoe UI"/>
              </a:rPr>
              <a:t>▪  </a:t>
            </a:r>
            <a:r>
              <a:rPr sz="1700" b="1" i="0">
                <a:solidFill>
                  <a:srgbClr val="1B262E"/>
                </a:solidFill>
                <a:latin typeface="Segoe UI"/>
              </a:rPr>
              <a:t>Facility: </a:t>
            </a:r>
            <a:r>
              <a:rPr sz="1700" b="0" i="0">
                <a:solidFill>
                  <a:srgbClr val="1B262E"/>
                </a:solidFill>
                <a:latin typeface="Segoe UI"/>
              </a:rPr>
              <a:t>OSU LWF, W = 3.66 m, h = 2.7 m.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1700">
                <a:solidFill>
                  <a:srgbClr val="0C8B96"/>
                </a:solidFill>
                <a:latin typeface="Segoe UI"/>
              </a:rPr>
              <a:t>▪  </a:t>
            </a:r>
            <a:r>
              <a:rPr sz="1700" b="1" i="0">
                <a:solidFill>
                  <a:srgbClr val="1B262E"/>
                </a:solidFill>
                <a:latin typeface="Segoe UI"/>
              </a:rPr>
              <a:t>Walls: </a:t>
            </a:r>
            <a:r>
              <a:rPr sz="1700" b="0" i="0">
                <a:solidFill>
                  <a:srgbClr val="1B262E"/>
                </a:solidFill>
                <a:latin typeface="Segoe UI"/>
              </a:rPr>
              <a:t>method of images (mirror across y = ±W/2, ~3 levels).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1700">
                <a:solidFill>
                  <a:srgbClr val="0C8B96"/>
                </a:solidFill>
                <a:latin typeface="Segoe UI"/>
              </a:rPr>
              <a:t>▪  </a:t>
            </a:r>
            <a:r>
              <a:rPr sz="1700" b="1" i="0">
                <a:solidFill>
                  <a:srgbClr val="1B262E"/>
                </a:solidFill>
                <a:latin typeface="Segoe UI"/>
              </a:rPr>
              <a:t>Depth: </a:t>
            </a:r>
            <a:r>
              <a:rPr sz="1400" b="0" i="0">
                <a:solidFill>
                  <a:srgbClr val="1B262E"/>
                </a:solidFill>
                <a:latin typeface="Segoe UI"/>
              </a:rPr>
              <a:t>coupled/articulated at deep water (free-decay is depth-robust); the depth-sensitive wave response is carried by the native-2.7 m frequency-domain + single-DOF models.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1700">
                <a:solidFill>
                  <a:srgbClr val="0C8B96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51606A"/>
                </a:solidFill>
                <a:latin typeface="Segoe UI"/>
              </a:rPr>
              <a:t>Reviewer's 0.6 m assumes 2.50 m is the outer extent; it is the buoy-centre circle, so the as-built clearance is the tighter ~0.44 m analysed here.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C8B96"/>
                </a:solidFill>
                <a:latin typeface="Segoe UI"/>
              </a:rPr>
              <a:t>MECHANISM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21792"/>
            <a:ext cx="10972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1">
                <a:solidFill>
                  <a:srgbClr val="142A38"/>
                </a:solidFill>
                <a:latin typeface="Segoe UI"/>
              </a:rPr>
              <a:t>Physical basis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35024"/>
            <a:ext cx="1737360" cy="45720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1600"/>
              </a:spcAft>
            </a:pPr>
            <a:r>
              <a:rPr sz="1700">
                <a:solidFill>
                  <a:srgbClr val="0C8B96"/>
                </a:solidFill>
                <a:latin typeface="Segoe UI"/>
              </a:rPr>
              <a:t>▪  </a:t>
            </a:r>
            <a:r>
              <a:rPr sz="1700" b="1" i="0">
                <a:solidFill>
                  <a:srgbClr val="0A5560"/>
                </a:solidFill>
                <a:latin typeface="Segoe UI"/>
              </a:rPr>
              <a:t>Free-decay — weak radiator. </a:t>
            </a:r>
            <a:r>
              <a:rPr sz="1700" b="0" i="0">
                <a:solidFill>
                  <a:srgbClr val="1B262E"/>
                </a:solidFill>
                <a:latin typeface="Segoe UI"/>
              </a:rPr>
              <a:t>Heave radiation damping is only </a:t>
            </a:r>
            <a:r>
              <a:rPr sz="1700" b="1" i="0">
                <a:solidFill>
                  <a:srgbClr val="1B262E"/>
                </a:solidFill>
                <a:latin typeface="Segoe UI"/>
              </a:rPr>
              <a:t>~3.5 % of the total</a:t>
            </a:r>
            <a:r>
              <a:rPr sz="1700" b="0" i="0">
                <a:solidFill>
                  <a:srgbClr val="1B262E"/>
                </a:solidFill>
                <a:latin typeface="Segoe UI"/>
              </a:rPr>
              <a:t> (the rest is viscous drag); the walls can perturb only that small radiated part, so the natural period and damping barely move. This is depth-robust.</a:t>
            </a:r>
          </a:p>
          <a:p>
            <a:pPr>
              <a:spcBef>
                <a:spcPts val="100"/>
              </a:spcBef>
              <a:spcAft>
                <a:spcPts val="1600"/>
              </a:spcAft>
            </a:pPr>
            <a:r>
              <a:rPr sz="1700">
                <a:solidFill>
                  <a:srgbClr val="0C8B96"/>
                </a:solidFill>
                <a:latin typeface="Segoe UI"/>
              </a:rPr>
              <a:t>▪  </a:t>
            </a:r>
            <a:r>
              <a:rPr sz="1700" b="1" i="0">
                <a:solidFill>
                  <a:srgbClr val="0A5560"/>
                </a:solidFill>
                <a:latin typeface="Segoe UI"/>
              </a:rPr>
              <a:t>Wave response — sub-cut-on, but depth-sensitive. </a:t>
            </a:r>
            <a:r>
              <a:rPr sz="1700" b="0" i="0">
                <a:solidFill>
                  <a:srgbClr val="1B262E"/>
                </a:solidFill>
                <a:latin typeface="Segoe UI"/>
              </a:rPr>
              <a:t>A corrupting cross-flume standing wave forms only at the transverse cut-ons (next slide); the operating band is below the first one. The residual wall effect on wave loads is a </a:t>
            </a:r>
            <a:r>
              <a:rPr sz="1700" b="1" i="0">
                <a:solidFill>
                  <a:srgbClr val="1B262E"/>
                </a:solidFill>
                <a:latin typeface="Segoe UI"/>
              </a:rPr>
              <a:t>diffraction/blockage</a:t>
            </a:r>
            <a:r>
              <a:rPr sz="1700" b="0" i="0">
                <a:solidFill>
                  <a:srgbClr val="1B262E"/>
                </a:solidFill>
                <a:latin typeface="Segoe UI"/>
              </a:rPr>
              <a:t> effect that grows with wavelength and shallowness — hence assessed at 2.7 m.</a:t>
            </a:r>
          </a:p>
          <a:p>
            <a:pPr>
              <a:spcBef>
                <a:spcPts val="100"/>
              </a:spcBef>
              <a:spcAft>
                <a:spcPts val="1600"/>
              </a:spcAft>
            </a:pPr>
            <a:r>
              <a:rPr sz="1700">
                <a:solidFill>
                  <a:srgbClr val="0C8B96"/>
                </a:solidFill>
                <a:latin typeface="Segoe UI"/>
              </a:rPr>
              <a:t>▪  </a:t>
            </a:r>
            <a:r>
              <a:rPr sz="1700" b="1" i="0">
                <a:solidFill>
                  <a:srgbClr val="0A5560"/>
                </a:solidFill>
                <a:latin typeface="Segoe UI"/>
              </a:rPr>
              <a:t>Porous, does not span the tank. </a:t>
            </a:r>
            <a:r>
              <a:rPr sz="1700" b="0" i="0">
                <a:solidFill>
                  <a:srgbClr val="1B262E"/>
                </a:solidFill>
                <a:latin typeface="Segoe UI"/>
              </a:rPr>
              <a:t>Water passes between the buoys and runs off along the 104 m length; only the cross-flume direction is bounded.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C8B96"/>
                </a:solidFill>
                <a:latin typeface="Segoe UI"/>
              </a:rPr>
              <a:t>RING EFFECT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21792"/>
            <a:ext cx="10972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1">
                <a:solidFill>
                  <a:srgbClr val="142A38"/>
                </a:solidFill>
                <a:latin typeface="Segoe UI"/>
              </a:rPr>
              <a:t>The flume “ring” — transverse cut-on modes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35024"/>
            <a:ext cx="1737360" cy="45720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ring_mod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1554480"/>
            <a:ext cx="10058400" cy="2966171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051560" y="4297680"/>
            <a:ext cx="10058400" cy="512064"/>
          </a:xfrm>
          <a:prstGeom prst="rect">
            <a:avLst/>
          </a:prstGeom>
          <a:solidFill>
            <a:srgbClr val="14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4297680"/>
            <a:ext cx="987552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i="1">
                <a:solidFill>
                  <a:srgbClr val="FFFFFF"/>
                </a:solidFill>
                <a:latin typeface="Consolas"/>
              </a:rPr>
              <a:t>T_n = 2π / √( g·k_n·tanh(k_n·h) ),  k_n = nπ/W   →   T_1,2,3 = 2.19 / 1.53 / 1.25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9377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1700">
                <a:solidFill>
                  <a:srgbClr val="0C8B96"/>
                </a:solidFill>
                <a:latin typeface="Segoe UI"/>
              </a:rPr>
              <a:t>▪  </a:t>
            </a:r>
            <a:r>
              <a:rPr sz="1400" b="0" i="0">
                <a:solidFill>
                  <a:srgbClr val="1B262E"/>
                </a:solidFill>
                <a:latin typeface="Segoe UI"/>
              </a:rPr>
              <a:t>Between the side walls the water sloshes across the width like a bathtub; these transverse modes have fixed (nearly depth-independent) cut-on periods set by W. 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1700">
                <a:solidFill>
                  <a:srgbClr val="0C8B96"/>
                </a:solidFill>
                <a:latin typeface="Segoe UI"/>
              </a:rPr>
              <a:t>▪  </a:t>
            </a:r>
            <a:r>
              <a:rPr sz="1400" b="0" i="0">
                <a:solidFill>
                  <a:srgbClr val="1B262E"/>
                </a:solidFill>
                <a:latin typeface="Segoe UI"/>
              </a:rPr>
              <a:t>Below T₁ = 2.19 s (incl. the ~2.6 s heave): the modes are </a:t>
            </a:r>
            <a:r>
              <a:rPr sz="1400" b="1" i="0">
                <a:solidFill>
                  <a:srgbClr val="0A5560"/>
                </a:solidFill>
                <a:latin typeface="Segoe UI"/>
              </a:rPr>
              <a:t>evanescent</a:t>
            </a:r>
            <a:r>
              <a:rPr sz="1400" b="0" i="0">
                <a:solidFill>
                  <a:srgbClr val="1B262E"/>
                </a:solidFill>
                <a:latin typeface="Segoe UI"/>
              </a:rPr>
              <a:t> — they decay away from the body and cannot ring. Even at the cut-ons the weak scattering keeps the effect bounded (~±6 %); we skip those periods in the matrix.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C8B96"/>
                </a:solidFill>
                <a:latin typeface="Segoe UI"/>
              </a:rPr>
              <a:t>RESULTS 1/4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21792"/>
            <a:ext cx="10972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1">
                <a:solidFill>
                  <a:srgbClr val="142A38"/>
                </a:solidFill>
                <a:latin typeface="Segoe UI"/>
              </a:rPr>
              <a:t>Free-decay results (depth-robust)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35024"/>
            <a:ext cx="1737360" cy="45720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05840" y="1828800"/>
            <a:ext cx="10241280" cy="402336"/>
          </a:xfrm>
          <a:prstGeom prst="rect">
            <a:avLst/>
          </a:prstGeom>
          <a:solidFill>
            <a:srgbClr val="0A5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8992" y="1847088"/>
            <a:ext cx="3730752" cy="38404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Segoe UI"/>
              </a:rPr>
              <a:t>Quantity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19472" y="1847088"/>
            <a:ext cx="3547872" cy="38404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onsolas"/>
              </a:rPr>
              <a:t>walls out → walls 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77072" y="1847088"/>
            <a:ext cx="2633472" cy="38404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onsolas"/>
              </a:rPr>
              <a:t>wall effect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0" y="2231136"/>
            <a:ext cx="10241280" cy="402336"/>
          </a:xfrm>
          <a:prstGeom prst="rect">
            <a:avLst/>
          </a:prstGeom>
          <a:solidFill>
            <a:srgbClr val="EC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992" y="2249424"/>
            <a:ext cx="3730752" cy="38404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500" b="0">
                <a:solidFill>
                  <a:srgbClr val="1B262E"/>
                </a:solidFill>
                <a:latin typeface="Segoe UI"/>
              </a:rPr>
              <a:t>Heave natural period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19472" y="2249424"/>
            <a:ext cx="3547872" cy="38404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500" b="0">
                <a:solidFill>
                  <a:srgbClr val="1B262E"/>
                </a:solidFill>
                <a:latin typeface="Consolas"/>
              </a:rPr>
              <a:t>2.607 → 2.593 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77072" y="2249424"/>
            <a:ext cx="2633472" cy="38404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500" b="0">
                <a:solidFill>
                  <a:srgbClr val="1B262E"/>
                </a:solidFill>
                <a:latin typeface="Consolas"/>
              </a:rPr>
              <a:t>-0.55%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2651760"/>
            <a:ext cx="3730752" cy="38404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500" b="0">
                <a:solidFill>
                  <a:srgbClr val="1B262E"/>
                </a:solidFill>
                <a:latin typeface="Segoe UI"/>
              </a:rPr>
              <a:t>Heave damping 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19472" y="2651760"/>
            <a:ext cx="3547872" cy="38404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500" b="0">
                <a:solidFill>
                  <a:srgbClr val="1B262E"/>
                </a:solidFill>
                <a:latin typeface="Consolas"/>
              </a:rPr>
              <a:t>6.4% → 6.4%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7072" y="2651760"/>
            <a:ext cx="2633472" cy="38404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500" b="0">
                <a:solidFill>
                  <a:srgbClr val="1B262E"/>
                </a:solidFill>
                <a:latin typeface="Consolas"/>
              </a:rPr>
              <a:t>unchanged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05840" y="3035808"/>
            <a:ext cx="10241280" cy="402336"/>
          </a:xfrm>
          <a:prstGeom prst="rect">
            <a:avLst/>
          </a:prstGeom>
          <a:solidFill>
            <a:srgbClr val="EC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78992" y="3054096"/>
            <a:ext cx="3730752" cy="38404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500" b="0">
                <a:solidFill>
                  <a:srgbClr val="1B262E"/>
                </a:solidFill>
                <a:latin typeface="Segoe UI"/>
              </a:rPr>
              <a:t>Buoy gimbal tilt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19472" y="3054096"/>
            <a:ext cx="3547872" cy="38404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500" b="0">
                <a:solidFill>
                  <a:srgbClr val="1B262E"/>
                </a:solidFill>
                <a:latin typeface="Consolas"/>
              </a:rPr>
              <a:t>0.0007 → 0.0009 rad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77072" y="3054096"/>
            <a:ext cx="2633472" cy="38404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500" b="0">
                <a:solidFill>
                  <a:srgbClr val="1B262E"/>
                </a:solidFill>
                <a:latin typeface="Consolas"/>
              </a:rPr>
              <a:t>~0 (negligible)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370332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1200"/>
              </a:spcAft>
            </a:pPr>
            <a:r>
              <a:rPr sz="1700">
                <a:solidFill>
                  <a:srgbClr val="0C8B96"/>
                </a:solidFill>
                <a:latin typeface="Segoe UI"/>
              </a:rPr>
              <a:t>▪  </a:t>
            </a:r>
            <a:r>
              <a:rPr sz="1700" b="0" i="0">
                <a:solidFill>
                  <a:srgbClr val="1B262E"/>
                </a:solidFill>
                <a:latin typeface="Segoe UI"/>
              </a:rPr>
              <a:t>Full articulated 21-body FloatSim (real quadratic drag, KKT gimbal joints), walls-in vs walls-out.</a:t>
            </a:r>
          </a:p>
          <a:p>
            <a:pPr>
              <a:spcBef>
                <a:spcPts val="100"/>
              </a:spcBef>
              <a:spcAft>
                <a:spcPts val="1200"/>
              </a:spcAft>
            </a:pPr>
            <a:r>
              <a:rPr sz="1700">
                <a:solidFill>
                  <a:srgbClr val="0C8B96"/>
                </a:solidFill>
                <a:latin typeface="Segoe UI"/>
              </a:rPr>
              <a:t>▪  </a:t>
            </a:r>
            <a:r>
              <a:rPr sz="1700" b="0" i="0">
                <a:solidFill>
                  <a:srgbClr val="1B262E"/>
                </a:solidFill>
                <a:latin typeface="Segoe UI"/>
              </a:rPr>
              <a:t>The period shift is </a:t>
            </a:r>
            <a:r>
              <a:rPr sz="1700" b="1" i="0">
                <a:solidFill>
                  <a:srgbClr val="0A5560"/>
                </a:solidFill>
                <a:latin typeface="Segoe UI"/>
              </a:rPr>
              <a:t>~20× smaller than the ±(3–5) % scatter</a:t>
            </a:r>
            <a:r>
              <a:rPr sz="1700" b="0" i="0">
                <a:solidFill>
                  <a:srgbClr val="1B262E"/>
                </a:solidFill>
                <a:latin typeface="Segoe UI"/>
              </a:rPr>
              <a:t> of a physical free-decay test; damping is viscous-dominated and unchanged. Radiation is depth-robust, so deep-water modelling is valid here.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C8B96"/>
                </a:solidFill>
                <a:latin typeface="Segoe UI"/>
              </a:rPr>
              <a:t>RESULTS 2/4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21792"/>
            <a:ext cx="10972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1">
                <a:solidFill>
                  <a:srgbClr val="142A38"/>
                </a:solidFill>
                <a:latin typeface="Segoe UI"/>
              </a:rPr>
              <a:t>Wave response at the 2.7 m depth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35024"/>
            <a:ext cx="1737360" cy="45720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loatsim_wall_r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554480"/>
            <a:ext cx="6675120" cy="362382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0" y="1828800"/>
            <a:ext cx="4297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1200"/>
              </a:spcAft>
            </a:pPr>
            <a:r>
              <a:rPr sz="1500">
                <a:solidFill>
                  <a:srgbClr val="0C8B96"/>
                </a:solidFill>
                <a:latin typeface="Segoe UI"/>
              </a:rPr>
              <a:t>▪  </a:t>
            </a:r>
            <a:r>
              <a:rPr sz="1500" b="1" i="0">
                <a:solidFill>
                  <a:srgbClr val="0A5560"/>
                </a:solidFill>
                <a:latin typeface="Segoe UI"/>
              </a:rPr>
              <a:t>Through resonance</a:t>
            </a:r>
            <a:r>
              <a:rPr sz="1500" b="0" i="0">
                <a:solidFill>
                  <a:srgbClr val="1B262E"/>
                </a:solidFill>
                <a:latin typeface="Segoe UI"/>
              </a:rPr>
              <a:t> (1.5–2.9 s, the dynamically important band): heave response wall effect </a:t>
            </a:r>
            <a:r>
              <a:rPr sz="1500" b="1" i="0">
                <a:solidFill>
                  <a:srgbClr val="1B262E"/>
                </a:solidFill>
                <a:latin typeface="Segoe UI"/>
              </a:rPr>
              <a:t>≤ 2.6 %</a:t>
            </a:r>
            <a:r>
              <a:rPr sz="1500" b="0" i="0">
                <a:solidFill>
                  <a:srgbClr val="1B262E"/>
                </a:solidFill>
                <a:latin typeface="Segoe UI"/>
              </a:rPr>
              <a:t>.</a:t>
            </a:r>
          </a:p>
          <a:p>
            <a:pPr>
              <a:spcBef>
                <a:spcPts val="100"/>
              </a:spcBef>
              <a:spcAft>
                <a:spcPts val="1200"/>
              </a:spcAft>
            </a:pPr>
            <a:r>
              <a:rPr sz="1500">
                <a:solidFill>
                  <a:srgbClr val="0C8B96"/>
                </a:solidFill>
                <a:latin typeface="Segoe UI"/>
              </a:rPr>
              <a:t>▪  </a:t>
            </a:r>
            <a:r>
              <a:rPr sz="1500" b="1" i="0">
                <a:solidFill>
                  <a:srgbClr val="0A5560"/>
                </a:solidFill>
                <a:latin typeface="Segoe UI"/>
              </a:rPr>
              <a:t>Long-period tail</a:t>
            </a:r>
            <a:r>
              <a:rPr sz="1500" b="0" i="0">
                <a:solidFill>
                  <a:srgbClr val="1B262E"/>
                </a:solidFill>
                <a:latin typeface="Segoe UI"/>
              </a:rPr>
              <a:t> (T &gt; 3 s): grows to </a:t>
            </a:r>
            <a:r>
              <a:rPr sz="1500" b="1" i="0">
                <a:solidFill>
                  <a:srgbClr val="1B262E"/>
                </a:solidFill>
                <a:latin typeface="Segoe UI"/>
              </a:rPr>
              <a:t>~20 %</a:t>
            </a:r>
            <a:r>
              <a:rPr sz="1500" b="0" i="0">
                <a:solidFill>
                  <a:srgbClr val="1B262E"/>
                </a:solidFill>
                <a:latin typeface="Segoe UI"/>
              </a:rPr>
              <a:t> — but off-resonance (small motion), and the finite-depth effect there is far larger (next slide).</a:t>
            </a:r>
          </a:p>
          <a:p>
            <a:pPr>
              <a:spcBef>
                <a:spcPts val="100"/>
              </a:spcBef>
              <a:spcAft>
                <a:spcPts val="1200"/>
              </a:spcAft>
            </a:pPr>
            <a:r>
              <a:rPr sz="1500">
                <a:solidFill>
                  <a:srgbClr val="0C8B96"/>
                </a:solidFill>
                <a:latin typeface="Segoe UI"/>
              </a:rPr>
              <a:t>▪  </a:t>
            </a:r>
            <a:r>
              <a:rPr sz="1500" b="1" i="0">
                <a:solidFill>
                  <a:srgbClr val="1B262E"/>
                </a:solidFill>
                <a:latin typeface="Segoe UI"/>
              </a:rPr>
              <a:t>Pitch / surge loads: </a:t>
            </a:r>
            <a:r>
              <a:rPr sz="1500" b="0" i="0">
                <a:solidFill>
                  <a:srgbClr val="1B262E"/>
                </a:solidFill>
                <a:latin typeface="Segoe UI"/>
              </a:rPr>
              <a:t>≤ 2.6 %.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5943600"/>
            <a:ext cx="10607040" cy="777240"/>
          </a:xfrm>
          <a:prstGeom prst="rect">
            <a:avLst/>
          </a:prstGeom>
          <a:solidFill>
            <a:srgbClr val="EC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5971032"/>
            <a:ext cx="10241280" cy="7223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50" b="0" i="0">
                <a:solidFill>
                  <a:srgbClr val="1B262E"/>
                </a:solidFill>
                <a:latin typeface="Segoe UI"/>
              </a:rPr>
              <a:t>Single-DOF platform-heave impedance model on the native-2.7 m coupled-array coefficients (walls-in vs walls-out). The response tracks the wave-excitation wall effect: small through resonance, larger only in the long-period tail.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C8B96"/>
                </a:solidFill>
                <a:latin typeface="Segoe UI"/>
              </a:rPr>
              <a:t>RESULTS 3/4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21792"/>
            <a:ext cx="10972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1">
                <a:solidFill>
                  <a:srgbClr val="142A38"/>
                </a:solidFill>
                <a:latin typeface="Segoe UI"/>
              </a:rPr>
              <a:t>Sidewalls vs finite depth — the dominant effect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35024"/>
            <a:ext cx="1737360" cy="45720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wall_vs_dep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1600200"/>
            <a:ext cx="9235440" cy="435206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77240" y="5806440"/>
            <a:ext cx="10607040" cy="868680"/>
          </a:xfrm>
          <a:prstGeom prst="rect">
            <a:avLst/>
          </a:prstGeom>
          <a:solidFill>
            <a:srgbClr val="EC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5833872"/>
            <a:ext cx="10241280" cy="81381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0" i="0">
                <a:solidFill>
                  <a:srgbClr val="1B262E"/>
                </a:solidFill>
                <a:latin typeface="Segoe UI"/>
              </a:rPr>
              <a:t>At every period the </a:t>
            </a:r>
            <a:r>
              <a:rPr sz="1300" b="1" i="0">
                <a:solidFill>
                  <a:srgbClr val="B2432C"/>
                </a:solidFill>
                <a:latin typeface="Segoe UI"/>
              </a:rPr>
              <a:t>finite-depth effect (red) exceeds the sidewall effect (teal)</a:t>
            </a:r>
            <a:r>
              <a:rPr sz="1300" b="0" i="0">
                <a:solidFill>
                  <a:srgbClr val="1B262E"/>
                </a:solidFill>
                <a:latin typeface="Segoe UI"/>
              </a:rPr>
              <a:t>; on heave excitation the depth effect is −19% to −37% at 2.5–4 s. The reviewer's concern (walls) is the smaller term; the real flume consideration is depth — a known, correctable property handled by depth-scaling.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C8B96"/>
                </a:solidFill>
                <a:latin typeface="Segoe UI"/>
              </a:rPr>
              <a:t>RESULTS 4/4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21792"/>
            <a:ext cx="10972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1">
                <a:solidFill>
                  <a:srgbClr val="142A38"/>
                </a:solidFill>
                <a:latin typeface="Segoe UI"/>
              </a:rPr>
              <a:t>All-DOF accelerations near resonance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35024"/>
            <a:ext cx="1737360" cy="45720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ccel_multido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1600200"/>
            <a:ext cx="9875520" cy="2958281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77240" y="5806440"/>
            <a:ext cx="10607040" cy="868680"/>
          </a:xfrm>
          <a:prstGeom prst="rect">
            <a:avLst/>
          </a:prstGeom>
          <a:solidFill>
            <a:srgbClr val="EC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5833872"/>
            <a:ext cx="10241280" cy="81381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0" i="0">
                <a:solidFill>
                  <a:srgbClr val="1B262E"/>
                </a:solidFill>
                <a:latin typeface="Segoe UI"/>
              </a:rPr>
              <a:t>Articulated 21-body accelerations at the deck centre and four cluster hubs, each excited DOF: surge </a:t>
            </a:r>
            <a:r>
              <a:rPr sz="1300" b="1" i="0">
                <a:solidFill>
                  <a:srgbClr val="0A5560"/>
                </a:solidFill>
                <a:latin typeface="Segoe UI"/>
              </a:rPr>
              <a:t>≤ 0.9 %</a:t>
            </a:r>
            <a:r>
              <a:rPr sz="1300" b="0" i="0">
                <a:solidFill>
                  <a:srgbClr val="1B262E"/>
                </a:solidFill>
                <a:latin typeface="Segoe UI"/>
              </a:rPr>
              <a:t>, heave </a:t>
            </a:r>
            <a:r>
              <a:rPr sz="1300" b="1" i="0">
                <a:solidFill>
                  <a:srgbClr val="0A5560"/>
                </a:solidFill>
                <a:latin typeface="Segoe UI"/>
              </a:rPr>
              <a:t>≤ 4.0 %</a:t>
            </a:r>
            <a:r>
              <a:rPr sz="1300" b="0" i="0">
                <a:solidFill>
                  <a:srgbClr val="1B262E"/>
                </a:solidFill>
                <a:latin typeface="Segoe UI"/>
              </a:rPr>
              <a:t>, pitch </a:t>
            </a:r>
            <a:r>
              <a:rPr sz="1300" b="1" i="0">
                <a:solidFill>
                  <a:srgbClr val="0A5560"/>
                </a:solidFill>
                <a:latin typeface="Segoe UI"/>
              </a:rPr>
              <a:t>≤ 2.2 %</a:t>
            </a:r>
            <a:r>
              <a:rPr sz="1300" b="0" i="0">
                <a:solidFill>
                  <a:srgbClr val="1B262E"/>
                </a:solidFill>
                <a:latin typeface="Segoe UI"/>
              </a:rPr>
              <a:t>. Sway/roll/yaw unexcited in head seas; peaks at the 2.19 s cut-on.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C8B96"/>
                </a:solidFill>
                <a:latin typeface="Segoe UI"/>
              </a:rPr>
              <a:t>CAVEATS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21792"/>
            <a:ext cx="10972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1">
                <a:solidFill>
                  <a:srgbClr val="142A38"/>
                </a:solidFill>
                <a:latin typeface="Segoe UI"/>
              </a:rPr>
              <a:t>Scope, concessions and recommendations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35024"/>
            <a:ext cx="1737360" cy="45720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6916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1200"/>
              </a:spcAft>
            </a:pPr>
            <a:r>
              <a:rPr sz="1500">
                <a:solidFill>
                  <a:srgbClr val="0C8B96"/>
                </a:solidFill>
                <a:latin typeface="Segoe UI"/>
              </a:rPr>
              <a:t>▪  </a:t>
            </a:r>
            <a:r>
              <a:rPr sz="1500" b="1" i="0">
                <a:solidFill>
                  <a:srgbClr val="1B262E"/>
                </a:solidFill>
                <a:latin typeface="Segoe UI"/>
              </a:rPr>
              <a:t>Transverse cut-ons </a:t>
            </a:r>
            <a:r>
              <a:rPr sz="1500" b="0" i="0">
                <a:solidFill>
                  <a:srgbClr val="1B262E"/>
                </a:solidFill>
                <a:latin typeface="Segoe UI"/>
              </a:rPr>
              <a:t>(2.19 / 1.53 / 1.25 s): </a:t>
            </a:r>
            <a:r>
              <a:rPr sz="1500" b="0" i="0">
                <a:solidFill>
                  <a:srgbClr val="1B262E"/>
                </a:solidFill>
                <a:latin typeface="Segoe UI"/>
              </a:rPr>
              <a:t>skip these narrow, known periods in the sweep matrix (bounded ~±6 % even there).</a:t>
            </a:r>
          </a:p>
          <a:p>
            <a:pPr>
              <a:spcBef>
                <a:spcPts val="100"/>
              </a:spcBef>
              <a:spcAft>
                <a:spcPts val="1200"/>
              </a:spcAft>
            </a:pPr>
            <a:r>
              <a:rPr sz="1500">
                <a:solidFill>
                  <a:srgbClr val="0C8B96"/>
                </a:solidFill>
                <a:latin typeface="Segoe UI"/>
              </a:rPr>
              <a:t>▪  </a:t>
            </a:r>
            <a:r>
              <a:rPr sz="1500" b="1" i="0">
                <a:solidFill>
                  <a:srgbClr val="1B262E"/>
                </a:solidFill>
                <a:latin typeface="Segoe UI"/>
              </a:rPr>
              <a:t>Long-period tests (T &gt; 3 s): </a:t>
            </a:r>
            <a:r>
              <a:rPr sz="1500" b="0" i="0">
                <a:solidFill>
                  <a:srgbClr val="1B262E"/>
                </a:solidFill>
                <a:latin typeface="Segoe UI"/>
              </a:rPr>
              <a:t>apply the standard finite-depth (and the smaller blockage) corrections — the response there is depth-dominated, not a sidewall artifact.</a:t>
            </a:r>
          </a:p>
          <a:p>
            <a:pPr>
              <a:spcBef>
                <a:spcPts val="100"/>
              </a:spcBef>
              <a:spcAft>
                <a:spcPts val="1200"/>
              </a:spcAft>
            </a:pPr>
            <a:r>
              <a:rPr sz="1500">
                <a:solidFill>
                  <a:srgbClr val="0C8B96"/>
                </a:solidFill>
                <a:latin typeface="Segoe UI"/>
              </a:rPr>
              <a:t>▪  </a:t>
            </a:r>
            <a:r>
              <a:rPr sz="1500" b="1" i="0">
                <a:solidFill>
                  <a:srgbClr val="1B262E"/>
                </a:solidFill>
                <a:latin typeface="Segoe UI"/>
              </a:rPr>
              <a:t>Depth of the coupled model: </a:t>
            </a:r>
            <a:r>
              <a:rPr sz="1500" b="0" i="0">
                <a:solidFill>
                  <a:srgbClr val="1B262E"/>
                </a:solidFill>
                <a:latin typeface="Segoe UI"/>
              </a:rPr>
              <a:t>deep water (finite depth is impractically slow at the coupled panel count); free-decay is depth-robust and the 2.7 m wave response is carried by the frequency-domain + single-DOF models.</a:t>
            </a:r>
          </a:p>
          <a:p>
            <a:pPr>
              <a:spcBef>
                <a:spcPts val="100"/>
              </a:spcBef>
              <a:spcAft>
                <a:spcPts val="1200"/>
              </a:spcAft>
            </a:pPr>
            <a:r>
              <a:rPr sz="1500">
                <a:solidFill>
                  <a:srgbClr val="0C8B96"/>
                </a:solidFill>
                <a:latin typeface="Segoe UI"/>
              </a:rPr>
              <a:t>▪  </a:t>
            </a:r>
            <a:r>
              <a:rPr sz="1500" b="1" i="0">
                <a:solidFill>
                  <a:srgbClr val="1B262E"/>
                </a:solidFill>
                <a:latin typeface="Segoe UI"/>
              </a:rPr>
              <a:t>Mesh / walled radiation matrix: </a:t>
            </a:r>
            <a:r>
              <a:rPr sz="1500" b="0" i="0">
                <a:solidFill>
                  <a:srgbClr val="1B262E"/>
                </a:solidFill>
                <a:latin typeface="Segoe UI"/>
              </a:rPr>
              <a:t>coarse mesh (the walls-in/out ratio is mesh-robust); the image trick makes walled B non-reciprocal, so it is PSD-projected (heave decay is robust to this).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C8B96"/>
                </a:solidFill>
                <a:latin typeface="Segoe UI"/>
              </a:rPr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21792"/>
            <a:ext cx="10972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1">
                <a:solidFill>
                  <a:srgbClr val="142A38"/>
                </a:solidFill>
                <a:latin typeface="Segoe UI"/>
              </a:rPr>
              <a:t>Conclusion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35024"/>
            <a:ext cx="1737360" cy="45720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737360"/>
            <a:ext cx="10607040" cy="54864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659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1400"/>
              </a:spcAft>
            </a:pPr>
            <a:r>
              <a:rPr sz="1700">
                <a:solidFill>
                  <a:srgbClr val="0C8B96"/>
                </a:solidFill>
                <a:latin typeface="Segoe UI"/>
              </a:rPr>
              <a:t>▪  </a:t>
            </a:r>
            <a:r>
              <a:rPr sz="1700" b="0" i="0">
                <a:solidFill>
                  <a:srgbClr val="1B262E"/>
                </a:solidFill>
                <a:latin typeface="Segoe UI"/>
              </a:rPr>
              <a:t>Sidewall reflections do not corrupt the Phase-3 dynamic data: free-decay periods shift &lt; 0.6 %, and the heave response through resonance shifts ≤ 3 % at 2.7 m.</a:t>
            </a:r>
          </a:p>
          <a:p>
            <a:pPr>
              <a:spcBef>
                <a:spcPts val="100"/>
              </a:spcBef>
              <a:spcAft>
                <a:spcPts val="1400"/>
              </a:spcAft>
            </a:pPr>
            <a:r>
              <a:rPr sz="1700">
                <a:solidFill>
                  <a:srgbClr val="0C8B96"/>
                </a:solidFill>
                <a:latin typeface="Segoe UI"/>
              </a:rPr>
              <a:t>▪  </a:t>
            </a:r>
            <a:r>
              <a:rPr sz="1700" b="0" i="0">
                <a:solidFill>
                  <a:srgbClr val="1B262E"/>
                </a:solidFill>
                <a:latin typeface="Segoe UI"/>
              </a:rPr>
              <a:t>Accelerations at every sensor point, every excited DOF, change by </a:t>
            </a:r>
            <a:r>
              <a:rPr sz="1700" b="1" i="0">
                <a:solidFill>
                  <a:srgbClr val="0A5560"/>
                </a:solidFill>
                <a:latin typeface="Segoe UI"/>
              </a:rPr>
              <a:t>≤ 4 %</a:t>
            </a:r>
            <a:r>
              <a:rPr sz="1700" b="0" i="0">
                <a:solidFill>
                  <a:srgbClr val="1B262E"/>
                </a:solidFill>
                <a:latin typeface="Segoe UI"/>
              </a:rPr>
              <a:t> near resonance.</a:t>
            </a:r>
          </a:p>
          <a:p>
            <a:pPr>
              <a:spcBef>
                <a:spcPts val="100"/>
              </a:spcBef>
              <a:spcAft>
                <a:spcPts val="1400"/>
              </a:spcAft>
            </a:pPr>
            <a:r>
              <a:rPr sz="1700">
                <a:solidFill>
                  <a:srgbClr val="0C8B96"/>
                </a:solidFill>
                <a:latin typeface="Segoe UI"/>
              </a:rPr>
              <a:t>▪  </a:t>
            </a:r>
            <a:r>
              <a:rPr sz="1700" b="1" i="0">
                <a:solidFill>
                  <a:srgbClr val="1B262E"/>
                </a:solidFill>
                <a:latin typeface="Segoe UI"/>
              </a:rPr>
              <a:t>The dominant flume consideration is the finite 2.7 m depth</a:t>
            </a:r>
            <a:r>
              <a:rPr sz="1700" b="0" i="0">
                <a:solidFill>
                  <a:srgbClr val="1B262E"/>
                </a:solidFill>
                <a:latin typeface="Segoe UI"/>
              </a:rPr>
              <a:t> — larger than the walls, and handled by standard depth-scaling, not by the sidewalls.</a:t>
            </a:r>
          </a:p>
          <a:p>
            <a:pPr>
              <a:spcBef>
                <a:spcPts val="100"/>
              </a:spcBef>
              <a:spcAft>
                <a:spcPts val="1400"/>
              </a:spcAft>
            </a:pPr>
            <a:r>
              <a:rPr sz="1700">
                <a:solidFill>
                  <a:srgbClr val="0C8B96"/>
                </a:solidFill>
                <a:latin typeface="Segoe UI"/>
              </a:rPr>
              <a:t>▪  </a:t>
            </a:r>
            <a:r>
              <a:rPr sz="1900" b="1" i="0">
                <a:solidFill>
                  <a:srgbClr val="0A5560"/>
                </a:solidFill>
                <a:latin typeface="Segoe UI"/>
              </a:rPr>
              <a:t>The 2.50 m platform is compatible with the OSU Large Wave Flume.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