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  <p:sldId id="267" r:id="rId15"/>
    <p:sldId id="268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ABIER LOPEZ" userId="ea38421b3c6b4430" providerId="LiveId" clId="{8CA916A7-9F62-4E0A-9195-0AF40AA34857}"/>
    <pc:docChg chg="modSld sldOrd">
      <pc:chgData name="XABIER LOPEZ" userId="ea38421b3c6b4430" providerId="LiveId" clId="{8CA916A7-9F62-4E0A-9195-0AF40AA34857}" dt="2026-09-06T13:37:34.866" v="1"/>
      <pc:docMkLst>
        <pc:docMk/>
      </pc:docMkLst>
      <pc:sldChg chg="ord">
        <pc:chgData name="XABIER LOPEZ" userId="ea38421b3c6b4430" providerId="LiveId" clId="{8CA916A7-9F62-4E0A-9195-0AF40AA34857}" dt="2026-09-06T13:37:34.866" v="1"/>
        <pc:sldMkLst>
          <pc:docMk/>
          <pc:sldMk cId="0" sldId="267"/>
        </pc:sldMkLst>
      </pc:sldChg>
      <pc:sldChg chg="ord">
        <pc:chgData name="XABIER LOPEZ" userId="ea38421b3c6b4430" providerId="LiveId" clId="{8CA916A7-9F62-4E0A-9195-0AF40AA34857}" dt="2026-09-06T13:37:34.866" v="1"/>
        <pc:sldMkLst>
          <pc:docMk/>
          <pc:sldMk cId="0" sldId="26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DIFFRACTION &amp; RADIATION ANALYSIS</a:t>
            </a:r>
          </a:p>
          <a:p>
            <a:pPr>
              <a:spcBef>
                <a:spcPts val="600"/>
              </a:spcBef>
            </a:pPr>
            <a:r>
              <a:rPr sz="4000" b="1">
                <a:solidFill>
                  <a:srgbClr val="25323A"/>
                </a:solidFill>
                <a:latin typeface="Segoe UI"/>
              </a:rPr>
              <a:t>How we compute the buoy's
hydrodynamics in Capytaine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OSU Test Buoy  ·  potential-flow BEM  →  time-domain FloatSim (Cummins)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Two sub-problems (radiation + diffraction), their outputs, and how they drive the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Capytaine computes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Boundary-element (panel) solver for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linear potential-flow hydrodynamics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In: the wetted hull as a mesh of panels.  Out: the flow (velocity potential φ) around it in regular waves at each frequency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“Potential flow”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inviscid, irrotational, small (linear)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waves &amp; motions — the one assumption that sets both the outputs and the limits.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Key idea —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superposition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wave-body problem splits into two sub-problems, solved separately and added: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wavemaking in still water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held fixed under incoming waves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mesh we solve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OSU_buoy_mesh_capyta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371600"/>
            <a:ext cx="6881071" cy="4553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6035040"/>
            <a:ext cx="10607040" cy="64008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6071616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5323A"/>
                </a:solidFill>
                <a:latin typeface="Segoe UI"/>
              </a:rPr>
              <a:t>6″ spar cylinder + a </a:t>
            </a:r>
            <a:r>
              <a:rPr sz="1300" b="1">
                <a:solidFill>
                  <a:srgbClr val="0A5560"/>
                </a:solidFill>
                <a:latin typeface="Segoe UI"/>
              </a:rPr>
              <a:t>placeholder solid equal-area disc</a:t>
            </a:r>
            <a:r>
              <a:rPr sz="1300" b="0">
                <a:solidFill>
                  <a:srgbClr val="25323A"/>
                </a:solidFill>
                <a:latin typeface="Segoe UI"/>
              </a:rPr>
              <a:t> for the perforated heave plate.  Capytaine meshes the </a:t>
            </a:r>
            <a:r>
              <a:rPr sz="1300" b="1">
                <a:solidFill>
                  <a:srgbClr val="25323A"/>
                </a:solidFill>
                <a:latin typeface="Segoe UI"/>
              </a:rPr>
              <a:t>wetted part (z &lt; 0, 3408 panels)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plate’s real hydro comes from the tank.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two sub-problems — and how they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apytain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691640"/>
            <a:ext cx="78489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Radiation — “body as a wavemaker”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Turn incident waves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off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Force the body to oscillate in still water — one DOF at a time, at each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It radiates its own waves; the reaction force has two pieces: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Added mass A(ω)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acceleration (virtual mass of entrained water).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 damping B(ω)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velocity (energy carried off as radiated waves).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6×6 matrices per ω — captures cross-DOF coupling (e.g. heave → pitch).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A(ω) and B(ω)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curves.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Diffraction — “body as an obstacle”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Hold the body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fixed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Let incident waves scatter off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Net wave-pressure force on the fixed hull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excitation force F_exc(ω, β)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(β = wave heading):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Froude–Krylov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force from the undisturbed incident-wave pressure.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correction because the body scatters the waves.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wave forcing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F_exc(ω)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that drives the motion.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Plus the hydrostatic stiffness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(buoyancy / waterplane) from the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From frequency domain to time-domain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A(ω), B(ω) can’t go straight into a time-stepper — a transient contains all frequencies at once. Bridge =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Cummins equation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5323A"/>
                </a:solidFill>
                <a:latin typeface="Cambria Math"/>
              </a:rPr>
              <a:t>(M + A∞) ẍ  +  ∫₀ᵗ K(t−τ) ẋ(τ) dτ  +  C x  =  F_exc(t)  +  F_drag(ẋ)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3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A∞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= infinite-frequency added mass.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K(t) = (2/π)∫ B(ω) cos(ωt) dω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retardation kernel = </a:t>
            </a:r>
            <a:r>
              <a:rPr sz="1800" b="0" i="1">
                <a:solidFill>
                  <a:srgbClr val="25323A"/>
                </a:solidFill>
                <a:latin typeface="Segoe UI"/>
              </a:rPr>
              <a:t>fluid memory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of previously radiated waves.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Mapping: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Radiation → A∞ + K(t)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Diffraction → F_exc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Hydrostatics → 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 FloatSim integrates this in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DIVISION OF LABOUR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Who computes what — Capytaine vs FloatSim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CAPYTAINE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run once · frequency domain · linear + inviscid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Panel mesh of the wetted hull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Radiation problem → A(ω), A∞ and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Diffraction problem → F_exc(ω, β)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Hydrostatic stiffness C (buoyancy)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Outputs: hydrodynamic coefficients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6832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502920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FLOATSIM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per simulation · time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Retardation kernel K(t) from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Body mass &amp; inertia M (structure)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Assemble (M+A∞), C + gravity m·g·z_G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D1543A"/>
                </a:solidFill>
                <a:latin typeface="Segoe UI"/>
              </a:rPr>
              <a:t>Viscous Morison drag F_drag — not in BEM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Static equilibrium solve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Time-integrate the Cummins EoM → x(t)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Output: decay period T &amp; damping 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596128" y="3246120"/>
            <a:ext cx="932688" cy="457200"/>
          </a:xfrm>
          <a:prstGeom prst="rightArrow">
            <a:avLst/>
          </a:prstGeom>
          <a:solidFill>
            <a:srgbClr val="546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57800" y="3730752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4636D"/>
                </a:solidFill>
                <a:latin typeface="Consolas"/>
              </a:rPr>
              <a:t>capytaine_
osu_buoy.nc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08192"/>
            <a:ext cx="10927080" cy="5669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6144768"/>
            <a:ext cx="10515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Capytaine = the hydrodynamic coefficients</a:t>
            </a:r>
            <a:r>
              <a:rPr sz="1250" b="0">
                <a:solidFill>
                  <a:srgbClr val="25323A"/>
                </a:solidFill>
                <a:latin typeface="Segoe UI"/>
              </a:rPr>
              <a:t>   ·   </a:t>
            </a:r>
            <a:r>
              <a:rPr sz="1250" b="1">
                <a:solidFill>
                  <a:srgbClr val="0A5560"/>
                </a:solidFill>
                <a:latin typeface="Segoe UI"/>
              </a:rPr>
              <a:t>FloatSim = the equation of motion in time</a:t>
            </a:r>
            <a:r>
              <a:rPr sz="1250" b="0">
                <a:solidFill>
                  <a:srgbClr val="25323A"/>
                </a:solidFill>
                <a:latin typeface="Segoe UI"/>
              </a:rPr>
              <a:t>  (adds mass, viscous drag, mooring, equilibrium; converts B(ω)→K(t)).  Decay T and ζ are a FloatSim output.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Limits — and why the heave plate needs the tank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Potential flow is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inviscid and linear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Two consequences for us: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No viscous drag in the BEM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all quadratic / viscous damping is added separately as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Morison drag F_drag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not from Capytaine.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Panels treat every surface as solid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over-predicts added mass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for the open/perforated heave-plate frame (it blocks flow the real perforations pass).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Practical split for the OSU buoy: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Spar (6″ pipe)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clean cylinder → the BEM is reliable.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Heave-plate / ballast frame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and B are BEM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stand-ins until the tank test measures them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WE ASSUMED,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Modelling assumptions &amp; their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4208"/>
          <a:ext cx="1120140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Assumption</a:t>
                      </a:r>
                    </a:p>
                  </a:txBody>
                  <a:tcPr marL="88900" marR="63500" marT="25400" marB="25400" anchor="ctr">
                    <a:solidFill>
                      <a:srgbClr val="0C8B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marL="88900" marR="63500" marT="25400" marB="25400" anchor="ctr">
                    <a:solidFill>
                      <a:srgbClr val="0C8B9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Basis / support</a:t>
                      </a:r>
                    </a:p>
                  </a:txBody>
                  <a:tcPr marL="88900" marR="63500" marT="25400" marB="25400" anchor="ctr">
                    <a:solidFill>
                      <a:srgbClr val="0C8B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Spar drag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</a:t>
                      </a:r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 (transverse)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1.2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Smooth circular cylinder (Morison). Standard 1.0–1.2 (DNV-RP-C205; Sarpkaya). </a:t>
                      </a:r>
                      <a:r>
                        <a:rPr sz="1100" b="0" i="1">
                          <a:solidFill>
                            <a:srgbClr val="25323A"/>
                          </a:solidFill>
                          <a:latin typeface="Segoe UI"/>
                        </a:rPr>
                        <a:t>Sets surge &amp; pitch drag; negligible in heave.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normal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Cd_n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5.0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Flat disc at low KC (≈ 2–3 at a 100 mm release): flow separates, published Cd ≈ 4–8. Dominates heave damping.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Placeholder → the tank pins it.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tangential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Cd_t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1.5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Edge / skin friction on the rim; small contribution.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Plate added mass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solid disc, Ø0.287 m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Potential-flow UPPER bound — the perforated/webbed frame passes flow, so it adds less (porous-disk theory, Molin).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Bracket → the tank pins A33.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Mass / CoG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21.52 kg;  −0.907 m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Spreadsheet structure 8.16 kg + measured unloaded waterline 967 mm. Independent geometry check (cyl + frame + lead) agrees within ~1.5%.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Pitch / roll inertia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10.2 kg·m²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gmsh per-part inertia tensors + uniform effective density; the deep lead ballast dominates, so it is robust to the internal mass split. CATIA would refine.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Water &amp; BEM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fresh; deep; linear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OSU Hinsdale lab is fresh (ρ = 998); period is density-independent for a free body. Potential flow is inviscid — viscous drag added via Morison. Confirm tank depth vs 1.42 m draft.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72784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D1543A"/>
                </a:solidFill>
                <a:latin typeface="Segoe UI"/>
              </a:rPr>
              <a:t>Red = placeholder the tank measures</a:t>
            </a:r>
            <a:r>
              <a:rPr sz="1050" b="0">
                <a:solidFill>
                  <a:srgbClr val="54636D"/>
                </a:solidFill>
                <a:latin typeface="Segoe UI"/>
              </a:rPr>
              <a:t>  (period → plate added mass, decay rate → plate Cd).  Coefficient ranges per DNV-RP-C205 &amp; Sarpkaya; perforated-plate reduction per porous-disk theory.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TO EXPECT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Pre-test heave decay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OSU_heave_decay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10058400" cy="39232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A5560"/>
                </a:solidFill>
                <a:latin typeface="Segoe UI"/>
              </a:rPr>
              <a:t>Period is predictable → T ≈ 2.3–2.4 s</a:t>
            </a:r>
            <a:r>
              <a:rPr sz="1400" b="0">
                <a:solidFill>
                  <a:srgbClr val="25323A"/>
                </a:solidFill>
                <a:latin typeface="Segoe UI"/>
              </a:rPr>
              <a:t>   (M, C₃₃ known; only plate added mass uncertain).   </a:t>
            </a:r>
            <a:r>
              <a:rPr sz="1400" b="1">
                <a:solidFill>
                  <a:srgbClr val="D1543A"/>
                </a:solidFill>
                <a:latin typeface="Segoe UI"/>
              </a:rPr>
              <a:t>Damping is the measurement</a:t>
            </a:r>
            <a:r>
              <a:rPr sz="1400" b="0">
                <a:solidFill>
                  <a:srgbClr val="25323A"/>
                </a:solidFill>
                <a:latin typeface="Segoe UI"/>
              </a:rPr>
              <a:t>  → ζ₁ ≈ 8–15% at 100 mm.  Test pins: period→added mass, decay→drag Cd.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Field heave-decay test — a first real-world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OSU_field_heave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72768"/>
            <a:ext cx="10058400" cy="4526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4360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598017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Non-official handheld video</a:t>
            </a:r>
            <a:r>
              <a:rPr sz="1250" b="0">
                <a:solidFill>
                  <a:srgbClr val="25323A"/>
                </a:solidFill>
                <a:latin typeface="Segoe UI"/>
              </a:rPr>
              <a:t>, motion-tracked frame-by-frame; the camera pan (~95 px ≫ the heave) is removed by referencing the fixed horizon. Buoy released ≈9.3 s, then rings down — heavily damped, so ~1½ cycles resolve.  </a:t>
            </a:r>
            <a:r>
              <a:rPr sz="1250" b="1">
                <a:solidFill>
                  <a:srgbClr val="0A5560"/>
                </a:solidFill>
                <a:latin typeface="Segoe UI"/>
              </a:rPr>
              <a:t>Period &amp; damping are scale-free.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 vs field test — period &amp; damping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927080" cy="1664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Quantity</a:t>
                      </a:r>
                    </a:p>
                  </a:txBody>
                  <a:tcPr marL="88900" marR="63500" marT="25400" marB="25400" anchor="ctr">
                    <a:solidFill>
                      <a:srgbClr val="0C8B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Model (FloatSim / Capytaine)</a:t>
                      </a:r>
                    </a:p>
                  </a:txBody>
                  <a:tcPr marL="88900" marR="63500" marT="25400" marB="25400" anchor="ctr">
                    <a:solidFill>
                      <a:srgbClr val="0C8B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Field video</a:t>
                      </a:r>
                    </a:p>
                  </a:txBody>
                  <a:tcPr marL="88900" marR="63500" marT="25400" marB="25400" anchor="ctr">
                    <a:solidFill>
                      <a:srgbClr val="0C8B9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How measured</a:t>
                      </a:r>
                    </a:p>
                  </a:txBody>
                  <a:tcPr marL="88900" marR="63500" marT="25400" marB="25400" anchor="ctr">
                    <a:solidFill>
                      <a:srgbClr val="0C8B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5323A"/>
                          </a:solidFill>
                          <a:latin typeface="Segoe UI"/>
                        </a:rPr>
                        <a:t>Heave period  T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25323A"/>
                          </a:solidFill>
                          <a:latin typeface="Segoe UI"/>
                        </a:rPr>
                        <a:t>2.52 s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0A5560"/>
                          </a:solidFill>
                          <a:latin typeface="Segoe UI"/>
                        </a:rPr>
                        <a:t>≈ 2.50 s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max→max 2.50; half-periods ×2 = 2.47 &amp; 2.53 s</a:t>
                      </a:r>
                    </a:p>
                  </a:txBody>
                  <a:tcPr marL="88900" marR="63500" marT="25400" marB="25400" anchor="ctr">
                    <a:solidFill>
                      <a:srgbClr val="F3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25323A"/>
                          </a:solidFill>
                          <a:latin typeface="Segoe UI"/>
                        </a:rPr>
                        <a:t>Heave damping  ζ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25323A"/>
                          </a:solidFill>
                          <a:latin typeface="Segoe UI"/>
                        </a:rPr>
                        <a:t>8–15 %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0A5560"/>
                          </a:solidFill>
                          <a:latin typeface="Segoe UI"/>
                        </a:rPr>
                        <a:t>≈ 12–13 %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log-dec: two maxima → 13 %; max→min half-cycle → 12 %</a:t>
                      </a:r>
                    </a:p>
                  </a:txBody>
                  <a:tcPr marL="889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794760"/>
            <a:ext cx="10927080" cy="65836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3831336"/>
            <a:ext cx="105613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A5560"/>
                </a:solidFill>
                <a:latin typeface="Segoe UI"/>
              </a:rPr>
              <a:t>Both match</a:t>
            </a:r>
            <a:r>
              <a:rPr sz="1500" b="0">
                <a:solidFill>
                  <a:srgbClr val="25323A"/>
                </a:solidFill>
                <a:latin typeface="Segoe UI"/>
              </a:rPr>
              <a:t> — period within ~1 % of the simulation, damping inside the predicted band. A first independent, real-world corroboration of the heave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D1543A"/>
                </a:solidFill>
                <a:latin typeface="Segoe UI"/>
              </a:rPr>
              <a:t>Large release (~14 cm first swing)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→ first-cycle Morison quadratic drag is high, so ζ sits at the </a:t>
            </a:r>
            <a:r>
              <a:rPr sz="1400" b="1" i="0">
                <a:solidFill>
                  <a:srgbClr val="25323A"/>
                </a:solidFill>
                <a:latin typeface="Segoe UI"/>
              </a:rPr>
              <a:t>upper end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of the 8–15 % band; it should fall on smaller cycles.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The analytic hand-estimate on the prior slide (2.3–2.4 s) low-bracketed the plate added mass; the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full decay sim gives 2.52 s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— which the test confirms.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D1543A"/>
                </a:solidFill>
                <a:latin typeface="Segoe UI"/>
              </a:rPr>
              <a:t>Still non-official &amp; handheld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— the instrumented tank test remains the source of truth for the perforated plate's added-mass / drag split.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PHYSICS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Where does T = 2.5 s come from? — first, without added mass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Heave is a one-DOF oscillator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buoy bobs vertically on the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waterplane buoyancy spring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Stiffness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C₃₃ = ρ g A_wp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restoring buoyancy per metre of submergence (A_wp = 6″ spar waterplane area).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The naive “dry” period uses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structural mass M alone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no water entrained: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3246120"/>
            <a:ext cx="5349240" cy="93268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29000" y="3346704"/>
            <a:ext cx="5349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25323A"/>
                </a:solidFill>
                <a:latin typeface="Cambria Math"/>
              </a:rPr>
              <a:t>T₀ = 2π √( M / C₃₃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708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5323A"/>
                </a:solidFill>
                <a:latin typeface="Segoe UI"/>
              </a:rPr>
              <a:t>M = 21.52 kg        C₃₃ = 194.5 N/m</a:t>
            </a:r>
            <a:r>
              <a:rPr sz="1700" b="0">
                <a:solidFill>
                  <a:srgbClr val="25323A"/>
                </a:solidFill>
                <a:latin typeface="Segoe UI"/>
              </a:rPr>
              <a:t>        →        </a:t>
            </a:r>
            <a:r>
              <a:rPr sz="2000" b="1">
                <a:solidFill>
                  <a:srgbClr val="0A5560"/>
                </a:solidFill>
                <a:latin typeface="Segoe UI"/>
              </a:rPr>
              <a:t>T₀ = 2.09 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38928"/>
            <a:ext cx="10607040" cy="10241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101498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5323A"/>
                </a:solidFill>
                <a:latin typeface="Segoe UI"/>
              </a:rPr>
              <a:t>But the field test measured 2.50 s. </a:t>
            </a:r>
            <a:r>
              <a:rPr sz="1500" b="1">
                <a:solidFill>
                  <a:srgbClr val="D1543A"/>
                </a:solidFill>
                <a:latin typeface="Segoe UI"/>
              </a:rPr>
              <a:t>The buoy behaves ~45% heavier than its structure</a:t>
            </a:r>
            <a:r>
              <a:rPr sz="1500" b="0">
                <a:solidFill>
                  <a:srgbClr val="25323A"/>
                </a:solidFill>
                <a:latin typeface="Segoe UI"/>
              </a:rPr>
              <a:t> — it drags a slug of water with it as it accelerates. That missing inertia is </a:t>
            </a:r>
            <a:r>
              <a:rPr sz="1500" b="1">
                <a:solidFill>
                  <a:srgbClr val="D1543A"/>
                </a:solidFill>
                <a:latin typeface="Segoe UI"/>
              </a:rPr>
              <a:t>added mass</a:t>
            </a:r>
            <a:r>
              <a:rPr sz="1500" b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PHYSICS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Added mass — how Capytaine computes it, and how it sets 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737360"/>
            <a:ext cx="5532120" cy="3913632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553212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HOW CAPYTAINE COMPUTES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67712"/>
            <a:ext cx="5532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radiation problem · one run · per frequency 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70048"/>
            <a:ext cx="5056631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Force the hull to oscillate in still water at ω (heave DOF, no incoming waves).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Integrate the flow pressure over the hull → the hydrodynamic reaction force.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Split that force by phase: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    – </a:t>
            </a:r>
            <a:r>
              <a:rPr sz="1300" b="0" i="0">
                <a:solidFill>
                  <a:srgbClr val="0A5560"/>
                </a:solidFill>
                <a:latin typeface="Segoe UI"/>
              </a:rPr>
              <a:t>∝ acceleration  →  added mass A(ω)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    – </a:t>
            </a:r>
            <a:r>
              <a:rPr sz="1300" b="0" i="0">
                <a:solidFill>
                  <a:srgbClr val="54636D"/>
                </a:solidFill>
                <a:latin typeface="Segoe UI"/>
              </a:rPr>
              <a:t>∝ velocity  →  radiation damping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F_rad = −A(ω)·ẍ − B(ω)·ẋ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A∞ (ω→∞ limit) = 9.7 kg ≈ 45% of M — mostly the broad plate.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1737360"/>
            <a:ext cx="5532120" cy="3913632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53912" y="1737360"/>
            <a:ext cx="553212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HOW A SETS THE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3912" y="2267712"/>
            <a:ext cx="5532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extra inertia → longer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670048"/>
            <a:ext cx="5056631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Add A to the mass in the same oscillator: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T = 2π √( (M + A) / C₃₃ 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Period-stretch factor = √((M+A)/M)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= √(31.2 / 21.5) = 1.205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2.09 s  ×  1.205  =  2.52 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1">
                <a:solidFill>
                  <a:srgbClr val="25323A"/>
                </a:solidFill>
                <a:latin typeface="Segoe UI"/>
              </a:rPr>
              <a:t>Heave inertia is ~45% water — A moves the period; C₃₃ is known, so the period is a clean prediction, the damping is the measurement.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852160"/>
            <a:ext cx="10927080" cy="713232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888736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The field test (2.50 s) lands on the WET period 2.52 s</a:t>
            </a:r>
            <a:r>
              <a:rPr sz="1300" b="0">
                <a:solidFill>
                  <a:srgbClr val="25323A"/>
                </a:solidFill>
                <a:latin typeface="Segoe UI"/>
              </a:rPr>
              <a:t> — not the dry 2.09 s. Direct evidence the entrained-water added mass (~9.7 kg) is real and correctly sized.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DESIGN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Where to put the heave plate? — pitch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late_depth_pitch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554480"/>
            <a:ext cx="9601200" cy="385735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4360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598017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Plate depth barely moves pitch</a:t>
            </a:r>
            <a:r>
              <a:rPr sz="1300" b="0">
                <a:solidFill>
                  <a:srgbClr val="25323A"/>
                </a:solidFill>
                <a:latin typeface="Segoe UI"/>
              </a:rPr>
              <a:t> (2.10 → 2.14 s over a 4× lever-arm change) or heave — an axial plate meets pitch EDGE-ON, so its broadside added mass &amp; drag (which dominate heave) hardly engage it.  </a:t>
            </a:r>
            <a:r>
              <a:rPr sz="1300" b="1">
                <a:solidFill>
                  <a:srgbClr val="0A5560"/>
                </a:solidFill>
                <a:latin typeface="Segoe UI"/>
              </a:rPr>
              <a:t>Deck tilt is a ballast/CoG job, not a plate-depth job.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Do the buoy gimbals help the platform? — pin vs rigid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Scaling up: 16 buoys on a shared platform — a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still, level deck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for rockets / datacenters / hotels.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Each buoy joins the platform through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gimbal at its top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(a pin: roll/pitch free). Does that beat welding the assembly rigid?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Same 16-buoy deck, same hydro / drag / geometry — only the joint type changes: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Articulated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a pin (the current design)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Whole-chain rigid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welded → one rigid raft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Metrics: deck tilt (pitch), heave, and the moment carried at each buoy→platform joint.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Pin vs rigid — the pin wins on every axis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vr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10972800" cy="3614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Same heave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rigid raft tilts </a:t>
            </a:r>
            <a:r>
              <a:rPr sz="1300" b="1">
                <a:solidFill>
                  <a:srgbClr val="D1543A"/>
                </a:solidFill>
                <a:latin typeface="Segoe UI"/>
              </a:rPr>
              <a:t>1.3–3.5× more</a:t>
            </a:r>
            <a:r>
              <a:rPr sz="1300" b="0">
                <a:solidFill>
                  <a:srgbClr val="25323A"/>
                </a:solidFill>
                <a:latin typeface="Segoe UI"/>
              </a:rPr>
              <a:t>; and the pin carries </a:t>
            </a:r>
            <a:r>
              <a:rPr sz="1300" b="1">
                <a:solidFill>
                  <a:srgbClr val="0A5560"/>
                </a:solidFill>
                <a:latin typeface="Segoe UI"/>
              </a:rPr>
              <a:t>~zero connection moment</a:t>
            </a:r>
            <a:r>
              <a:rPr sz="1300" b="0">
                <a:solidFill>
                  <a:srgbClr val="25323A"/>
                </a:solidFill>
                <a:latin typeface="Segoe UI"/>
              </a:rPr>
              <a:t> vs the weld's hundreds of N·m/m. The gimbals absorb buoy tilt instead of dumping it into the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2169</Words>
  <Application>Microsoft Office PowerPoint</Application>
  <PresentationFormat>Widescreen</PresentationFormat>
  <Paragraphs>161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Cambria Math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XABIER LOPEZ</cp:lastModifiedBy>
  <cp:revision>1</cp:revision>
  <dcterms:created xsi:type="dcterms:W3CDTF">2013-01-27T09:14:16Z</dcterms:created>
  <dcterms:modified xsi:type="dcterms:W3CDTF">2026-09-06T13:37:39Z</dcterms:modified>
  <cp:category/>
</cp:coreProperties>
</file>