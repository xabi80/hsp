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91695" cy="178308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C8B96"/>
                </a:solidFill>
                <a:latin typeface="Segoe UI"/>
              </a:rPr>
              <a:t>DIFFRACTION &amp; RADIATION ANALYSIS</a:t>
            </a:r>
          </a:p>
          <a:p>
            <a:pPr>
              <a:spcBef>
                <a:spcPts val="600"/>
              </a:spcBef>
            </a:pPr>
            <a:r>
              <a:rPr sz="4000" b="1">
                <a:solidFill>
                  <a:srgbClr val="25323A"/>
                </a:solidFill>
                <a:latin typeface="Segoe UI"/>
              </a:rPr>
              <a:t>How we compute the buoy's
hydrodynamics in Capytaine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257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OSU Test Buoy  ·  potential-flow BEM  →  time-domain FloatSim (Cummins)</a:t>
            </a:r>
          </a:p>
          <a:p>
            <a:r>
              <a:rPr sz="1400">
                <a:solidFill>
                  <a:srgbClr val="EEF6F7"/>
                </a:solidFill>
                <a:latin typeface="Segoe UI"/>
              </a:rPr>
              <a:t>Two sub-problems (radiation + diffraction), their outputs, and how they drive the simulation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What Capytaine computes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Boundary-element (panel) solver for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linear potential-flow hydrodynamics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In: the wetted hull as a mesh of panels.  Out: the flow (velocity potential φ) around it in regular waves at each frequency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“Potential flow”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inviscid, irrotational, small (linear)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waves &amp; motions — the one assumption that sets both the outputs and the limits.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Key idea —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superposition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wave-body problem splits into two sub-problems, solved separately and added: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wavemaking in still water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the body held fixed under incoming waves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mesh we solve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buoy_mesh_capyta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371600"/>
            <a:ext cx="6881071" cy="4553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6035040"/>
            <a:ext cx="10607040" cy="64008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6071616"/>
            <a:ext cx="102412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>
                <a:solidFill>
                  <a:srgbClr val="25323A"/>
                </a:solidFill>
                <a:latin typeface="Segoe UI"/>
              </a:rPr>
              <a:t>6″ spar cylinder + a </a:t>
            </a:r>
            <a:r>
              <a:rPr sz="1300" b="1">
                <a:solidFill>
                  <a:srgbClr val="0A5560"/>
                </a:solidFill>
                <a:latin typeface="Segoe UI"/>
              </a:rPr>
              <a:t>placeholder solid equal-area disc</a:t>
            </a:r>
            <a:r>
              <a:rPr sz="1300" b="0">
                <a:solidFill>
                  <a:srgbClr val="25323A"/>
                </a:solidFill>
                <a:latin typeface="Segoe UI"/>
              </a:rPr>
              <a:t> for the perforated heave plate.  Capytaine meshes the </a:t>
            </a:r>
            <a:r>
              <a:rPr sz="1300" b="1">
                <a:solidFill>
                  <a:srgbClr val="25323A"/>
                </a:solidFill>
                <a:latin typeface="Segoe UI"/>
              </a:rPr>
              <a:t>wetted part (z &lt; 0, 3408 panels)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plate’s real hydro comes from the tank.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The two sub-problems — and how they combine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pytain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691640"/>
            <a:ext cx="7848985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Radiation — “body as a wavemaker”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Turn incident waves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off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Force the body to oscillate in still water — one DOF at a time, at each ω.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It radiates its own waves; the reaction force has two pieces: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Added mass A(ω)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acceleration (virtual mass of entrained water).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Radiation damping B(ω)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in phase with velocity (energy carried off as radiated waves).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6×6 matrices per ω — captures cross-DOF coupling (e.g. heave → pitch).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A(ω) and B(ω)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curves.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SUB-PROBLEM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Diffraction — “body as an obstacle”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Hold the body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fixed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Let incident waves scatter off it.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Net wave-pressure force on the fixed hull =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excitation force F_exc(ω, β)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(β = wave heading):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Froude–Krylov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force from the undisturbed incident-wave pressure.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Diffraction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correction because the body scatters the waves.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→ This run produces the wave forcing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F_exc(ω)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that drives the motion.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Plus the hydrostatic stiffness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(buoyancy / waterplane) from the geometry.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BRIDGE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From frequency domain to time-domain simulation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A(ω), B(ω) can’t go straight into a time-stepper — a transient contains all frequencies at once. Bridge =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Cummins equation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514600"/>
            <a:ext cx="10607040" cy="105156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25323A"/>
                </a:solidFill>
                <a:latin typeface="Cambria Math"/>
              </a:rPr>
              <a:t>(M + A∞) ẍ  +  ∫₀ᵗ K(t−τ) ẋ(τ) dτ  +  C x  =  F_exc(t)  +  F_drag(ẋ)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4903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A∞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= infinite-frequency added mass.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K(t) = (2/π)∫ B(ω) cos(ωt) dω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retardation kernel = </a:t>
            </a:r>
            <a:r>
              <a:rPr sz="1800" b="0" i="1">
                <a:solidFill>
                  <a:srgbClr val="25323A"/>
                </a:solidFill>
                <a:latin typeface="Segoe UI"/>
              </a:rPr>
              <a:t>fluid memory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of previously radiated waves.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Mapping: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Radiation → A∞ + K(t)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Diffraction → F_exc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  · 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Hydrostatics → C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 FloatSim integrates this in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DIVISION OF LABOUR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Who computes what — Capytaine vs FloatSim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02920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CAPYTAINE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run once · frequency domain · linear + inviscid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Panel mesh of the wetted hull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Radiation problem → A(ω), A∞ and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Diffraction problem → F_exc(ω, β)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Hydrostatic stiffness C (buoyancy)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Outputs: hydrodynamic coefficients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6832" y="1783080"/>
            <a:ext cx="5029200" cy="4160520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56832" y="1783080"/>
            <a:ext cx="502920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FLOATSIM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2313432"/>
            <a:ext cx="50292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per simulation · time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715768"/>
            <a:ext cx="455371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Retardation kernel K(t) from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Body mass &amp; inertia M (structure)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Assemble (M+A∞), C + gravity m·g·z_G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D1543A"/>
                </a:solidFill>
                <a:latin typeface="Segoe UI"/>
              </a:rPr>
              <a:t>Viscous Morison drag F_drag — not in BEM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Static equilibrium solve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Time-integrate the Cummins EoM → x(t)</a:t>
            </a:r>
          </a:p>
          <a:p>
            <a:pPr>
              <a:spcAft>
                <a:spcPts val="2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Output: decay period T &amp; damping 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596128" y="3246120"/>
            <a:ext cx="932688" cy="457200"/>
          </a:xfrm>
          <a:prstGeom prst="rightArrow">
            <a:avLst/>
          </a:prstGeom>
          <a:solidFill>
            <a:srgbClr val="5463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3730752"/>
            <a:ext cx="1600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4636D"/>
                </a:solidFill>
                <a:latin typeface="Consolas"/>
              </a:rPr>
              <a:t>capytaine_
osu_buoy.nc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08192"/>
            <a:ext cx="10927080" cy="5669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6144768"/>
            <a:ext cx="10515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Capytaine = the hydrodynamic coefficients</a:t>
            </a:r>
            <a:r>
              <a:rPr sz="1250" b="0">
                <a:solidFill>
                  <a:srgbClr val="25323A"/>
                </a:solidFill>
                <a:latin typeface="Segoe UI"/>
              </a:rPr>
              <a:t>   ·   </a:t>
            </a:r>
            <a:r>
              <a:rPr sz="1250" b="1">
                <a:solidFill>
                  <a:srgbClr val="0A5560"/>
                </a:solidFill>
                <a:latin typeface="Segoe UI"/>
              </a:rPr>
              <a:t>FloatSim = the equation of motion in time</a:t>
            </a:r>
            <a:r>
              <a:rPr sz="1250" b="0">
                <a:solidFill>
                  <a:srgbClr val="25323A"/>
                </a:solidFill>
                <a:latin typeface="Segoe UI"/>
              </a:rPr>
              <a:t>  (adds mass, viscous drag, mooring, equilibrium; converts B(ω)→K(t)).  Decay T and ζ are a FloatSim output.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Limits — and why the heave plate needs the tank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Potential flow is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inviscid and linear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 Two consequences for us: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No viscous drag in the BEM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all quadratic / viscous damping is added separately as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Morison drag F_drag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not from Capytaine.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Panels treat every surface as solid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→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over-predicts added mass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for the open/perforated heave-plate frame (it blocks flow the real perforations pass).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Practical split for the OSU buoy: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Spar (6″ pipe)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clean cylinder → the BEM is reliable.</a:t>
            </a:r>
          </a:p>
          <a:p>
            <a:pPr lvl="1">
              <a:spcBef>
                <a:spcPts val="200"/>
              </a:spcBef>
              <a:spcAft>
                <a:spcPts val="11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Heave-plate / ballast frame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A and B are BEM </a:t>
            </a:r>
            <a:r>
              <a:rPr sz="1600" b="1" i="0">
                <a:solidFill>
                  <a:srgbClr val="25323A"/>
                </a:solidFill>
                <a:latin typeface="Segoe UI"/>
              </a:rPr>
              <a:t>stand-ins until the tank test measures them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WE ASSUMED,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Modelling assumptions &amp; their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64208"/>
          <a:ext cx="1120140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88920"/>
                <a:gridCol w="2148840"/>
                <a:gridCol w="6263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Assumption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Basis / support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Spar drag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</a:t>
                      </a:r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 (transverse)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1.2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Smooth circular cylinder (Morison). Standard 1.0–1.2 (DNV-RP-C205; Sarpkaya). </a:t>
                      </a:r>
                      <a:r>
                        <a:rPr sz="1100" b="0" i="1">
                          <a:solidFill>
                            <a:srgbClr val="25323A"/>
                          </a:solidFill>
                          <a:latin typeface="Segoe UI"/>
                        </a:rPr>
                        <a:t>Sets surge &amp; pitch drag; negligible in heave.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normal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Cd_n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5.0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Flat disc at low KC (≈ 2–3 at a 100 mm release): flow separates, published Cd ≈ 4–8. Dominates heave damping.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Placeholder → the tank pins it.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Heave-plate tangential  </a:t>
                      </a:r>
                      <a:r>
                        <a:rPr sz="1200" b="0" i="1">
                          <a:solidFill>
                            <a:srgbClr val="25323A"/>
                          </a:solidFill>
                          <a:latin typeface="Segoe UI"/>
                        </a:rPr>
                        <a:t>Cd_t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1.5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Edge / skin friction on the rim; small contribution.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Plate added mass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D1543A"/>
                          </a:solidFill>
                          <a:latin typeface="Segoe UI"/>
                        </a:rPr>
                        <a:t>solid disc, Ø0.287 m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Potential-flow UPPER bound — the perforated/webbed frame passes flow, so it adds less (porous-disk theory, Molin).  </a:t>
                      </a:r>
                      <a:r>
                        <a:rPr sz="1100" b="1" i="0">
                          <a:solidFill>
                            <a:srgbClr val="D1543A"/>
                          </a:solidFill>
                          <a:latin typeface="Segoe UI"/>
                        </a:rPr>
                        <a:t>Bracket → the tank pins A33.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Mass / CoG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21.52 kg;  −0.907 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Spreadsheet structure 8.16 kg + measured unloaded waterline 967 mm. Independent geometry check (cyl + frame + lead) agrees within ~1.5%.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Pitch / roll inertia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10.2 kg·m²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gmsh per-part inertia tensors + uniform effective density; the deep lead ballast dominates, so it is robust to the internal mass split. CATIA would refine.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5323A"/>
                          </a:solidFill>
                          <a:latin typeface="Segoe UI"/>
                        </a:rPr>
                        <a:t>Water &amp; BEM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25323A"/>
                          </a:solidFill>
                          <a:latin typeface="Segoe UI"/>
                        </a:rPr>
                        <a:t>fresh; deep; linear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OSU Hinsdale lab is fresh (ρ = 998); period is density-independent for a free body. Potential flow is inviscid — viscous drag added via Morison. Confirm tank depth vs 1.42 m draft.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272784"/>
            <a:ext cx="11201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D1543A"/>
                </a:solidFill>
                <a:latin typeface="Segoe UI"/>
              </a:rPr>
              <a:t>Red = placeholder the tank measures</a:t>
            </a:r>
            <a:r>
              <a:rPr sz="1050" b="0">
                <a:solidFill>
                  <a:srgbClr val="54636D"/>
                </a:solidFill>
                <a:latin typeface="Segoe UI"/>
              </a:rPr>
              <a:t>  (period → plate added mass, decay rate → plate Cd).  Coefficient ranges per DNV-RP-C205 &amp; Sarpkaya; perforated-plate reduction per porous-disk theory.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WHAT TO EXPECT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Pre-test heave decay prediction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heave_decay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10058400" cy="401474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0A5560"/>
                </a:solidFill>
                <a:latin typeface="Segoe UI"/>
              </a:rPr>
              <a:t>Period is predictable → T ≈ 2.3–2.4 s</a:t>
            </a:r>
            <a:r>
              <a:rPr sz="1400" b="0">
                <a:solidFill>
                  <a:srgbClr val="25323A"/>
                </a:solidFill>
                <a:latin typeface="Segoe UI"/>
              </a:rPr>
              <a:t>   (M, C₃₃ known; only plate added mass uncertain).   </a:t>
            </a:r>
            <a:r>
              <a:rPr sz="1400" b="1">
                <a:solidFill>
                  <a:srgbClr val="D1543A"/>
                </a:solidFill>
                <a:latin typeface="Segoe UI"/>
              </a:rPr>
              <a:t>Damping is the measurement</a:t>
            </a:r>
            <a:r>
              <a:rPr sz="1400" b="0">
                <a:solidFill>
                  <a:srgbClr val="25323A"/>
                </a:solidFill>
                <a:latin typeface="Segoe UI"/>
              </a:rPr>
              <a:t>  → ζ₁ ≈ 8–15% at 100 mm.  Test pins: period→added mass, decay→drag Cd.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PHYSICS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does T = 2.5 s come from? — first, without added mass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Heave is a one-DOF oscillator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the buoy bobs vertically on the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waterplane buoyancy spring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Stiffness </a:t>
            </a:r>
            <a:r>
              <a:rPr sz="1800" b="1" i="0">
                <a:solidFill>
                  <a:srgbClr val="0A5560"/>
                </a:solidFill>
                <a:latin typeface="Segoe UI"/>
              </a:rPr>
              <a:t>C₃₃ = ρ g A_wp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: the restoring buoyancy per metre of submergence (A_wp = 6″ spar waterplane area).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The naive “dry” period uses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structural mass M alone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— no water entrained:</a:t>
            </a:r>
          </a:p>
        </p:txBody>
      </p:sp>
      <p:sp>
        <p:nvSpPr>
          <p:cNvPr id="6" name="Rectangle 5"/>
          <p:cNvSpPr/>
          <p:nvPr/>
        </p:nvSpPr>
        <p:spPr>
          <a:xfrm>
            <a:off x="3429000" y="3246120"/>
            <a:ext cx="5349240" cy="93268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0" y="3346704"/>
            <a:ext cx="5349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25323A"/>
                </a:solidFill>
                <a:latin typeface="Cambria Math"/>
              </a:rPr>
              <a:t>T₀ = 2π √( M / C₃₃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25323A"/>
                </a:solidFill>
                <a:latin typeface="Segoe UI"/>
              </a:rPr>
              <a:t>M = 21.52 kg</a:t>
            </a:r>
            <a:r>
              <a:rPr sz="1700" b="1">
                <a:solidFill>
                  <a:srgbClr val="25323A"/>
                </a:solidFill>
                <a:latin typeface="Segoe UI"/>
              </a:rPr>
              <a:t>        C₃₃ = 194.5 N/m</a:t>
            </a:r>
            <a:r>
              <a:rPr sz="1700" b="0">
                <a:solidFill>
                  <a:srgbClr val="25323A"/>
                </a:solidFill>
                <a:latin typeface="Segoe UI"/>
              </a:rPr>
              <a:t>        →        </a:t>
            </a:r>
            <a:r>
              <a:rPr sz="2000" b="1">
                <a:solidFill>
                  <a:srgbClr val="0A5560"/>
                </a:solidFill>
                <a:latin typeface="Segoe UI"/>
              </a:rPr>
              <a:t>T₀ = 2.09 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138928"/>
            <a:ext cx="10607040" cy="102412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230368"/>
            <a:ext cx="10149840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25323A"/>
                </a:solidFill>
                <a:latin typeface="Segoe UI"/>
              </a:rPr>
              <a:t>But the field test measured 2.50 s. </a:t>
            </a:r>
            <a:r>
              <a:rPr sz="1500" b="1">
                <a:solidFill>
                  <a:srgbClr val="D1543A"/>
                </a:solidFill>
                <a:latin typeface="Segoe UI"/>
              </a:rPr>
              <a:t>The buoy behaves ~45% heavier than its structure</a:t>
            </a:r>
            <a:r>
              <a:rPr sz="1500" b="0">
                <a:solidFill>
                  <a:srgbClr val="25323A"/>
                </a:solidFill>
                <a:latin typeface="Segoe UI"/>
              </a:rPr>
              <a:t> — it drags a slug of water with it as it accelerates. That missing inertia is </a:t>
            </a:r>
            <a:r>
              <a:rPr sz="1500" b="1">
                <a:solidFill>
                  <a:srgbClr val="D1543A"/>
                </a:solidFill>
                <a:latin typeface="Segoe UI"/>
              </a:rPr>
              <a:t>added mass</a:t>
            </a:r>
            <a:r>
              <a:rPr sz="1500" b="0">
                <a:solidFill>
                  <a:srgbClr val="25323A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THE PHYSICS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Added mass — how Capytaine computes it, and how it sets 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737360"/>
            <a:ext cx="5532120" cy="3913632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553212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HOW CAPYTAINE COMPUTES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67712"/>
            <a:ext cx="5532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radiation problem · one run · per frequency 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70048"/>
            <a:ext cx="5056631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Force the hull to oscillate in still water at ω (heave DOF, no incoming waves).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Integrate the flow pressure over the hull → the hydrodynamic reaction force.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Split that force by phase: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    – </a:t>
            </a:r>
            <a:r>
              <a:rPr sz="1300" b="0" i="0">
                <a:solidFill>
                  <a:srgbClr val="0A5560"/>
                </a:solidFill>
                <a:latin typeface="Segoe UI"/>
              </a:rPr>
              <a:t>∝ acceleration  →  added mass A(ω)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    – </a:t>
            </a:r>
            <a:r>
              <a:rPr sz="1300" b="0" i="0">
                <a:solidFill>
                  <a:srgbClr val="54636D"/>
                </a:solidFill>
                <a:latin typeface="Segoe UI"/>
              </a:rPr>
              <a:t>∝ velocity  →  radiation damping B(ω)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F_rad = −A(ω)·ẍ − B(ω)·ẋ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A∞ (ω→∞ limit) = 9.7 kg ≈ 45% of M — mostly the broad plate.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3912" y="1737360"/>
            <a:ext cx="5532120" cy="3913632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3912" y="1737360"/>
            <a:ext cx="553212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HOW A SETS THE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3912" y="2267712"/>
            <a:ext cx="55321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extra inertia → longer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670048"/>
            <a:ext cx="5056631" cy="2862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Add A to the mass in the same oscillator: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T = 2π √( (M + A) / C₃₃ 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Period-stretch factor = √((M+A)/M)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= √(31.2 / 21.5) = 1.205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2.09 s  ×  1.205  =  2.52 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1">
                <a:solidFill>
                  <a:srgbClr val="25323A"/>
                </a:solidFill>
                <a:latin typeface="Segoe UI"/>
              </a:rPr>
              <a:t>Heave inertia is ~45% water — A moves the period; C₃₃ is known, so the period is a clean prediction, the damping is the measurement.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852160"/>
            <a:ext cx="10927080" cy="713232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888736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The field test (2.50 s) lands on the WET period 2.52 s</a:t>
            </a:r>
            <a:r>
              <a:rPr sz="1300" b="0">
                <a:solidFill>
                  <a:srgbClr val="25323A"/>
                </a:solidFill>
                <a:latin typeface="Segoe UI"/>
              </a:rPr>
              <a:t> — not the dry 2.09 s. Direct evidence the entrained-water added mass (~9.7 kg) is real and correctly sized.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Field heave-decay test — a first real-world 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field_heave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28800"/>
            <a:ext cx="7589520" cy="34152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01000" y="1828800"/>
            <a:ext cx="3794760" cy="3419856"/>
          </a:xfrm>
          <a:prstGeom prst="rect">
            <a:avLst/>
          </a:prstGeom>
          <a:solidFill>
            <a:srgbClr val="F7FAFB"/>
          </a:solidFill>
          <a:ln w="15875">
            <a:solidFill>
              <a:srgbClr val="0A55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0" y="1828800"/>
            <a:ext cx="3794760" cy="548640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DAMPING → DECAY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359152"/>
            <a:ext cx="379476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how ζ shrinks each swing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7031" y="2761488"/>
            <a:ext cx="3319272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Envelope e^(−ζωₙt) — each swing shrinks by a fixed ratio.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That ratio is the log-decrement δ: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δ = 2πζ / √(1−ζ²) ≈ 2πζ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25323A"/>
                </a:solidFill>
                <a:latin typeface="Segoe UI"/>
              </a:rPr>
              <a:t>Aₙ₊₁ / Aₙ = e^(−δ)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ζ = 13% → e^(−0.82) = 0.44  (~55% off/cycle)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A5560"/>
                </a:solidFill>
                <a:latin typeface="Segoe UI"/>
              </a:rPr>
              <a:t>•  </a:t>
            </a:r>
            <a:r>
              <a:rPr sz="1300" b="0" i="1">
                <a:solidFill>
                  <a:srgbClr val="54636D"/>
                </a:solidFill>
                <a:latin typeface="Segoe UI"/>
              </a:rPr>
              <a:t>The 2π turns a “small” 13% into a near-halving each bob.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468112"/>
            <a:ext cx="10927080" cy="896112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5522976"/>
            <a:ext cx="1056132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Non-official handheld video</a:t>
            </a:r>
            <a:r>
              <a:rPr sz="1250" b="0">
                <a:solidFill>
                  <a:srgbClr val="25323A"/>
                </a:solidFill>
                <a:latin typeface="Segoe UI"/>
              </a:rPr>
              <a:t>, motion-tracked frame-by-frame; the camera pan (~95 px ≫ the heave) is removed by referencing the fixed horizon. Buoy released ≈9.3 s, then rings down — heavily damped, so ~1½ cycles resolve.  </a:t>
            </a:r>
            <a:r>
              <a:rPr sz="1250" b="1">
                <a:solidFill>
                  <a:srgbClr val="0A5560"/>
                </a:solidFill>
                <a:latin typeface="Segoe UI"/>
              </a:rPr>
              <a:t>Period &amp; damping are scale-free.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Model vs field test — period &amp; damping match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783080"/>
          <a:ext cx="10927080" cy="1664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0360"/>
                <a:gridCol w="2743200"/>
                <a:gridCol w="274320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Quantity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Model (FloatSim / Capytaine)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Field video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Segoe UI"/>
                        </a:rPr>
                        <a:t>How measured</a:t>
                      </a:r>
                    </a:p>
                  </a:txBody>
                  <a:tcPr anchor="ctr" marL="88900" marR="63500" marT="25400" marB="25400">
                    <a:solidFill>
                      <a:srgbClr val="0C8B9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5323A"/>
                          </a:solidFill>
                          <a:latin typeface="Segoe UI"/>
                        </a:rPr>
                        <a:t>Heave period  T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25323A"/>
                          </a:solidFill>
                          <a:latin typeface="Segoe UI"/>
                        </a:rPr>
                        <a:t>2.52 s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0A5560"/>
                          </a:solidFill>
                          <a:latin typeface="Segoe UI"/>
                        </a:rPr>
                        <a:t>≈ 2.50 s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max→max 2.50; half-periods ×2 = 2.47 &amp; 2.53 s</a:t>
                      </a:r>
                    </a:p>
                  </a:txBody>
                  <a:tcPr anchor="ctr" marL="88900" marR="63500" marT="25400" marB="25400">
                    <a:solidFill>
                      <a:srgbClr val="F3F8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25323A"/>
                          </a:solidFill>
                          <a:latin typeface="Segoe UI"/>
                        </a:rPr>
                        <a:t>Heave damping  ζ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25323A"/>
                          </a:solidFill>
                          <a:latin typeface="Segoe UI"/>
                        </a:rPr>
                        <a:t>8–15 %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0A5560"/>
                          </a:solidFill>
                          <a:latin typeface="Segoe UI"/>
                        </a:rPr>
                        <a:t>≈ 12–13 %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5323A"/>
                          </a:solidFill>
                          <a:latin typeface="Segoe UI"/>
                        </a:rPr>
                        <a:t>log-dec: two maxima → 13 %; max→min half-cycle → 12 %</a:t>
                      </a:r>
                    </a:p>
                  </a:txBody>
                  <a:tcPr anchor="ctr" marL="889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3794760"/>
            <a:ext cx="10927080" cy="65836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831336"/>
            <a:ext cx="105613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0A5560"/>
                </a:solidFill>
                <a:latin typeface="Segoe UI"/>
              </a:rPr>
              <a:t>Both match</a:t>
            </a:r>
            <a:r>
              <a:rPr sz="1500" b="0">
                <a:solidFill>
                  <a:srgbClr val="25323A"/>
                </a:solidFill>
                <a:latin typeface="Segoe UI"/>
              </a:rPr>
              <a:t> — period within ~1 % of the simulation, damping inside the predicted band. A first independent, real-world corroboration of the heave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177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D1543A"/>
                </a:solidFill>
                <a:latin typeface="Segoe UI"/>
              </a:rPr>
              <a:t>Large release (~14 cm first swing)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→ first-cycle Morison quadratic drag is high, so ζ sits at the </a:t>
            </a:r>
            <a:r>
              <a:rPr sz="1400" b="1" i="0">
                <a:solidFill>
                  <a:srgbClr val="25323A"/>
                </a:solidFill>
                <a:latin typeface="Segoe UI"/>
              </a:rPr>
              <a:t>upper end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of the 8–15 % band; it should fall on smaller cycles.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The analytic hand-estimate on the prior slide (2.3–2.4 s) low-bracketed the plate added mass; the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full decay sim gives 2.52 s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— which the test confirms.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400">
                <a:solidFill>
                  <a:srgbClr val="0C8B96"/>
                </a:solidFill>
                <a:latin typeface="Segoe UI"/>
              </a:rPr>
              <a:t>•  </a:t>
            </a:r>
            <a:r>
              <a:rPr sz="1400" b="1" i="0">
                <a:solidFill>
                  <a:srgbClr val="D1543A"/>
                </a:solidFill>
                <a:latin typeface="Segoe UI"/>
              </a:rPr>
              <a:t>Still non-official &amp; handheld</a:t>
            </a:r>
            <a:r>
              <a:rPr sz="1400" b="0" i="0">
                <a:solidFill>
                  <a:srgbClr val="25323A"/>
                </a:solidFill>
                <a:latin typeface="Segoe UI"/>
              </a:rPr>
              <a:t> — the instrumented tank test remains the source of truth for the perforated plate's added-mass / drag split.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DESIGN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Where to put the heave plate? — pitch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late_depth_pitch_stu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1554480"/>
            <a:ext cx="9601200" cy="385735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43600"/>
            <a:ext cx="10607040" cy="731520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80176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Plate depth barely moves pitch damping</a:t>
            </a:r>
            <a:r>
              <a:rPr sz="1300" b="0">
                <a:solidFill>
                  <a:srgbClr val="25323A"/>
                </a:solidFill>
                <a:latin typeface="Segoe UI"/>
              </a:rPr>
              <a:t> (ζ 1.5 → 1.7 % over a 4× lever-arm change) or heave: an axial plate meets pitch EDGE-ON, so its broadside added mass &amp; drag hardly engage it. The period moves 2.63 → 2.78 s through C55 (the disc's buoyancy).  </a:t>
            </a:r>
            <a:r>
              <a:rPr sz="1300" b="1">
                <a:solidFill>
                  <a:srgbClr val="0A5560"/>
                </a:solidFill>
                <a:latin typeface="Segoe UI"/>
              </a:rPr>
              <a:t>Deck tilt is a ballast/CoG job, not a plate-depth job.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Do the buoy gimbals help the platform? — pin vs rigid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Scaling up: 16 buoys on a shared platform — a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still, level deck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for rockets / datacenters / hotels.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Each buoy joins the platform through the </a:t>
            </a:r>
            <a:r>
              <a:rPr sz="1800" b="1" i="0">
                <a:solidFill>
                  <a:srgbClr val="25323A"/>
                </a:solidFill>
                <a:latin typeface="Segoe UI"/>
              </a:rPr>
              <a:t>gimbal at its top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 (a pin: roll/pitch free). Does that beat welding the assembly rigid?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Same 16-buoy deck, same hydro / drag / geometry — only the joint type changes: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0A5560"/>
                </a:solidFill>
                <a:latin typeface="Segoe UI"/>
              </a:rPr>
              <a:t>Articulated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a pin (the current design)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54636D"/>
                </a:solidFill>
                <a:latin typeface="Segoe UI"/>
              </a:rPr>
              <a:t>      –  </a:t>
            </a:r>
            <a:r>
              <a:rPr sz="1600" b="1" i="0">
                <a:solidFill>
                  <a:srgbClr val="D1543A"/>
                </a:solidFill>
                <a:latin typeface="Segoe UI"/>
              </a:rPr>
              <a:t>Whole-chain rigid</a:t>
            </a:r>
            <a:r>
              <a:rPr sz="1600" b="0" i="0">
                <a:solidFill>
                  <a:srgbClr val="25323A"/>
                </a:solidFill>
                <a:latin typeface="Segoe UI"/>
              </a:rPr>
              <a:t> — every joint welded → one rigid raft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800">
                <a:solidFill>
                  <a:srgbClr val="0C8B96"/>
                </a:solidFill>
                <a:latin typeface="Segoe UI"/>
              </a:rPr>
              <a:t>•  </a:t>
            </a:r>
            <a:r>
              <a:rPr sz="1800" b="0" i="0">
                <a:solidFill>
                  <a:srgbClr val="25323A"/>
                </a:solidFill>
                <a:latin typeface="Segoe UI"/>
              </a:rPr>
              <a:t>Metrics: deck tilt (pitch), heave, and the moment carried at each buoy→platform joint.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PLATFORM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Pin vs rigid — the pin wins on every axis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vr_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10972800" cy="361462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52160"/>
            <a:ext cx="102412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0A5560"/>
                </a:solidFill>
                <a:latin typeface="Segoe UI"/>
              </a:rPr>
              <a:t>Same heave</a:t>
            </a:r>
            <a:r>
              <a:rPr sz="1300" b="0">
                <a:solidFill>
                  <a:srgbClr val="25323A"/>
                </a:solidFill>
                <a:latin typeface="Segoe UI"/>
              </a:rPr>
              <a:t>; the rigid raft tilts </a:t>
            </a:r>
            <a:r>
              <a:rPr sz="1300" b="1">
                <a:solidFill>
                  <a:srgbClr val="D1543A"/>
                </a:solidFill>
                <a:latin typeface="Segoe UI"/>
              </a:rPr>
              <a:t>1.3–3.5× more</a:t>
            </a:r>
            <a:r>
              <a:rPr sz="1300" b="0">
                <a:solidFill>
                  <a:srgbClr val="25323A"/>
                </a:solidFill>
                <a:latin typeface="Segoe UI"/>
              </a:rPr>
              <a:t>; and the pin carries </a:t>
            </a:r>
            <a:r>
              <a:rPr sz="1300" b="1">
                <a:solidFill>
                  <a:srgbClr val="0A5560"/>
                </a:solidFill>
                <a:latin typeface="Segoe UI"/>
              </a:rPr>
              <a:t>~zero connection moment</a:t>
            </a:r>
            <a:r>
              <a:rPr sz="1300" b="0">
                <a:solidFill>
                  <a:srgbClr val="25323A"/>
                </a:solidFill>
                <a:latin typeface="Segoe UI"/>
              </a:rPr>
              <a:t> vs the weld's hundreds of N·m/m. The gimbals absorb buoy tilt instead of dumping it into the deck.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FLUME TEST · REBUTTAL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Phase-3 platform in the HWRL flume — is it too big?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4305256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1783080"/>
            <a:ext cx="5760720" cy="4343400"/>
          </a:xfrm>
          <a:prstGeom prst="rect">
            <a:avLst/>
          </a:prstGeom>
          <a:solidFill>
            <a:srgbClr val="F7FAFB"/>
          </a:solidFill>
          <a:ln w="15875">
            <a:solidFill>
              <a:srgbClr val="0C8B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783080"/>
            <a:ext cx="5760720" cy="54864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THE REVIEW COMMENT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313432"/>
            <a:ext cx="576072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50" i="1">
                <a:solidFill>
                  <a:srgbClr val="54636D"/>
                </a:solidFill>
                <a:latin typeface="Segoe UI"/>
              </a:rPr>
              <a:t>TEAMER Phase-3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2715768"/>
            <a:ext cx="5285231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/>
            </a:r>
            <a:r>
              <a:rPr sz="1300" b="0" i="1">
                <a:solidFill>
                  <a:srgbClr val="25323A"/>
                </a:solidFill>
                <a:latin typeface="Segoe UI"/>
              </a:rPr>
              <a:t>“2.50 m platform inside HWRL's 3.67 m flume leaves 0.6 m side clearance, inducing severe sidewall reflections that will corrupt dynamic data.”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Phase 3 = the platform (12 buoys); free-decay + wave sweeps.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5323A"/>
                </a:solidFill>
                <a:latin typeface="Segoe UI"/>
              </a:rPr>
              <a:t>2.5 m is to buoy CENTRES; with the plates the outer span is 2.79 m = 68% of the width → ~44 cm/side (tighter than the 0.6 m assumed).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C8B96"/>
                </a:solidFill>
                <a:latin typeface="Segoe UI"/>
              </a:rPr>
              <a:t>⇒ 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Assessed walls-in vs walls-out at the same 2.7 m depth — isolates the walls.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C8B96"/>
                </a:solidFill>
                <a:latin typeface="Segoe UI"/>
              </a:rPr>
              <a:t>FLUME TEST · REBUTTAL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5323A"/>
                </a:solidFill>
                <a:latin typeface="Segoe UI"/>
              </a:rPr>
              <a:t>Sidewall reflections do not corrupt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201168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SU_flume_rebut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10927080" cy="41921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943600"/>
            <a:ext cx="10927080" cy="749808"/>
          </a:xfrm>
          <a:prstGeom prst="rect">
            <a:avLst/>
          </a:prstGeom>
          <a:solidFill>
            <a:srgbClr val="EE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980176"/>
            <a:ext cx="105613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0A5560"/>
                </a:solidFill>
                <a:latin typeface="Segoe UI"/>
              </a:rPr>
              <a:t>The platform barely radiates</a:t>
            </a:r>
            <a:r>
              <a:rPr sz="1250" b="0">
                <a:solidFill>
                  <a:srgbClr val="25323A"/>
                </a:solidFill>
                <a:latin typeface="Segoe UI"/>
              </a:rPr>
              <a:t> (heave radiation = only 3.5% of the damping) → almost no wave to reflect. Walls-in vs walls-out shifts every natural period </a:t>
            </a:r>
            <a:r>
              <a:rPr sz="1250" b="1">
                <a:solidFill>
                  <a:srgbClr val="0A5560"/>
                </a:solidFill>
                <a:latin typeface="Segoe UI"/>
              </a:rPr>
              <a:t>&lt;0.7%</a:t>
            </a:r>
            <a:r>
              <a:rPr sz="1250" b="0">
                <a:solidFill>
                  <a:srgbClr val="25323A"/>
                </a:solidFill>
                <a:latin typeface="Segoe UI"/>
              </a:rPr>
              <a:t> and every wave load </a:t>
            </a:r>
            <a:r>
              <a:rPr sz="1250" b="1">
                <a:solidFill>
                  <a:srgbClr val="0A5560"/>
                </a:solidFill>
                <a:latin typeface="Segoe UI"/>
              </a:rPr>
              <a:t>≤9%</a:t>
            </a:r>
            <a:r>
              <a:rPr sz="1250" b="0">
                <a:solidFill>
                  <a:srgbClr val="25323A"/>
                </a:solidFill>
                <a:latin typeface="Segoe UI"/>
              </a:rPr>
              <a:t> — inside test uncertainty. Only caveat: avoid the transverse cut-ons (2.19 / 1.53 / 1.25 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