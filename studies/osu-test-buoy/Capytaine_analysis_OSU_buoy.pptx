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C8B96"/>
                </a:solidFill>
                <a:latin typeface="Segoe UI"/>
              </a:rPr>
              <a:t>DIFFRACTION &amp; RADIATION ANALYSIS</a:t>
            </a:r>
          </a:p>
          <a:p>
            <a:pPr>
              <a:spcBef>
                <a:spcPts val="600"/>
              </a:spcBef>
            </a:pPr>
            <a:r>
              <a:rPr sz="4000" b="1">
                <a:solidFill>
                  <a:srgbClr val="25323A"/>
                </a:solidFill>
                <a:latin typeface="Segoe UI"/>
              </a:rPr>
              <a:t>How we compute the buoy's
hydrodynamics in Capytaine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257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"/>
              </a:rPr>
              <a:t>OSU Test Buoy  ·  potential-flow BEM  →  time-domain FloatSim (Cummins)</a:t>
            </a:r>
          </a:p>
          <a:p>
            <a:r>
              <a:rPr sz="1400">
                <a:solidFill>
                  <a:srgbClr val="EEF6F7"/>
                </a:solidFill>
                <a:latin typeface="Segoe UI"/>
              </a:rPr>
              <a:t>Two sub-problems (radiation + diffraction), their outputs, and how they drive the simulation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What Capytaine computes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Boundary-element (panel) solver for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linear potential-flow hydrodynamics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In: the wetted hull as a mesh of panels.  Out: the flow (velocity potential φ) around it in regular waves at each frequency ω.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“Potential flow” =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inviscid, irrotational, small (linear)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waves &amp; motions — the one assumption that sets both the outputs and the limits.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Key idea —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superposition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: the wave-body problem splits into two sub-problems, solved separately and added: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Radiation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body wavemaking in still water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Diffraction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body held fixed under incoming waves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mesh we solve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SU_buoy_mesh_capyta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371600"/>
            <a:ext cx="6881071" cy="45537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6035040"/>
            <a:ext cx="10607040" cy="64008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71616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5323A"/>
                </a:solidFill>
                <a:latin typeface="Segoe UI"/>
              </a:rPr>
              <a:t>6″ spar cylinder + a </a:t>
            </a:r>
            <a:r>
              <a:rPr sz="1300" b="1">
                <a:solidFill>
                  <a:srgbClr val="0A5560"/>
                </a:solidFill>
                <a:latin typeface="Segoe UI"/>
              </a:rPr>
              <a:t>placeholder solid equal-area disc</a:t>
            </a:r>
            <a:r>
              <a:rPr sz="1300" b="0">
                <a:solidFill>
                  <a:srgbClr val="25323A"/>
                </a:solidFill>
                <a:latin typeface="Segoe UI"/>
              </a:rPr>
              <a:t> for the perforated heave plate.  Capytaine meshes the </a:t>
            </a:r>
            <a:r>
              <a:rPr sz="1300" b="1">
                <a:solidFill>
                  <a:srgbClr val="25323A"/>
                </a:solidFill>
                <a:latin typeface="Segoe UI"/>
              </a:rPr>
              <a:t>wetted part (z &lt; 0, 3408 panels)</a:t>
            </a:r>
            <a:r>
              <a:rPr sz="1300" b="0">
                <a:solidFill>
                  <a:srgbClr val="25323A"/>
                </a:solidFill>
                <a:latin typeface="Segoe UI"/>
              </a:rPr>
              <a:t>; the plate’s real hydro comes from the tank.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two sub-problems — and how they combine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pytaine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691640"/>
            <a:ext cx="784898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SUB-PROBLEM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Radiation — “body as a wavemaker”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Turn incident waves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off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Force the body to oscillate in still water — one DOF at a time, at each ω.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It radiates its own waves; the reaction force has two pieces: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Added mass A(ω)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in phase with acceleration (virtual mass of entrained water).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Radiation damping B(ω)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in phase with velocity (energy carried off as radiated waves).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6×6 matrices per ω — captures cross-DOF coupling (e.g. heave → pitch).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→ This run produces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A(ω) and B(ω)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curves.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SUB-PROBLEM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Diffraction — “body as an obstacle”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Hold the body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fixed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Let incident waves scatter off it.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Net wave-pressure force on the fixed hull =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excitation force F_exc(ω, β)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(β = wave heading):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Froude–Krylov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force from the undisturbed incident-wave pressure.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Diffraction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correction because the body scatters the waves.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→ This run produces the wave forcing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F_exc(ω)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that drives the motion.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Plus the hydrostatic stiffness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(buoyancy / waterplane) from the geometry.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From frequency domain to time-domain simulation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A(ω), B(ω) can’t go straight into a time-stepper — a transient contains all frequencies at once. Bridge =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Cummins equation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: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14600"/>
            <a:ext cx="10607040" cy="105156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5323A"/>
                </a:solidFill>
                <a:latin typeface="Cambria Math"/>
              </a:rPr>
              <a:t>(M + A∞) ẍ  +  ∫₀ᵗ K(t−τ) ẋ(τ) dτ  +  C x  =  F_exc(t)  +  F_drag(ẋ)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49039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A∞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= infinite-frequency added mass.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K(t) = (2/π)∫ B(ω) cos(ωt) dω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— the retardation kernel = </a:t>
            </a:r>
            <a:r>
              <a:rPr sz="1800" b="0" i="1">
                <a:solidFill>
                  <a:srgbClr val="25323A"/>
                </a:solidFill>
                <a:latin typeface="Segoe UI"/>
              </a:rPr>
              <a:t>fluid memory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of previously radiated waves.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Mapping: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Radiation → A∞ + K(t)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 · 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Diffraction → F_exc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 · 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Hydrostatics → 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 FloatSim integrates this in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DIVISION OF LABOUR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Who computes what — Capytaine vs FloatSim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83080"/>
            <a:ext cx="5029200" cy="4160520"/>
          </a:xfrm>
          <a:prstGeom prst="rect">
            <a:avLst/>
          </a:prstGeom>
          <a:solidFill>
            <a:srgbClr val="F7FAFB"/>
          </a:solidFill>
          <a:ln w="15875">
            <a:solidFill>
              <a:srgbClr val="0C8B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0" cy="54864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CAPYTAINE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13432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run once · frequency domain · linear + inviscid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15768"/>
            <a:ext cx="455371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Panel mesh of the wetted hull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Radiation problem → A(ω), A∞ and B(ω)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Diffraction problem → F_exc(ω, β)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Hydrostatic stiffness C (buoyancy)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Outputs: hydrodynamic coefficients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656832" y="1783080"/>
            <a:ext cx="5029200" cy="4160520"/>
          </a:xfrm>
          <a:prstGeom prst="rect">
            <a:avLst/>
          </a:prstGeom>
          <a:solidFill>
            <a:srgbClr val="F7FAFB"/>
          </a:solidFill>
          <a:ln w="15875">
            <a:solidFill>
              <a:srgbClr val="0A5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56832" y="1783080"/>
            <a:ext cx="5029200" cy="548640"/>
          </a:xfrm>
          <a:prstGeom prst="rect">
            <a:avLst/>
          </a:prstGeom>
          <a:solidFill>
            <a:srgbClr val="0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FLOATSIM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2" y="2313432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per simulation · time 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2715768"/>
            <a:ext cx="455371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Retardation kernel K(t) from B(ω)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Body mass &amp; inertia M (structure)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Assemble (M+A∞), C + gravity m·g·z_G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D1543A"/>
                </a:solidFill>
                <a:latin typeface="Segoe UI"/>
              </a:rPr>
              <a:t>Viscous Morison drag F_drag — not in BEM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Static equilibrium solve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Time-integrate the Cummins EoM → x(t)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Output: decay period T &amp; damping 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596128" y="3246120"/>
            <a:ext cx="932688" cy="457200"/>
          </a:xfrm>
          <a:prstGeom prst="rightArrow">
            <a:avLst/>
          </a:prstGeom>
          <a:solidFill>
            <a:srgbClr val="546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3730752"/>
            <a:ext cx="1600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4636D"/>
                </a:solidFill>
                <a:latin typeface="Consolas"/>
              </a:rPr>
              <a:t>capytaine_
osu_buoy.nc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6108192"/>
            <a:ext cx="10927080" cy="56692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6144768"/>
            <a:ext cx="10515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0A5560"/>
                </a:solidFill>
                <a:latin typeface="Segoe UI"/>
              </a:rPr>
              <a:t>Capytaine = the hydrodynamic coefficients</a:t>
            </a:r>
            <a:r>
              <a:rPr sz="1250" b="0">
                <a:solidFill>
                  <a:srgbClr val="25323A"/>
                </a:solidFill>
                <a:latin typeface="Segoe UI"/>
              </a:rPr>
              <a:t>   ·   </a:t>
            </a:r>
            <a:r>
              <a:rPr sz="1250" b="1">
                <a:solidFill>
                  <a:srgbClr val="0A5560"/>
                </a:solidFill>
                <a:latin typeface="Segoe UI"/>
              </a:rPr>
              <a:t>FloatSim = the equation of motion in time</a:t>
            </a:r>
            <a:r>
              <a:rPr sz="1250" b="0">
                <a:solidFill>
                  <a:srgbClr val="25323A"/>
                </a:solidFill>
                <a:latin typeface="Segoe UI"/>
              </a:rPr>
              <a:t>  (adds mass, viscous drag, mooring, equilibrium; converts B(ω)→K(t)).  Decay T and ζ are a FloatSim output.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Limits — and why the heave plate needs the tank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Potential flow is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inviscid and linear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Two consequences for us: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No viscous drag in the BEM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→ all quadratic / viscous damping is added separately as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Morison drag F_drag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not from Capytaine.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Panels treat every surface as solid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→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over-predicts added mass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for the open/perforated heave-plate frame (it blocks flow the real perforations pass).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Practical split for the OSU buoy: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Spar (6″ pipe)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a clean cylinder → the BEM is reliable.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Heave-plate / ballast frame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A and B are BEM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stand-ins until the tank test measures them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WHAT WE ASSUMED,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Modelling assumptions &amp; their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64208"/>
          <a:ext cx="1120140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2148840"/>
                <a:gridCol w="626364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Assumption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Value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Basis / support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Spar drag  </a:t>
                      </a:r>
                      <a:r>
                        <a:rPr sz="1200" b="0" i="1">
                          <a:solidFill>
                            <a:srgbClr val="25323A"/>
                          </a:solidFill>
                          <a:latin typeface="Segoe UI"/>
                        </a:rPr>
                        <a:t>Cd</a:t>
                      </a:r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 (transverse)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1.2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Smooth circular cylinder (Morison). Standard 1.0–1.2 (DNV-RP-C205; Sarpkaya). </a:t>
                      </a:r>
                      <a:r>
                        <a:rPr sz="1100" b="0" i="1">
                          <a:solidFill>
                            <a:srgbClr val="25323A"/>
                          </a:solidFill>
                          <a:latin typeface="Segoe UI"/>
                        </a:rPr>
                        <a:t>Sets surge &amp; pitch drag; negligible in heave.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Heave-plate normal  </a:t>
                      </a:r>
                      <a:r>
                        <a:rPr sz="1200" b="0" i="1">
                          <a:solidFill>
                            <a:srgbClr val="25323A"/>
                          </a:solidFill>
                          <a:latin typeface="Segoe UI"/>
                        </a:rPr>
                        <a:t>Cd_n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D1543A"/>
                          </a:solidFill>
                          <a:latin typeface="Segoe UI"/>
                        </a:rPr>
                        <a:t>5.0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Flat disc at low KC (≈ 2–3 at a 100 mm release): flow separates, published Cd ≈ 4–8. Dominates heave damping.  </a:t>
                      </a:r>
                      <a:r>
                        <a:rPr sz="1100" b="1" i="0">
                          <a:solidFill>
                            <a:srgbClr val="D1543A"/>
                          </a:solidFill>
                          <a:latin typeface="Segoe UI"/>
                        </a:rPr>
                        <a:t>Placeholder → the tank pins it.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Heave-plate tangential  </a:t>
                      </a:r>
                      <a:r>
                        <a:rPr sz="1200" b="0" i="1">
                          <a:solidFill>
                            <a:srgbClr val="25323A"/>
                          </a:solidFill>
                          <a:latin typeface="Segoe UI"/>
                        </a:rPr>
                        <a:t>Cd_t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1.5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Edge / skin friction on the rim; small contribution.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Plate added mass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D1543A"/>
                          </a:solidFill>
                          <a:latin typeface="Segoe UI"/>
                        </a:rPr>
                        <a:t>solid disc, Ø0.287 m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Potential-flow UPPER bound — the perforated/webbed frame passes flow, so it adds less (porous-disk theory, Molin).  </a:t>
                      </a:r>
                      <a:r>
                        <a:rPr sz="1100" b="1" i="0">
                          <a:solidFill>
                            <a:srgbClr val="D1543A"/>
                          </a:solidFill>
                          <a:latin typeface="Segoe UI"/>
                        </a:rPr>
                        <a:t>Bracket → the tank pins A33.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Mass / CoG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21.52 kg;  −0.907 m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Spreadsheet structure 8.16 kg + measured unloaded waterline 967 mm. Independent geometry check (cyl + frame + lead) agrees within ~1.5%.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Pitch / roll inertia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10.2 kg·m²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gmsh per-part inertia tensors + uniform effective density; the deep lead ballast dominates, so it is robust to the internal mass split. CATIA would refine.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Water &amp; BEM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fresh; deep; linear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OSU Hinsdale lab is fresh (ρ = 998); period is density-independent for a free body. Potential flow is inviscid — viscous drag added via Morison. Confirm tank depth vs 1.42 m draft.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272784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D1543A"/>
                </a:solidFill>
                <a:latin typeface="Segoe UI"/>
              </a:rPr>
              <a:t>Red = placeholder the tank measures</a:t>
            </a:r>
            <a:r>
              <a:rPr sz="1050" b="0">
                <a:solidFill>
                  <a:srgbClr val="54636D"/>
                </a:solidFill>
                <a:latin typeface="Segoe UI"/>
              </a:rPr>
              <a:t>  (period → plate added mass, decay rate → plate Cd).  Coefficient ranges per DNV-RP-C205 &amp; Sarpkaya; perforated-plate reduction per porous-disk theory.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WHAT TO EXPECT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Pre-test heave decay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SU_heave_decay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91640"/>
            <a:ext cx="10058400" cy="39232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74980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52160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A5560"/>
                </a:solidFill>
                <a:latin typeface="Segoe UI"/>
              </a:rPr>
              <a:t>Period is predictable → T ≈ 2.3–2.4 s</a:t>
            </a:r>
            <a:r>
              <a:rPr sz="1400" b="0">
                <a:solidFill>
                  <a:srgbClr val="25323A"/>
                </a:solidFill>
                <a:latin typeface="Segoe UI"/>
              </a:rPr>
              <a:t>   (M, C₃₃ known; only plate added mass uncertain).   </a:t>
            </a:r>
            <a:r>
              <a:rPr sz="1400" b="1">
                <a:solidFill>
                  <a:srgbClr val="D1543A"/>
                </a:solidFill>
                <a:latin typeface="Segoe UI"/>
              </a:rPr>
              <a:t>Damping is the measurement</a:t>
            </a:r>
            <a:r>
              <a:rPr sz="1400" b="0">
                <a:solidFill>
                  <a:srgbClr val="25323A"/>
                </a:solidFill>
                <a:latin typeface="Segoe UI"/>
              </a:rPr>
              <a:t>  → ζ₁ ≈ 8–15% at 100 mm.  Test pins: period→added mass, decay→drag Cd.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