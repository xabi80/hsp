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Deck tilt against payload moment, towards a corner</a:t>
            </a:r>
          </a:p>
        </c:rich>
      </c:tx>
      <c:layout/>
      <c:overlay val="0"/>
    </c:title>
    <c:plotArea>
      <c:scatterChart>
        <c:scatterStyle val="lineMarker"/>
        <c:varyColors val="0"/>
        <c:ser>
          <c:idx val="0"/>
          <c:order val="0"/>
          <c:tx>
            <c:strRef>
              <c:f>Sheet1!$B$1</c:f>
              <c:strCache>
                <c:ptCount val="1"/>
                <c:pt idx="0">
                  <c:v>0.2 m, CG on the deck</c:v>
                </c:pt>
              </c:strCache>
            </c:strRef>
          </c:tx>
          <c:spPr>
            <a:ln w="22225">
              <a:solidFill>
                <a:srgbClr val="B2432C"/>
              </a:solidFill>
            </a:ln>
          </c:spPr>
          <c:marker>
            <c:symbol val="none"/>
          </c:marker>
          <c:xVal>
            <c:numRef>
              <c:f>Sheet1!$A$2:$A$152</c:f>
              <c:numCache>
                <c:formatCode>General</c:formatCode>
                <c:ptCount val="151"/>
                <c:pt idx="0">
                  <c:v>0.0</c:v>
                </c:pt>
                <c:pt idx="1">
                  <c:v>0.2</c:v>
                </c:pt>
                <c:pt idx="2">
                  <c:v>0.4</c:v>
                </c:pt>
                <c:pt idx="3">
                  <c:v>0.6000000000000001</c:v>
                </c:pt>
                <c:pt idx="4">
                  <c:v>0.8</c:v>
                </c:pt>
                <c:pt idx="5">
                  <c:v>1.0</c:v>
                </c:pt>
                <c:pt idx="6">
                  <c:v>1.2000000000000002</c:v>
                </c:pt>
                <c:pt idx="7">
                  <c:v>1.4000000000000001</c:v>
                </c:pt>
                <c:pt idx="8">
                  <c:v>1.6</c:v>
                </c:pt>
                <c:pt idx="9">
                  <c:v>1.8</c:v>
                </c:pt>
                <c:pt idx="10">
                  <c:v>2.0</c:v>
                </c:pt>
                <c:pt idx="11">
                  <c:v>2.2</c:v>
                </c:pt>
                <c:pt idx="12">
                  <c:v>2.4000000000000004</c:v>
                </c:pt>
                <c:pt idx="13">
                  <c:v>2.6</c:v>
                </c:pt>
                <c:pt idx="14">
                  <c:v>2.8000000000000003</c:v>
                </c:pt>
                <c:pt idx="15">
                  <c:v>3.0</c:v>
                </c:pt>
                <c:pt idx="16">
                  <c:v>3.2</c:v>
                </c:pt>
                <c:pt idx="17">
                  <c:v>3.4000000000000004</c:v>
                </c:pt>
                <c:pt idx="18">
                  <c:v>3.6</c:v>
                </c:pt>
                <c:pt idx="19">
                  <c:v>3.8000000000000003</c:v>
                </c:pt>
                <c:pt idx="20">
                  <c:v>4.0</c:v>
                </c:pt>
                <c:pt idx="21">
                  <c:v>4.2</c:v>
                </c:pt>
                <c:pt idx="22">
                  <c:v>4.4</c:v>
                </c:pt>
                <c:pt idx="23">
                  <c:v>4.6000000000000005</c:v>
                </c:pt>
                <c:pt idx="24">
                  <c:v>4.800000000000001</c:v>
                </c:pt>
                <c:pt idx="25">
                  <c:v>5.0</c:v>
                </c:pt>
                <c:pt idx="26">
                  <c:v>5.2</c:v>
                </c:pt>
                <c:pt idx="27">
                  <c:v>5.4</c:v>
                </c:pt>
                <c:pt idx="28">
                  <c:v>5.6000000000000005</c:v>
                </c:pt>
                <c:pt idx="29">
                  <c:v>5.800000000000001</c:v>
                </c:pt>
                <c:pt idx="30">
                  <c:v>6.0</c:v>
                </c:pt>
                <c:pt idx="31">
                  <c:v>6.2</c:v>
                </c:pt>
                <c:pt idx="32">
                  <c:v>6.4</c:v>
                </c:pt>
                <c:pt idx="33">
                  <c:v>6.6000000000000005</c:v>
                </c:pt>
                <c:pt idx="34">
                  <c:v>6.800000000000001</c:v>
                </c:pt>
                <c:pt idx="35">
                  <c:v>7.0</c:v>
                </c:pt>
                <c:pt idx="36">
                  <c:v>7.2</c:v>
                </c:pt>
                <c:pt idx="37">
                  <c:v>7.4</c:v>
                </c:pt>
                <c:pt idx="38">
                  <c:v>7.6000000000000005</c:v>
                </c:pt>
                <c:pt idx="39">
                  <c:v>7.800000000000001</c:v>
                </c:pt>
                <c:pt idx="40">
                  <c:v>8.0</c:v>
                </c:pt>
                <c:pt idx="41">
                  <c:v>8.200000000000001</c:v>
                </c:pt>
                <c:pt idx="42">
                  <c:v>8.4</c:v>
                </c:pt>
                <c:pt idx="43">
                  <c:v>8.6</c:v>
                </c:pt>
                <c:pt idx="44">
                  <c:v>8.8</c:v>
                </c:pt>
                <c:pt idx="45">
                  <c:v>9.0</c:v>
                </c:pt>
                <c:pt idx="46">
                  <c:v>9.200000000000001</c:v>
                </c:pt>
                <c:pt idx="47">
                  <c:v>9.4</c:v>
                </c:pt>
                <c:pt idx="48">
                  <c:v>9.600000000000001</c:v>
                </c:pt>
                <c:pt idx="49">
                  <c:v>9.8</c:v>
                </c:pt>
                <c:pt idx="50">
                  <c:v>10.0</c:v>
                </c:pt>
                <c:pt idx="51">
                  <c:v>10.200000000000001</c:v>
                </c:pt>
                <c:pt idx="52">
                  <c:v>10.4</c:v>
                </c:pt>
                <c:pt idx="53">
                  <c:v>10.600000000000001</c:v>
                </c:pt>
                <c:pt idx="54">
                  <c:v>10.8</c:v>
                </c:pt>
                <c:pt idx="55">
                  <c:v>11.0</c:v>
                </c:pt>
                <c:pt idx="56">
                  <c:v>11.200000000000001</c:v>
                </c:pt>
                <c:pt idx="57">
                  <c:v>11.4</c:v>
                </c:pt>
                <c:pt idx="58">
                  <c:v>11.600000000000001</c:v>
                </c:pt>
                <c:pt idx="59">
                  <c:v>11.8</c:v>
                </c:pt>
                <c:pt idx="60">
                  <c:v>12.0</c:v>
                </c:pt>
                <c:pt idx="61">
                  <c:v>12.200000000000001</c:v>
                </c:pt>
                <c:pt idx="62">
                  <c:v>12.4</c:v>
                </c:pt>
                <c:pt idx="63">
                  <c:v>12.600000000000001</c:v>
                </c:pt>
                <c:pt idx="64">
                  <c:v>12.8</c:v>
                </c:pt>
                <c:pt idx="65">
                  <c:v>13.0</c:v>
                </c:pt>
                <c:pt idx="66">
                  <c:v>13.200000000000001</c:v>
                </c:pt>
                <c:pt idx="67">
                  <c:v>13.4</c:v>
                </c:pt>
                <c:pt idx="68">
                  <c:v>13.600000000000001</c:v>
                </c:pt>
                <c:pt idx="69">
                  <c:v>13.8</c:v>
                </c:pt>
                <c:pt idx="70">
                  <c:v>14.0</c:v>
                </c:pt>
                <c:pt idx="71">
                  <c:v>14.200000000000001</c:v>
                </c:pt>
                <c:pt idx="72">
                  <c:v>14.4</c:v>
                </c:pt>
                <c:pt idx="73">
                  <c:v>14.600000000000001</c:v>
                </c:pt>
                <c:pt idx="74">
                  <c:v>14.8</c:v>
                </c:pt>
                <c:pt idx="75">
                  <c:v>15.0</c:v>
                </c:pt>
                <c:pt idx="76">
                  <c:v>15.200000000000001</c:v>
                </c:pt>
                <c:pt idx="77">
                  <c:v>15.4</c:v>
                </c:pt>
                <c:pt idx="78">
                  <c:v>15.600000000000001</c:v>
                </c:pt>
                <c:pt idx="79">
                  <c:v>15.8</c:v>
                </c:pt>
                <c:pt idx="80">
                  <c:v>16.0</c:v>
                </c:pt>
                <c:pt idx="81">
                  <c:v>16.2</c:v>
                </c:pt>
                <c:pt idx="82">
                  <c:v>16.400000000000002</c:v>
                </c:pt>
                <c:pt idx="83">
                  <c:v>16.6</c:v>
                </c:pt>
                <c:pt idx="84">
                  <c:v>16.8</c:v>
                </c:pt>
                <c:pt idx="85">
                  <c:v>17.0</c:v>
                </c:pt>
                <c:pt idx="86">
                  <c:v>17.2</c:v>
                </c:pt>
                <c:pt idx="87">
                  <c:v>17.400000000000002</c:v>
                </c:pt>
                <c:pt idx="88">
                  <c:v>17.6</c:v>
                </c:pt>
                <c:pt idx="89">
                  <c:v>17.8</c:v>
                </c:pt>
                <c:pt idx="90">
                  <c:v>18.0</c:v>
                </c:pt>
                <c:pt idx="91">
                  <c:v>18.2</c:v>
                </c:pt>
                <c:pt idx="92">
                  <c:v>18.400000000000002</c:v>
                </c:pt>
                <c:pt idx="93">
                  <c:v>18.6</c:v>
                </c:pt>
                <c:pt idx="94">
                  <c:v>18.8</c:v>
                </c:pt>
                <c:pt idx="95">
                  <c:v>19.0</c:v>
                </c:pt>
                <c:pt idx="96">
                  <c:v>19.200000000000003</c:v>
                </c:pt>
                <c:pt idx="97">
                  <c:v>19.400000000000002</c:v>
                </c:pt>
                <c:pt idx="98">
                  <c:v>19.6</c:v>
                </c:pt>
                <c:pt idx="99">
                  <c:v>19.8</c:v>
                </c:pt>
                <c:pt idx="100">
                  <c:v>20.0</c:v>
                </c:pt>
                <c:pt idx="101">
                  <c:v>20.200000000000003</c:v>
                </c:pt>
                <c:pt idx="102">
                  <c:v>20.400000000000002</c:v>
                </c:pt>
                <c:pt idx="103">
                  <c:v>20.6</c:v>
                </c:pt>
                <c:pt idx="104">
                  <c:v>20.8</c:v>
                </c:pt>
                <c:pt idx="105">
                  <c:v>21.0</c:v>
                </c:pt>
                <c:pt idx="106">
                  <c:v>21.200000000000003</c:v>
                </c:pt>
                <c:pt idx="107">
                  <c:v>21.400000000000002</c:v>
                </c:pt>
                <c:pt idx="108">
                  <c:v>21.6</c:v>
                </c:pt>
                <c:pt idx="109">
                  <c:v>21.8</c:v>
                </c:pt>
                <c:pt idx="110">
                  <c:v>22.0</c:v>
                </c:pt>
                <c:pt idx="111">
                  <c:v>22.200000000000003</c:v>
                </c:pt>
                <c:pt idx="112">
                  <c:v>22.400000000000002</c:v>
                </c:pt>
                <c:pt idx="113">
                  <c:v>22.6</c:v>
                </c:pt>
                <c:pt idx="114">
                  <c:v>22.8</c:v>
                </c:pt>
                <c:pt idx="115">
                  <c:v>23.0</c:v>
                </c:pt>
                <c:pt idx="116">
                  <c:v>23.200000000000003</c:v>
                </c:pt>
                <c:pt idx="117">
                  <c:v>23.400000000000002</c:v>
                </c:pt>
                <c:pt idx="118">
                  <c:v>23.6</c:v>
                </c:pt>
                <c:pt idx="119">
                  <c:v>23.8</c:v>
                </c:pt>
                <c:pt idx="120">
                  <c:v>24.0</c:v>
                </c:pt>
                <c:pt idx="121">
                  <c:v>24.200000000000003</c:v>
                </c:pt>
                <c:pt idx="122">
                  <c:v>24.400000000000002</c:v>
                </c:pt>
                <c:pt idx="123">
                  <c:v>24.6</c:v>
                </c:pt>
                <c:pt idx="124">
                  <c:v>24.8</c:v>
                </c:pt>
                <c:pt idx="125">
                  <c:v>25.0</c:v>
                </c:pt>
                <c:pt idx="126">
                  <c:v>25.200000000000003</c:v>
                </c:pt>
                <c:pt idx="127">
                  <c:v>25.400000000000002</c:v>
                </c:pt>
                <c:pt idx="128">
                  <c:v>25.6</c:v>
                </c:pt>
                <c:pt idx="129">
                  <c:v>25.8</c:v>
                </c:pt>
                <c:pt idx="130">
                  <c:v>26.0</c:v>
                </c:pt>
                <c:pt idx="131">
                  <c:v>26.200000000000003</c:v>
                </c:pt>
                <c:pt idx="132">
                  <c:v>26.400000000000002</c:v>
                </c:pt>
                <c:pt idx="133">
                  <c:v>26.6</c:v>
                </c:pt>
                <c:pt idx="134">
                  <c:v>26.8</c:v>
                </c:pt>
                <c:pt idx="135">
                  <c:v>27.0</c:v>
                </c:pt>
                <c:pt idx="136">
                  <c:v>27.200000000000003</c:v>
                </c:pt>
                <c:pt idx="137">
                  <c:v>27.400000000000002</c:v>
                </c:pt>
                <c:pt idx="138">
                  <c:v>27.6</c:v>
                </c:pt>
                <c:pt idx="139">
                  <c:v>27.8</c:v>
                </c:pt>
                <c:pt idx="140">
                  <c:v>28.0</c:v>
                </c:pt>
                <c:pt idx="141">
                  <c:v>28.200000000000003</c:v>
                </c:pt>
                <c:pt idx="142">
                  <c:v>28.400000000000002</c:v>
                </c:pt>
                <c:pt idx="143">
                  <c:v>28.6</c:v>
                </c:pt>
                <c:pt idx="144">
                  <c:v>28.8</c:v>
                </c:pt>
                <c:pt idx="145">
                  <c:v>29.0</c:v>
                </c:pt>
                <c:pt idx="146">
                  <c:v>29.200000000000003</c:v>
                </c:pt>
                <c:pt idx="147">
                  <c:v>29.400000000000002</c:v>
                </c:pt>
                <c:pt idx="148">
                  <c:v>29.6</c:v>
                </c:pt>
                <c:pt idx="149">
                  <c:v>29.8</c:v>
                </c:pt>
                <c:pt idx="150">
                  <c:v>30.0</c:v>
                </c:pt>
              </c:numCache>
            </c:numRef>
          </c:xVal>
          <c:yVal>
            <c:numRef>
              <c:f>Sheet1!$B$2:$B$152</c:f>
              <c:numCache>
                <c:formatCode>General</c:formatCode>
                <c:ptCount val="151"/>
                <c:pt idx="0">
                  <c:v>0.0</c:v>
                </c:pt>
                <c:pt idx="1">
                  <c:v>0.056906505028160505</c:v>
                </c:pt>
                <c:pt idx="2">
                  <c:v>0.11391659309704022</c:v>
                </c:pt>
                <c:pt idx="3">
                  <c:v>0.1710306057376599</c:v>
                </c:pt>
                <c:pt idx="4">
                  <c:v>0.2282488867790105</c:v>
                </c:pt>
                <c:pt idx="5">
                  <c:v>0.2855717823696918</c:v>
                </c:pt>
                <c:pt idx="6">
                  <c:v>0.3429996410068367</c:v>
                </c:pt>
                <c:pt idx="7">
                  <c:v>0.4005328135530133</c:v>
                </c:pt>
                <c:pt idx="8">
                  <c:v>0.45817165326186327</c:v>
                </c:pt>
                <c:pt idx="9">
                  <c:v>0.5159165158012924</c:v>
                </c:pt>
                <c:pt idx="10">
                  <c:v>0.5737677592796296</c:v>
                </c:pt>
                <c:pt idx="11">
                  <c:v>0.6317257442669725</c:v>
                </c:pt>
                <c:pt idx="12">
                  <c:v>0.6897908338218468</c:v>
                </c:pt>
                <c:pt idx="13">
                  <c:v>0.7479633935153316</c:v>
                </c:pt>
                <c:pt idx="14">
                  <c:v>0.806243791455645</c:v>
                </c:pt>
                <c:pt idx="15">
                  <c:v>0.8646323983162661</c:v>
                </c:pt>
                <c:pt idx="16">
                  <c:v>0.9231295873588402</c:v>
                </c:pt>
                <c:pt idx="17">
                  <c:v>0.9817357344607606</c:v>
                </c:pt>
                <c:pt idx="18">
                  <c:v>1.0404512181416632</c:v>
                </c:pt>
                <c:pt idx="19">
                  <c:v>1.0992764195901612</c:v>
                </c:pt>
                <c:pt idx="20">
                  <c:v>1.158211722692242</c:v>
                </c:pt>
                <c:pt idx="21">
                  <c:v>1.2172575140553084</c:v>
                </c:pt>
                <c:pt idx="22">
                  <c:v>1.2764141830412028</c:v>
                </c:pt>
                <c:pt idx="23">
                  <c:v>1.3356821217892738</c:v>
                </c:pt>
                <c:pt idx="24">
                  <c:v>1.395061725250668</c:v>
                </c:pt>
                <c:pt idx="25">
                  <c:v>1.4545533912117945</c:v>
                </c:pt>
                <c:pt idx="26">
                  <c:v>1.5141575203264863</c:v>
                </c:pt>
                <c:pt idx="27">
                  <c:v>1.573874516146633</c:v>
                </c:pt>
                <c:pt idx="28">
                  <c:v>1.6337047851502726</c:v>
                </c:pt>
                <c:pt idx="29">
                  <c:v>1.6936487367733208</c:v>
                </c:pt>
                <c:pt idx="30">
                  <c:v>1.7537067834406888</c:v>
                </c:pt>
                <c:pt idx="31">
                  <c:v>1.8138793405968734</c:v>
                </c:pt>
                <c:pt idx="32">
                  <c:v>1.8741668267382385</c:v>
                </c:pt>
                <c:pt idx="33">
                  <c:v>1.934569663445239</c:v>
                </c:pt>
                <c:pt idx="34">
                  <c:v>1.995088275414376</c:v>
                </c:pt>
                <c:pt idx="35">
                  <c:v>2.0557230904930774</c:v>
                </c:pt>
                <c:pt idx="36">
                  <c:v>2.1164745397103286</c:v>
                </c:pt>
                <c:pt idx="37">
                  <c:v>2.1773430573138746</c:v>
                </c:pt>
                <c:pt idx="38">
                  <c:v>2.23832908080212</c:v>
                </c:pt>
                <c:pt idx="39">
                  <c:v>2.299433050959742</c:v>
                </c:pt>
                <c:pt idx="40">
                  <c:v>2.3606554118939824</c:v>
                </c:pt>
                <c:pt idx="41">
                  <c:v>2.4219966110693565</c:v>
                </c:pt>
                <c:pt idx="42">
                  <c:v>2.483457099343777</c:v>
                </c:pt>
                <c:pt idx="43">
                  <c:v>2.545037331006975</c:v>
                </c:pt>
                <c:pt idx="44">
                  <c:v>2.6067377638156084</c:v>
                </c:pt>
                <c:pt idx="45">
                  <c:v>2.6685588590333373</c:v>
                </c:pt>
                <c:pt idx="46">
                  <c:v>2.730501081467297</c:v>
                </c:pt>
                <c:pt idx="47">
                  <c:v>2.7925648995078753</c:v>
                </c:pt>
                <c:pt idx="48">
                  <c:v>2.8547507851679317</c:v>
                </c:pt>
                <c:pt idx="49">
                  <c:v>2.917059214123244</c:v>
                </c:pt>
                <c:pt idx="50">
                  <c:v>2.979490665752012</c:v>
                </c:pt>
                <c:pt idx="51">
                  <c:v>3.0420456231769695</c:v>
                </c:pt>
                <c:pt idx="52">
                  <c:v>3.104724573306189</c:v>
                </c:pt>
                <c:pt idx="53">
                  <c:v>3.1675280068762746</c:v>
                </c:pt>
                <c:pt idx="54">
                  <c:v>3.2304564184940805</c:v>
                </c:pt>
                <c:pt idx="55">
                  <c:v>3.2935103066812044</c:v>
                </c:pt>
                <c:pt idx="56">
                  <c:v>3.3566901739170514</c:v>
                </c:pt>
                <c:pt idx="57">
                  <c:v>3.419996526684764</c:v>
                </c:pt>
                <c:pt idx="58">
                  <c:v>3.483429875515108</c:v>
                </c:pt>
                <c:pt idx="59">
                  <c:v>3.54699073503368</c:v>
                </c:pt>
                <c:pt idx="60">
                  <c:v>3.6106796240067274</c:v>
                </c:pt>
                <c:pt idx="61">
                  <c:v>3.674497065389293</c:v>
                </c:pt>
                <c:pt idx="62">
                  <c:v>3.7384435863721373</c:v>
                </c:pt>
                <c:pt idx="63">
                  <c:v>3.8025197184310886</c:v>
                </c:pt>
                <c:pt idx="64">
                  <c:v>3.8667259973766193</c:v>
                </c:pt>
                <c:pt idx="65">
                  <c:v>3.9310629634035656</c:v>
                </c:pt>
                <c:pt idx="66">
                  <c:v>3.995531161142043</c:v>
                </c:pt>
                <c:pt idx="67">
                  <c:v>4.060131139709276</c:v>
                </c:pt>
                <c:pt idx="68">
                  <c:v>4.124863452761686</c:v>
                </c:pt>
                <c:pt idx="69">
                  <c:v>4.18972865854802</c:v>
                </c:pt>
                <c:pt idx="70">
                  <c:v>4.254727319963897</c:v>
                </c:pt>
                <c:pt idx="71">
                  <c:v>4.319860004605869</c:v>
                </c:pt>
                <c:pt idx="72">
                  <c:v>4.385127284826866</c:v>
                </c:pt>
                <c:pt idx="73">
                  <c:v>4.45052973779321</c:v>
                </c:pt>
                <c:pt idx="74">
                  <c:v>4.516067945541416</c:v>
                </c:pt>
                <c:pt idx="75">
                  <c:v>4.581742495036725</c:v>
                </c:pt>
                <c:pt idx="76">
                  <c:v>4.647553978231197</c:v>
                </c:pt>
                <c:pt idx="77">
                  <c:v>4.713502992124774</c:v>
                </c:pt>
                <c:pt idx="78">
                  <c:v>4.779590138825086</c:v>
                </c:pt>
                <c:pt idx="79">
                  <c:v>4.845816025609449</c:v>
                </c:pt>
                <c:pt idx="80">
                  <c:v>4.912181264987943</c:v>
                </c:pt>
                <c:pt idx="81">
                  <c:v>4.9786864747666595</c:v>
                </c:pt>
                <c:pt idx="82">
                  <c:v>5.045332278112232</c:v>
                </c:pt>
                <c:pt idx="83">
                  <c:v>5.112119303617842</c:v>
                </c:pt>
                <c:pt idx="84">
                  <c:v>5.179048185369592</c:v>
                </c:pt>
                <c:pt idx="85">
                  <c:v>5.246119563014032</c:v>
                </c:pt>
                <c:pt idx="86">
                  <c:v>5.313334081827332</c:v>
                </c:pt>
                <c:pt idx="87">
                  <c:v>5.380692392785072</c:v>
                </c:pt>
                <c:pt idx="88">
                  <c:v>5.448195152632456</c:v>
                </c:pt>
                <c:pt idx="89">
                  <c:v>5.515843023957519</c:v>
                </c:pt>
                <c:pt idx="90">
                  <c:v>5.583636675263366</c:v>
                </c:pt>
                <c:pt idx="91">
                  <c:v>5.651576781042966</c:v>
                </c:pt>
                <c:pt idx="92">
                  <c:v>5.719664021854819</c:v>
                </c:pt>
                <c:pt idx="93">
                  <c:v>5.7878990843993465</c:v>
                </c:pt>
                <c:pt idx="94">
                  <c:v>5.85628266159735</c:v>
                </c:pt>
                <c:pt idx="95">
                  <c:v>5.924815452668936</c:v>
                </c:pt>
                <c:pt idx="96">
                  <c:v>5.99349816321427</c:v>
                </c:pt>
                <c:pt idx="97">
                  <c:v>6.062331505295477</c:v>
                </c:pt>
                <c:pt idx="98">
                  <c:v>6.131316197519672</c:v>
                </c:pt>
                <c:pt idx="99">
                  <c:v>6.200452965123744</c:v>
                </c:pt>
                <c:pt idx="100">
                  <c:v>6.269742540060481</c:v>
                </c:pt>
                <c:pt idx="101">
                  <c:v>6.339185661085515</c:v>
                </c:pt>
                <c:pt idx="102">
                  <c:v>6.408783073846586</c:v>
                </c:pt>
                <c:pt idx="103">
                  <c:v>6.478535530973881</c:v>
                </c:pt>
                <c:pt idx="104">
                  <c:v>6.548443792171572</c:v>
                </c:pt>
                <c:pt idx="105">
                  <c:v>6.618508624311539</c:v>
                </c:pt>
                <c:pt idx="106">
                  <c:v>6.6887308015283375</c:v>
                </c:pt>
                <c:pt idx="107">
                  <c:v>6.7591111053154815</c:v>
                </c:pt>
                <c:pt idx="108">
                  <c:v>6.829650324624013</c:v>
                </c:pt>
                <c:pt idx="109">
                  <c:v>6.9003492559621895</c:v>
                </c:pt>
                <c:pt idx="110">
                  <c:v>6.971208703497302</c:v>
                </c:pt>
                <c:pt idx="111">
                  <c:v>7.042229479158784</c:v>
                </c:pt>
                <c:pt idx="112">
                  <c:v>7.113412402743604</c:v>
                </c:pt>
                <c:pt idx="113">
                  <c:v>7.184758302022911</c:v>
                </c:pt>
                <c:pt idx="114">
                  <c:v>7.256268012851473</c:v>
                </c:pt>
                <c:pt idx="115">
                  <c:v>7.327942379277597</c:v>
                </c:pt>
                <c:pt idx="116">
                  <c:v>7.399782253656374</c:v>
                </c:pt>
                <c:pt idx="117">
                  <c:v>7.4717884967642085</c:v>
                </c:pt>
                <c:pt idx="118">
                  <c:v>7.543961977915401</c:v>
                </c:pt>
                <c:pt idx="119">
                  <c:v>7.61630357508098</c:v>
                </c:pt>
                <c:pt idx="120">
                  <c:v>7.688814175009497</c:v>
                </c:pt>
                <c:pt idx="121">
                  <c:v>7.761494673350124</c:v>
                </c:pt>
                <c:pt idx="122">
                  <c:v>7.83434597477789</c:v>
                </c:pt>
                <c:pt idx="123">
                  <c:v>7.907368993121071</c:v>
                </c:pt>
                <c:pt idx="124">
                  <c:v>7.980564651491014</c:v>
                </c:pt>
                <c:pt idx="125">
                  <c:v>8.053933882414489</c:v>
                </c:pt>
                <c:pt idx="126">
                  <c:v>8.127477627967966</c:v>
                </c:pt>
                <c:pt idx="127">
                  <c:v>8.201196839914793</c:v>
                </c:pt>
                <c:pt idx="128">
                  <c:v>8.275092479844753</c:v>
                </c:pt>
                <c:pt idx="129">
                  <c:v>8.349165519316305</c:v>
                </c:pt>
                <c:pt idx="130">
                  <c:v>8.42341694000099</c:v>
                </c:pt>
                <c:pt idx="131">
                  <c:v>8.497847733831307</c:v>
                </c:pt>
                <c:pt idx="132">
                  <c:v>8.572458903150723</c:v>
                </c:pt>
                <c:pt idx="133">
                  <c:v>8.647251460866801</c:v>
                </c:pt>
                <c:pt idx="134">
                  <c:v>8.722226430606913</c:v>
                </c:pt>
                <c:pt idx="135">
                  <c:v>8.797384846877453</c:v>
                </c:pt>
                <c:pt idx="136">
                  <c:v>8.872727755225458</c:v>
                </c:pt>
                <c:pt idx="137">
                  <c:v>8.948256212403919</c:v>
                </c:pt>
                <c:pt idx="138">
                  <c:v>9.023971286539533</c:v>
                </c:pt>
                <c:pt idx="139">
                  <c:v>9.099874057304481</c:v>
                </c:pt>
                <c:pt idx="140">
                  <c:v>9.175965616090956</c:v>
                </c:pt>
                <c:pt idx="141">
                  <c:v>9.252247066189307</c:v>
                </c:pt>
                <c:pt idx="142">
                  <c:v>9.328719522969726</c:v>
                </c:pt>
                <c:pt idx="143">
                  <c:v>9.405384114067175</c:v>
                </c:pt>
                <c:pt idx="144">
                  <c:v>9.482241979570473</c:v>
                </c:pt>
                <c:pt idx="145">
                  <c:v>9.55929427221442</c:v>
                </c:pt>
                <c:pt idx="146">
                  <c:v>9.636542157576795</c:v>
                </c:pt>
                <c:pt idx="147">
                  <c:v>9.713986814278003</c:v>
                </c:pt>
                <c:pt idx="148">
                  <c:v>9.791629434185534</c:v>
                </c:pt>
                <c:pt idx="149">
                  <c:v>9.869471222622693</c:v>
                </c:pt>
                <c:pt idx="150">
                  <c:v>9.94751339858111</c:v>
                </c:pt>
              </c:numCache>
            </c:numRef>
          </c:yVal>
          <c:smooth val="0"/>
        </c:ser>
        <c:ser>
          <c:idx val="1"/>
          <c:order val="1"/>
          <c:tx>
            <c:strRef>
              <c:f>Sheet1!$B$154</c:f>
              <c:strCache>
                <c:ptCount val="1"/>
                <c:pt idx="0">
                  <c:v>0.6 m, CG on the deck</c:v>
                </c:pt>
              </c:strCache>
            </c:strRef>
          </c:tx>
          <c:spPr>
            <a:ln w="22225">
              <a:solidFill>
                <a:srgbClr val="B2432C"/>
              </a:solidFill>
            </a:ln>
          </c:spPr>
          <c:marker>
            <c:symbol val="none"/>
          </c:marker>
          <c:xVal>
            <c:numRef>
              <c:f>Sheet1!$A$155:$A$252</c:f>
              <c:numCache>
                <c:formatCode>General</c:formatCode>
                <c:ptCount val="98"/>
                <c:pt idx="0">
                  <c:v>0.0</c:v>
                </c:pt>
                <c:pt idx="1">
                  <c:v>0.6</c:v>
                </c:pt>
                <c:pt idx="2">
                  <c:v>1.2</c:v>
                </c:pt>
                <c:pt idx="3">
                  <c:v>1.7999999999999998</c:v>
                </c:pt>
                <c:pt idx="4">
                  <c:v>2.4</c:v>
                </c:pt>
                <c:pt idx="5">
                  <c:v>3.0</c:v>
                </c:pt>
                <c:pt idx="6">
                  <c:v>3.5999999999999996</c:v>
                </c:pt>
                <c:pt idx="7">
                  <c:v>4.2</c:v>
                </c:pt>
                <c:pt idx="8">
                  <c:v>4.8</c:v>
                </c:pt>
                <c:pt idx="9">
                  <c:v>5.3999999999999995</c:v>
                </c:pt>
                <c:pt idx="10">
                  <c:v>6.0</c:v>
                </c:pt>
                <c:pt idx="11">
                  <c:v>6.6</c:v>
                </c:pt>
                <c:pt idx="12">
                  <c:v>7.199999999999999</c:v>
                </c:pt>
                <c:pt idx="13">
                  <c:v>7.8</c:v>
                </c:pt>
                <c:pt idx="14">
                  <c:v>8.4</c:v>
                </c:pt>
                <c:pt idx="15">
                  <c:v>9.0</c:v>
                </c:pt>
                <c:pt idx="16">
                  <c:v>9.6</c:v>
                </c:pt>
                <c:pt idx="17">
                  <c:v>10.2</c:v>
                </c:pt>
                <c:pt idx="18">
                  <c:v>10.799999999999999</c:v>
                </c:pt>
                <c:pt idx="19">
                  <c:v>11.4</c:v>
                </c:pt>
                <c:pt idx="20">
                  <c:v>12.0</c:v>
                </c:pt>
                <c:pt idx="21">
                  <c:v>12.6</c:v>
                </c:pt>
                <c:pt idx="22">
                  <c:v>13.2</c:v>
                </c:pt>
                <c:pt idx="23">
                  <c:v>13.799999999999999</c:v>
                </c:pt>
                <c:pt idx="24">
                  <c:v>14.399999999999999</c:v>
                </c:pt>
                <c:pt idx="25">
                  <c:v>15.0</c:v>
                </c:pt>
                <c:pt idx="26">
                  <c:v>15.6</c:v>
                </c:pt>
                <c:pt idx="27">
                  <c:v>16.2</c:v>
                </c:pt>
                <c:pt idx="28">
                  <c:v>16.8</c:v>
                </c:pt>
                <c:pt idx="29">
                  <c:v>17.4</c:v>
                </c:pt>
                <c:pt idx="30">
                  <c:v>18.0</c:v>
                </c:pt>
                <c:pt idx="31">
                  <c:v>18.599999999999998</c:v>
                </c:pt>
                <c:pt idx="32">
                  <c:v>19.2</c:v>
                </c:pt>
                <c:pt idx="33">
                  <c:v>19.8</c:v>
                </c:pt>
                <c:pt idx="34">
                  <c:v>20.4</c:v>
                </c:pt>
                <c:pt idx="35">
                  <c:v>21.0</c:v>
                </c:pt>
                <c:pt idx="36">
                  <c:v>21.599999999999998</c:v>
                </c:pt>
                <c:pt idx="37">
                  <c:v>22.2</c:v>
                </c:pt>
                <c:pt idx="38">
                  <c:v>22.8</c:v>
                </c:pt>
                <c:pt idx="39">
                  <c:v>23.4</c:v>
                </c:pt>
                <c:pt idx="40">
                  <c:v>24.0</c:v>
                </c:pt>
                <c:pt idx="41">
                  <c:v>24.599999999999998</c:v>
                </c:pt>
                <c:pt idx="42">
                  <c:v>25.2</c:v>
                </c:pt>
                <c:pt idx="43">
                  <c:v>25.8</c:v>
                </c:pt>
                <c:pt idx="44">
                  <c:v>26.4</c:v>
                </c:pt>
                <c:pt idx="45">
                  <c:v>27.0</c:v>
                </c:pt>
                <c:pt idx="46">
                  <c:v>27.599999999999998</c:v>
                </c:pt>
                <c:pt idx="47">
                  <c:v>28.2</c:v>
                </c:pt>
                <c:pt idx="48">
                  <c:v>28.799999999999997</c:v>
                </c:pt>
                <c:pt idx="49">
                  <c:v>29.4</c:v>
                </c:pt>
                <c:pt idx="50">
                  <c:v>30.0</c:v>
                </c:pt>
                <c:pt idx="51">
                  <c:v>30.599999999999998</c:v>
                </c:pt>
                <c:pt idx="52">
                  <c:v>31.2</c:v>
                </c:pt>
                <c:pt idx="53">
                  <c:v>31.799999999999997</c:v>
                </c:pt>
                <c:pt idx="54">
                  <c:v>32.4</c:v>
                </c:pt>
                <c:pt idx="55">
                  <c:v>33.0</c:v>
                </c:pt>
                <c:pt idx="56">
                  <c:v>33.6</c:v>
                </c:pt>
                <c:pt idx="57">
                  <c:v>34.199999999999996</c:v>
                </c:pt>
                <c:pt idx="58">
                  <c:v>34.8</c:v>
                </c:pt>
                <c:pt idx="59">
                  <c:v>35.4</c:v>
                </c:pt>
                <c:pt idx="60">
                  <c:v>36.0</c:v>
                </c:pt>
                <c:pt idx="61">
                  <c:v>36.6</c:v>
                </c:pt>
                <c:pt idx="62">
                  <c:v>37.199999999999996</c:v>
                </c:pt>
                <c:pt idx="63">
                  <c:v>37.8</c:v>
                </c:pt>
                <c:pt idx="64">
                  <c:v>38.4</c:v>
                </c:pt>
                <c:pt idx="65">
                  <c:v>39.0</c:v>
                </c:pt>
                <c:pt idx="66">
                  <c:v>39.6</c:v>
                </c:pt>
                <c:pt idx="67">
                  <c:v>40.199999999999996</c:v>
                </c:pt>
                <c:pt idx="68">
                  <c:v>40.8</c:v>
                </c:pt>
                <c:pt idx="69">
                  <c:v>41.4</c:v>
                </c:pt>
                <c:pt idx="70">
                  <c:v>42.0</c:v>
                </c:pt>
                <c:pt idx="71">
                  <c:v>42.6</c:v>
                </c:pt>
                <c:pt idx="72">
                  <c:v>43.199999999999996</c:v>
                </c:pt>
                <c:pt idx="73">
                  <c:v>43.8</c:v>
                </c:pt>
                <c:pt idx="74">
                  <c:v>44.4</c:v>
                </c:pt>
                <c:pt idx="75">
                  <c:v>45.0</c:v>
                </c:pt>
                <c:pt idx="76">
                  <c:v>45.6</c:v>
                </c:pt>
                <c:pt idx="77">
                  <c:v>46.199999999999996</c:v>
                </c:pt>
                <c:pt idx="78">
                  <c:v>46.8</c:v>
                </c:pt>
                <c:pt idx="79">
                  <c:v>47.4</c:v>
                </c:pt>
                <c:pt idx="80">
                  <c:v>48.0</c:v>
                </c:pt>
                <c:pt idx="81">
                  <c:v>48.6</c:v>
                </c:pt>
                <c:pt idx="82">
                  <c:v>49.199999999999996</c:v>
                </c:pt>
                <c:pt idx="83">
                  <c:v>49.8</c:v>
                </c:pt>
                <c:pt idx="84">
                  <c:v>50.4</c:v>
                </c:pt>
                <c:pt idx="85">
                  <c:v>51.0</c:v>
                </c:pt>
                <c:pt idx="86">
                  <c:v>51.6</c:v>
                </c:pt>
                <c:pt idx="87">
                  <c:v>52.199999999999996</c:v>
                </c:pt>
                <c:pt idx="88">
                  <c:v>52.8</c:v>
                </c:pt>
                <c:pt idx="89">
                  <c:v>53.4</c:v>
                </c:pt>
                <c:pt idx="90">
                  <c:v>54.0</c:v>
                </c:pt>
                <c:pt idx="91">
                  <c:v>54.6</c:v>
                </c:pt>
                <c:pt idx="92">
                  <c:v>55.199999999999996</c:v>
                </c:pt>
                <c:pt idx="93">
                  <c:v>55.8</c:v>
                </c:pt>
                <c:pt idx="94">
                  <c:v>56.4</c:v>
                </c:pt>
                <c:pt idx="95">
                  <c:v>57.0</c:v>
                </c:pt>
                <c:pt idx="96">
                  <c:v>57.599999999999994</c:v>
                </c:pt>
                <c:pt idx="97">
                  <c:v>58.199999999999996</c:v>
                </c:pt>
              </c:numCache>
            </c:numRef>
          </c:xVal>
          <c:yVal>
            <c:numRef>
              <c:f>Sheet1!$B$155:$B$252</c:f>
              <c:numCache>
                <c:formatCode>General</c:formatCode>
                <c:ptCount val="98"/>
                <c:pt idx="0">
                  <c:v>0.0</c:v>
                </c:pt>
                <c:pt idx="1">
                  <c:v>0.1707197439126445</c:v>
                </c:pt>
                <c:pt idx="2">
                  <c:v>0.34175161990244035</c:v>
                </c:pt>
                <c:pt idx="3">
                  <c:v>0.5130980631702391</c:v>
                </c:pt>
                <c:pt idx="4">
                  <c:v>0.6847615465073454</c:v>
                </c:pt>
                <c:pt idx="5">
                  <c:v>0.8567445809070523</c:v>
                </c:pt>
                <c:pt idx="6">
                  <c:v>1.0290497162193422</c:v>
                </c:pt>
                <c:pt idx="7">
                  <c:v>1.2016795418129012</c:v>
                </c:pt>
                <c:pt idx="8">
                  <c:v>1.3746366872547322</c:v>
                </c:pt>
                <c:pt idx="9">
                  <c:v>1.5479238230041505</c:v>
                </c:pt>
                <c:pt idx="10">
                  <c:v>1.7215436611308135</c:v>
                </c:pt>
                <c:pt idx="11">
                  <c:v>1.895498956046393</c:v>
                </c:pt>
                <c:pt idx="12">
                  <c:v>2.0697925052565957</c:v>
                </c:pt>
                <c:pt idx="13">
                  <c:v>2.2444271501325934</c:v>
                </c:pt>
                <c:pt idx="14">
                  <c:v>2.4194057767031887</c:v>
                </c:pt>
                <c:pt idx="15">
                  <c:v>2.594731316466984</c:v>
                </c:pt>
                <c:pt idx="16">
                  <c:v>2.7704067472257035</c:v>
                </c:pt>
                <c:pt idx="17">
                  <c:v>2.946435093940666</c:v>
                </c:pt>
                <c:pt idx="18">
                  <c:v>3.122819429611004</c:v>
                </c:pt>
                <c:pt idx="19">
                  <c:v>3.2995628761758287</c:v>
                </c:pt>
                <c:pt idx="20">
                  <c:v>3.4766686054402247</c:v>
                </c:pt>
                <c:pt idx="21">
                  <c:v>3.6541398400268297</c:v>
                </c:pt>
                <c:pt idx="22">
                  <c:v>3.831979854352315</c:v>
                </c:pt>
                <c:pt idx="23">
                  <c:v>4.0101919756313675</c:v>
                </c:pt>
                <c:pt idx="24">
                  <c:v>4.1887795849078</c:v>
                </c:pt>
                <c:pt idx="25">
                  <c:v>4.367746118113818</c:v>
                </c:pt>
                <c:pt idx="26">
                  <c:v>4.547095067158645</c:v>
                </c:pt>
                <c:pt idx="27">
                  <c:v>4.726829981047815</c:v>
                </c:pt>
                <c:pt idx="28">
                  <c:v>4.906954467033529</c:v>
                </c:pt>
                <c:pt idx="29">
                  <c:v>5.087472191797189</c:v>
                </c:pt>
                <c:pt idx="30">
                  <c:v>5.268386882665785</c:v>
                </c:pt>
                <c:pt idx="31">
                  <c:v>5.449702328862111</c:v>
                </c:pt>
                <c:pt idx="32">
                  <c:v>5.631422382791889</c:v>
                </c:pt>
                <c:pt idx="33">
                  <c:v>5.81355096136667</c:v>
                </c:pt>
                <c:pt idx="34">
                  <c:v>5.996092047365767</c:v>
                </c:pt>
                <c:pt idx="35">
                  <c:v>6.179049690837571</c:v>
                </c:pt>
                <c:pt idx="36">
                  <c:v>6.36242801054201</c:v>
                </c:pt>
                <c:pt idx="37">
                  <c:v>6.546231195434993</c:v>
                </c:pt>
                <c:pt idx="38">
                  <c:v>6.730463506197256</c:v>
                </c:pt>
                <c:pt idx="39">
                  <c:v>6.915129276808884</c:v>
                </c:pt>
                <c:pt idx="40">
                  <c:v>7.100232916170262</c:v>
                </c:pt>
                <c:pt idx="41">
                  <c:v>7.285778909772894</c:v>
                </c:pt>
                <c:pt idx="42">
                  <c:v>7.47177182141981</c:v>
                </c:pt>
                <c:pt idx="43">
                  <c:v>7.658216294999398</c:v>
                </c:pt>
                <c:pt idx="44">
                  <c:v>7.845117056313292</c:v>
                </c:pt>
                <c:pt idx="45">
                  <c:v>8.032478914960967</c:v>
                </c:pt>
                <c:pt idx="46">
                  <c:v>8.220306766282635</c:v>
                </c:pt>
                <c:pt idx="47">
                  <c:v>8.408605593363292</c:v>
                </c:pt>
                <c:pt idx="48">
                  <c:v>8.59738046909997</c:v>
                </c:pt>
                <c:pt idx="49">
                  <c:v>8.786636558334234</c:v>
                </c:pt>
                <c:pt idx="50">
                  <c:v>8.976379120053167</c:v>
                </c:pt>
                <c:pt idx="51">
                  <c:v>9.166613509660978</c:v>
                </c:pt>
                <c:pt idx="52">
                  <c:v>9.357345181324117</c:v>
                </c:pt>
                <c:pt idx="53">
                  <c:v>9.548579690392966</c:v>
                </c:pt>
                <c:pt idx="54">
                  <c:v>9.740322695902876</c:v>
                </c:pt>
                <c:pt idx="55">
                  <c:v>9.932579963157993</c:v>
                </c:pt>
                <c:pt idx="56">
                  <c:v>10.125357366401156</c:v>
                </c:pt>
                <c:pt idx="57">
                  <c:v>10.318660891573042</c:v>
                </c:pt>
                <c:pt idx="58">
                  <c:v>10.512496639165013</c:v>
                </c:pt>
                <c:pt idx="59">
                  <c:v>10.706870827168233</c:v>
                </c:pt>
                <c:pt idx="60">
                  <c:v>10.901789794124666</c:v>
                </c:pt>
                <c:pt idx="61">
                  <c:v>11.097260002282743</c:v>
                </c:pt>
                <c:pt idx="62">
                  <c:v>11.293288040863294</c:v>
                </c:pt>
                <c:pt idx="63">
                  <c:v>11.489880629439474</c:v>
                </c:pt>
                <c:pt idx="64">
                  <c:v>11.687044621436288</c:v>
                </c:pt>
                <c:pt idx="65">
                  <c:v>11.884787007754577</c:v>
                </c:pt>
                <c:pt idx="66">
                  <c:v>12.083114920524963</c:v>
                </c:pt>
                <c:pt idx="67">
                  <c:v>12.28203563699735</c:v>
                </c:pt>
                <c:pt idx="68">
                  <c:v>12.481556583572255</c:v>
                </c:pt>
                <c:pt idx="69">
                  <c:v>12.681685339979792</c:v>
                </c:pt>
                <c:pt idx="70">
                  <c:v>12.882429643613978</c:v>
                </c:pt>
                <c:pt idx="71">
                  <c:v>13.083797394027847</c:v>
                </c:pt>
                <c:pt idx="72">
                  <c:v>13.28579665759851</c:v>
                </c:pt>
                <c:pt idx="73">
                  <c:v>13.488435672368466</c:v>
                </c:pt>
                <c:pt idx="74">
                  <c:v>13.691722853072456</c:v>
                </c:pt>
                <c:pt idx="75">
                  <c:v>13.895666796358183</c:v>
                </c:pt>
                <c:pt idx="76">
                  <c:v>14.100276286209665</c:v>
                </c:pt>
                <c:pt idx="77">
                  <c:v>14.305560299583917</c:v>
                </c:pt>
                <c:pt idx="78">
                  <c:v>14.511528012270325</c:v>
                </c:pt>
                <c:pt idx="79">
                  <c:v>14.718188804983901</c:v>
                </c:pt>
                <c:pt idx="80">
                  <c:v>14.92555226970398</c:v>
                </c:pt>
                <c:pt idx="81">
                  <c:v>15.13362821627048</c:v>
                </c:pt>
                <c:pt idx="82">
                  <c:v>15.342426679250472</c:v>
                </c:pt>
                <c:pt idx="83">
                  <c:v>15.551957925088866</c:v>
                </c:pt>
                <c:pt idx="84">
                  <c:v>15.762232459557826</c:v>
                </c:pt>
                <c:pt idx="85">
                  <c:v>15.97326103551968</c:v>
                </c:pt>
                <c:pt idx="86">
                  <c:v>16.185054661020242</c:v>
                </c:pt>
                <c:pt idx="87">
                  <c:v>16.39762460772969</c:v>
                </c:pt>
                <c:pt idx="88">
                  <c:v>16.610982419749146</c:v>
                </c:pt>
                <c:pt idx="89">
                  <c:v>16.825139922802816</c:v>
                </c:pt>
                <c:pt idx="90">
                  <c:v>17.04010923383656</c:v>
                </c:pt>
                <c:pt idx="91">
                  <c:v>17.255902771044244</c:v>
                </c:pt>
                <c:pt idx="92">
                  <c:v>17.472533264346723</c:v>
                </c:pt>
                <c:pt idx="93">
                  <c:v>17.69001376634768</c:v>
                </c:pt>
                <c:pt idx="94">
                  <c:v>17.908357663792863</c:v>
                </c:pt>
                <c:pt idx="95">
                  <c:v>18.12757868956281</c:v>
                </c:pt>
                <c:pt idx="96">
                  <c:v>18.347690935227845</c:v>
                </c:pt>
                <c:pt idx="97">
                  <c:v>18.56870886419922</c:v>
                </c:pt>
              </c:numCache>
            </c:numRef>
          </c:yVal>
          <c:smooth val="0"/>
        </c:ser>
        <c:ser>
          <c:idx val="2"/>
          <c:order val="2"/>
          <c:tx>
            <c:strRef>
              <c:f>Sheet1!$B$254</c:f>
              <c:strCache>
                <c:ptCount val="1"/>
                <c:pt idx="0">
                  <c:v>1.2 m, CG on the deck</c:v>
                </c:pt>
              </c:strCache>
            </c:strRef>
          </c:tx>
          <c:spPr>
            <a:ln w="22225">
              <a:solidFill>
                <a:srgbClr val="B2432C"/>
              </a:solidFill>
            </a:ln>
          </c:spPr>
          <c:marker>
            <c:symbol val="none"/>
          </c:marker>
          <c:xVal>
            <c:numRef>
              <c:f>Sheet1!$A$255:$A$319</c:f>
              <c:numCache>
                <c:formatCode>General</c:formatCode>
                <c:ptCount val="65"/>
                <c:pt idx="0">
                  <c:v>0.0</c:v>
                </c:pt>
                <c:pt idx="1">
                  <c:v>1.2</c:v>
                </c:pt>
                <c:pt idx="2">
                  <c:v>2.4</c:v>
                </c:pt>
                <c:pt idx="3">
                  <c:v>3.5999999999999996</c:v>
                </c:pt>
                <c:pt idx="4">
                  <c:v>4.8</c:v>
                </c:pt>
                <c:pt idx="5">
                  <c:v>6.0</c:v>
                </c:pt>
                <c:pt idx="6">
                  <c:v>7.199999999999999</c:v>
                </c:pt>
                <c:pt idx="7">
                  <c:v>8.4</c:v>
                </c:pt>
                <c:pt idx="8">
                  <c:v>9.6</c:v>
                </c:pt>
                <c:pt idx="9">
                  <c:v>10.799999999999999</c:v>
                </c:pt>
                <c:pt idx="10">
                  <c:v>12.0</c:v>
                </c:pt>
                <c:pt idx="11">
                  <c:v>13.2</c:v>
                </c:pt>
                <c:pt idx="12">
                  <c:v>14.399999999999999</c:v>
                </c:pt>
                <c:pt idx="13">
                  <c:v>15.6</c:v>
                </c:pt>
                <c:pt idx="14">
                  <c:v>16.8</c:v>
                </c:pt>
                <c:pt idx="15">
                  <c:v>18.0</c:v>
                </c:pt>
                <c:pt idx="16">
                  <c:v>19.2</c:v>
                </c:pt>
                <c:pt idx="17">
                  <c:v>20.4</c:v>
                </c:pt>
                <c:pt idx="18">
                  <c:v>21.599999999999998</c:v>
                </c:pt>
                <c:pt idx="19">
                  <c:v>22.8</c:v>
                </c:pt>
                <c:pt idx="20">
                  <c:v>24.0</c:v>
                </c:pt>
                <c:pt idx="21">
                  <c:v>25.2</c:v>
                </c:pt>
                <c:pt idx="22">
                  <c:v>26.4</c:v>
                </c:pt>
                <c:pt idx="23">
                  <c:v>27.599999999999998</c:v>
                </c:pt>
                <c:pt idx="24">
                  <c:v>28.799999999999997</c:v>
                </c:pt>
                <c:pt idx="25">
                  <c:v>30.0</c:v>
                </c:pt>
                <c:pt idx="26">
                  <c:v>31.2</c:v>
                </c:pt>
                <c:pt idx="27">
                  <c:v>32.4</c:v>
                </c:pt>
                <c:pt idx="28">
                  <c:v>33.6</c:v>
                </c:pt>
                <c:pt idx="29">
                  <c:v>34.8</c:v>
                </c:pt>
                <c:pt idx="30">
                  <c:v>36.0</c:v>
                </c:pt>
                <c:pt idx="31">
                  <c:v>37.199999999999996</c:v>
                </c:pt>
                <c:pt idx="32">
                  <c:v>38.4</c:v>
                </c:pt>
                <c:pt idx="33">
                  <c:v>39.6</c:v>
                </c:pt>
                <c:pt idx="34">
                  <c:v>40.8</c:v>
                </c:pt>
                <c:pt idx="35">
                  <c:v>42.0</c:v>
                </c:pt>
                <c:pt idx="36">
                  <c:v>43.199999999999996</c:v>
                </c:pt>
                <c:pt idx="37">
                  <c:v>44.4</c:v>
                </c:pt>
                <c:pt idx="38">
                  <c:v>45.6</c:v>
                </c:pt>
                <c:pt idx="39">
                  <c:v>46.8</c:v>
                </c:pt>
                <c:pt idx="40">
                  <c:v>48.0</c:v>
                </c:pt>
                <c:pt idx="41">
                  <c:v>49.199999999999996</c:v>
                </c:pt>
                <c:pt idx="42">
                  <c:v>50.4</c:v>
                </c:pt>
                <c:pt idx="43">
                  <c:v>51.6</c:v>
                </c:pt>
                <c:pt idx="44">
                  <c:v>52.8</c:v>
                </c:pt>
                <c:pt idx="45">
                  <c:v>54.0</c:v>
                </c:pt>
                <c:pt idx="46">
                  <c:v>55.199999999999996</c:v>
                </c:pt>
                <c:pt idx="47">
                  <c:v>56.4</c:v>
                </c:pt>
                <c:pt idx="48">
                  <c:v>57.599999999999994</c:v>
                </c:pt>
                <c:pt idx="49">
                  <c:v>58.8</c:v>
                </c:pt>
                <c:pt idx="50">
                  <c:v>60.0</c:v>
                </c:pt>
                <c:pt idx="51">
                  <c:v>61.199999999999996</c:v>
                </c:pt>
                <c:pt idx="52">
                  <c:v>62.4</c:v>
                </c:pt>
                <c:pt idx="53">
                  <c:v>63.599999999999994</c:v>
                </c:pt>
                <c:pt idx="54">
                  <c:v>64.8</c:v>
                </c:pt>
                <c:pt idx="55">
                  <c:v>66.0</c:v>
                </c:pt>
                <c:pt idx="56">
                  <c:v>67.2</c:v>
                </c:pt>
                <c:pt idx="57">
                  <c:v>68.39999999999999</c:v>
                </c:pt>
                <c:pt idx="58">
                  <c:v>69.6</c:v>
                </c:pt>
                <c:pt idx="59">
                  <c:v>70.8</c:v>
                </c:pt>
                <c:pt idx="60">
                  <c:v>72.0</c:v>
                </c:pt>
                <c:pt idx="61">
                  <c:v>73.2</c:v>
                </c:pt>
                <c:pt idx="62">
                  <c:v>74.39999999999999</c:v>
                </c:pt>
                <c:pt idx="63">
                  <c:v>75.6</c:v>
                </c:pt>
                <c:pt idx="64">
                  <c:v>76.8</c:v>
                </c:pt>
              </c:numCache>
            </c:numRef>
          </c:xVal>
          <c:yVal>
            <c:numRef>
              <c:f>Sheet1!$B$255:$B$319</c:f>
              <c:numCache>
                <c:formatCode>General</c:formatCode>
                <c:ptCount val="65"/>
                <c:pt idx="0">
                  <c:v>0.0</c:v>
                </c:pt>
                <c:pt idx="1">
                  <c:v>0.341441032451869</c:v>
                </c:pt>
                <c:pt idx="2">
                  <c:v>0.6835156647236716</c:v>
                </c:pt>
                <c:pt idx="3">
                  <c:v>1.0262382927323876</c:v>
                </c:pt>
                <c:pt idx="4">
                  <c:v>1.3696236010168479</c:v>
                </c:pt>
                <c:pt idx="5">
                  <c:v>1.7136865712926284</c:v>
                </c:pt>
                <c:pt idx="6">
                  <c:v>2.0584424914011676</c:v>
                </c:pt>
                <c:pt idx="7">
                  <c:v>2.4039069646520512</c:v>
                </c:pt>
                <c:pt idx="8">
                  <c:v>2.7500959195819616</c:v>
                </c:pt>
                <c:pt idx="9">
                  <c:v>3.0970256201545507</c:v>
                </c:pt>
                <c:pt idx="10">
                  <c:v>3.4447126764148295</c:v>
                </c:pt>
                <c:pt idx="11">
                  <c:v>3.7931740556282034</c:v>
                </c:pt>
                <c:pt idx="12">
                  <c:v>4.142427093924213</c:v>
                </c:pt>
                <c:pt idx="13">
                  <c:v>4.492489508472983</c:v>
                </c:pt>
                <c:pt idx="14">
                  <c:v>4.843379410221201</c:v>
                </c:pt>
                <c:pt idx="15">
                  <c:v>5.195115317217662</c:v>
                </c:pt>
                <c:pt idx="16">
                  <c:v>5.547716168559116</c:v>
                </c:pt>
                <c:pt idx="17">
                  <c:v>5.901201338990464</c:v>
                </c:pt>
                <c:pt idx="18">
                  <c:v>6.255590654195547</c:v>
                </c:pt>
                <c:pt idx="19">
                  <c:v>6.610904406815536</c:v>
                </c:pt>
                <c:pt idx="20">
                  <c:v>6.9671633732374865</c:v>
                </c:pt>
                <c:pt idx="21">
                  <c:v>7.324388831194954</c:v>
                </c:pt>
                <c:pt idx="22">
                  <c:v>7.6826025782292895</c:v>
                </c:pt>
                <c:pt idx="23">
                  <c:v>8.041826951060296</c:v>
                </c:pt>
                <c:pt idx="24">
                  <c:v>8.40208484592105</c:v>
                </c:pt>
                <c:pt idx="25">
                  <c:v>8.763399739913531</c:v>
                </c:pt>
                <c:pt idx="26">
                  <c:v>9.125795713447618</c:v>
                </c:pt>
                <c:pt idx="27">
                  <c:v>9.489297473829584</c:v>
                </c:pt>
                <c:pt idx="28">
                  <c:v>9.853930380070922</c:v>
                </c:pt>
                <c:pt idx="29">
                  <c:v>10.219720468994584</c:v>
                </c:pt>
                <c:pt idx="30">
                  <c:v>10.586694482722008</c:v>
                </c:pt>
                <c:pt idx="31">
                  <c:v>10.954879897627583</c:v>
                </c:pt>
                <c:pt idx="32">
                  <c:v>11.32430495485849</c:v>
                </c:pt>
                <c:pt idx="33">
                  <c:v>11.694998692522915</c:v>
                </c:pt>
                <c:pt idx="34">
                  <c:v>12.066990979656874</c:v>
                </c:pt>
                <c:pt idx="35">
                  <c:v>12.440312552092285</c:v>
                </c:pt>
                <c:pt idx="36">
                  <c:v>12.81499505035548</c:v>
                </c:pt>
                <c:pt idx="37">
                  <c:v>13.191071059738132</c:v>
                </c:pt>
                <c:pt idx="38">
                  <c:v>13.568574152693342</c:v>
                </c:pt>
                <c:pt idx="39">
                  <c:v>13.947538933723623</c:v>
                </c:pt>
                <c:pt idx="40">
                  <c:v>14.328001086941622</c:v>
                </c:pt>
                <c:pt idx="41">
                  <c:v>14.709997426498594</c:v>
                </c:pt>
                <c:pt idx="42">
                  <c:v>15.0935659500959</c:v>
                </c:pt>
                <c:pt idx="43">
                  <c:v>15.478745895811741</c:v>
                </c:pt>
                <c:pt idx="44">
                  <c:v>15.865577802497056</c:v>
                </c:pt>
                <c:pt idx="45">
                  <c:v>16.254103574018245</c:v>
                </c:pt>
                <c:pt idx="46">
                  <c:v>16.644366547650314</c:v>
                </c:pt>
                <c:pt idx="47">
                  <c:v>17.036411566952662</c:v>
                </c:pt>
                <c:pt idx="48">
                  <c:v>17.43028505949165</c:v>
                </c:pt>
                <c:pt idx="49">
                  <c:v>17.826035119809905</c:v>
                </c:pt>
                <c:pt idx="50">
                  <c:v>18.22371159808211</c:v>
                </c:pt>
                <c:pt idx="51">
                  <c:v>18.62336619494134</c:v>
                </c:pt>
                <c:pt idx="52">
                  <c:v>19.025052563008977</c:v>
                </c:pt>
                <c:pt idx="53">
                  <c:v>19.428826415717634</c:v>
                </c:pt>
                <c:pt idx="54">
                  <c:v>19.834745644078424</c:v>
                </c:pt>
                <c:pt idx="55">
                  <c:v>20.242870442113883</c:v>
                </c:pt>
                <c:pt idx="56">
                  <c:v>20.653263441756735</c:v>
                </c:pt>
                <c:pt idx="57">
                  <c:v>21.06598985810382</c:v>
                </c:pt>
                <c:pt idx="58">
                  <c:v>21.481117646015118</c:v>
                </c:pt>
                <c:pt idx="59">
                  <c:v>21.89871766916177</c:v>
                </c:pt>
                <c:pt idx="60">
                  <c:v>22.318863882756638</c:v>
                </c:pt>
                <c:pt idx="61">
                  <c:v>22.741633531348</c:v>
                </c:pt>
                <c:pt idx="62">
                  <c:v>23.16710736322479</c:v>
                </c:pt>
                <c:pt idx="63">
                  <c:v>23.59536986317439</c:v>
                </c:pt>
                <c:pt idx="64">
                  <c:v>24.026509505554234</c:v>
                </c:pt>
              </c:numCache>
            </c:numRef>
          </c:yVal>
          <c:smooth val="0"/>
        </c:ser>
        <c:ser>
          <c:idx val="3"/>
          <c:order val="3"/>
          <c:tx>
            <c:strRef>
              <c:f>Sheet1!$B$321</c:f>
              <c:strCache>
                <c:ptCount val="1"/>
                <c:pt idx="0">
                  <c:v>0.2 m, CG 1 m above the deck</c:v>
                </c:pt>
              </c:strCache>
            </c:strRef>
          </c:tx>
          <c:spPr>
            <a:ln w="22225">
              <a:solidFill>
                <a:srgbClr val="7B3FA0"/>
              </a:solidFill>
              <a:prstDash val="dash"/>
            </a:ln>
          </c:spPr>
          <c:marker>
            <c:symbol val="none"/>
          </c:marker>
          <c:xVal>
            <c:numRef>
              <c:f>Sheet1!$A$322:$A$427</c:f>
              <c:numCache>
                <c:formatCode>General</c:formatCode>
                <c:ptCount val="106"/>
                <c:pt idx="0">
                  <c:v>0.0</c:v>
                </c:pt>
                <c:pt idx="1">
                  <c:v>0.2</c:v>
                </c:pt>
                <c:pt idx="2">
                  <c:v>0.4</c:v>
                </c:pt>
                <c:pt idx="3">
                  <c:v>0.6000000000000001</c:v>
                </c:pt>
                <c:pt idx="4">
                  <c:v>0.8</c:v>
                </c:pt>
                <c:pt idx="5">
                  <c:v>1.0</c:v>
                </c:pt>
                <c:pt idx="6">
                  <c:v>1.2000000000000002</c:v>
                </c:pt>
                <c:pt idx="7">
                  <c:v>1.4000000000000001</c:v>
                </c:pt>
                <c:pt idx="8">
                  <c:v>1.6</c:v>
                </c:pt>
                <c:pt idx="9">
                  <c:v>1.8</c:v>
                </c:pt>
                <c:pt idx="10">
                  <c:v>2.0</c:v>
                </c:pt>
                <c:pt idx="11">
                  <c:v>2.2</c:v>
                </c:pt>
                <c:pt idx="12">
                  <c:v>2.4000000000000004</c:v>
                </c:pt>
                <c:pt idx="13">
                  <c:v>2.6</c:v>
                </c:pt>
                <c:pt idx="14">
                  <c:v>2.8000000000000003</c:v>
                </c:pt>
                <c:pt idx="15">
                  <c:v>3.0</c:v>
                </c:pt>
                <c:pt idx="16">
                  <c:v>3.2</c:v>
                </c:pt>
                <c:pt idx="17">
                  <c:v>3.4000000000000004</c:v>
                </c:pt>
                <c:pt idx="18">
                  <c:v>3.6</c:v>
                </c:pt>
                <c:pt idx="19">
                  <c:v>3.8000000000000003</c:v>
                </c:pt>
                <c:pt idx="20">
                  <c:v>4.0</c:v>
                </c:pt>
                <c:pt idx="21">
                  <c:v>4.2</c:v>
                </c:pt>
                <c:pt idx="22">
                  <c:v>4.4</c:v>
                </c:pt>
                <c:pt idx="23">
                  <c:v>4.6000000000000005</c:v>
                </c:pt>
                <c:pt idx="24">
                  <c:v>4.800000000000001</c:v>
                </c:pt>
                <c:pt idx="25">
                  <c:v>5.0</c:v>
                </c:pt>
                <c:pt idx="26">
                  <c:v>5.2</c:v>
                </c:pt>
                <c:pt idx="27">
                  <c:v>5.4</c:v>
                </c:pt>
                <c:pt idx="28">
                  <c:v>5.6000000000000005</c:v>
                </c:pt>
                <c:pt idx="29">
                  <c:v>5.800000000000001</c:v>
                </c:pt>
                <c:pt idx="30">
                  <c:v>6.0</c:v>
                </c:pt>
                <c:pt idx="31">
                  <c:v>6.2</c:v>
                </c:pt>
                <c:pt idx="32">
                  <c:v>6.4</c:v>
                </c:pt>
                <c:pt idx="33">
                  <c:v>6.6000000000000005</c:v>
                </c:pt>
                <c:pt idx="34">
                  <c:v>6.800000000000001</c:v>
                </c:pt>
                <c:pt idx="35">
                  <c:v>7.0</c:v>
                </c:pt>
                <c:pt idx="36">
                  <c:v>7.2</c:v>
                </c:pt>
                <c:pt idx="37">
                  <c:v>7.4</c:v>
                </c:pt>
                <c:pt idx="38">
                  <c:v>7.6000000000000005</c:v>
                </c:pt>
                <c:pt idx="39">
                  <c:v>7.800000000000001</c:v>
                </c:pt>
                <c:pt idx="40">
                  <c:v>8.0</c:v>
                </c:pt>
                <c:pt idx="41">
                  <c:v>8.200000000000001</c:v>
                </c:pt>
                <c:pt idx="42">
                  <c:v>8.4</c:v>
                </c:pt>
                <c:pt idx="43">
                  <c:v>8.6</c:v>
                </c:pt>
                <c:pt idx="44">
                  <c:v>8.8</c:v>
                </c:pt>
                <c:pt idx="45">
                  <c:v>9.0</c:v>
                </c:pt>
                <c:pt idx="46">
                  <c:v>9.200000000000001</c:v>
                </c:pt>
                <c:pt idx="47">
                  <c:v>9.4</c:v>
                </c:pt>
                <c:pt idx="48">
                  <c:v>9.600000000000001</c:v>
                </c:pt>
                <c:pt idx="49">
                  <c:v>9.8</c:v>
                </c:pt>
                <c:pt idx="50">
                  <c:v>10.0</c:v>
                </c:pt>
                <c:pt idx="51">
                  <c:v>10.200000000000001</c:v>
                </c:pt>
                <c:pt idx="52">
                  <c:v>10.4</c:v>
                </c:pt>
                <c:pt idx="53">
                  <c:v>10.600000000000001</c:v>
                </c:pt>
                <c:pt idx="54">
                  <c:v>10.8</c:v>
                </c:pt>
                <c:pt idx="55">
                  <c:v>11.0</c:v>
                </c:pt>
                <c:pt idx="56">
                  <c:v>11.200000000000001</c:v>
                </c:pt>
                <c:pt idx="57">
                  <c:v>11.4</c:v>
                </c:pt>
                <c:pt idx="58">
                  <c:v>11.600000000000001</c:v>
                </c:pt>
                <c:pt idx="59">
                  <c:v>11.8</c:v>
                </c:pt>
                <c:pt idx="60">
                  <c:v>12.0</c:v>
                </c:pt>
                <c:pt idx="61">
                  <c:v>12.200000000000001</c:v>
                </c:pt>
                <c:pt idx="62">
                  <c:v>12.4</c:v>
                </c:pt>
                <c:pt idx="63">
                  <c:v>12.600000000000001</c:v>
                </c:pt>
                <c:pt idx="64">
                  <c:v>12.8</c:v>
                </c:pt>
                <c:pt idx="65">
                  <c:v>13.0</c:v>
                </c:pt>
                <c:pt idx="66">
                  <c:v>13.200000000000001</c:v>
                </c:pt>
                <c:pt idx="67">
                  <c:v>13.4</c:v>
                </c:pt>
                <c:pt idx="68">
                  <c:v>13.600000000000001</c:v>
                </c:pt>
                <c:pt idx="69">
                  <c:v>13.8</c:v>
                </c:pt>
                <c:pt idx="70">
                  <c:v>14.0</c:v>
                </c:pt>
                <c:pt idx="71">
                  <c:v>14.200000000000001</c:v>
                </c:pt>
                <c:pt idx="72">
                  <c:v>14.4</c:v>
                </c:pt>
                <c:pt idx="73">
                  <c:v>14.600000000000001</c:v>
                </c:pt>
                <c:pt idx="74">
                  <c:v>14.8</c:v>
                </c:pt>
                <c:pt idx="75">
                  <c:v>15.0</c:v>
                </c:pt>
                <c:pt idx="76">
                  <c:v>15.200000000000001</c:v>
                </c:pt>
                <c:pt idx="77">
                  <c:v>15.4</c:v>
                </c:pt>
                <c:pt idx="78">
                  <c:v>15.600000000000001</c:v>
                </c:pt>
                <c:pt idx="79">
                  <c:v>15.8</c:v>
                </c:pt>
                <c:pt idx="80">
                  <c:v>16.0</c:v>
                </c:pt>
                <c:pt idx="81">
                  <c:v>16.2</c:v>
                </c:pt>
                <c:pt idx="82">
                  <c:v>16.400000000000002</c:v>
                </c:pt>
                <c:pt idx="83">
                  <c:v>16.6</c:v>
                </c:pt>
                <c:pt idx="84">
                  <c:v>16.8</c:v>
                </c:pt>
                <c:pt idx="85">
                  <c:v>17.0</c:v>
                </c:pt>
                <c:pt idx="86">
                  <c:v>17.2</c:v>
                </c:pt>
                <c:pt idx="87">
                  <c:v>17.400000000000002</c:v>
                </c:pt>
                <c:pt idx="88">
                  <c:v>17.6</c:v>
                </c:pt>
                <c:pt idx="89">
                  <c:v>17.8</c:v>
                </c:pt>
                <c:pt idx="90">
                  <c:v>18.0</c:v>
                </c:pt>
                <c:pt idx="91">
                  <c:v>18.2</c:v>
                </c:pt>
                <c:pt idx="92">
                  <c:v>18.400000000000002</c:v>
                </c:pt>
                <c:pt idx="93">
                  <c:v>18.6</c:v>
                </c:pt>
                <c:pt idx="94">
                  <c:v>18.8</c:v>
                </c:pt>
                <c:pt idx="95">
                  <c:v>19.0</c:v>
                </c:pt>
                <c:pt idx="96">
                  <c:v>19.200000000000003</c:v>
                </c:pt>
                <c:pt idx="97">
                  <c:v>19.400000000000002</c:v>
                </c:pt>
                <c:pt idx="98">
                  <c:v>19.6</c:v>
                </c:pt>
                <c:pt idx="99">
                  <c:v>19.8</c:v>
                </c:pt>
                <c:pt idx="100">
                  <c:v>20.0</c:v>
                </c:pt>
                <c:pt idx="101">
                  <c:v>20.200000000000003</c:v>
                </c:pt>
                <c:pt idx="102">
                  <c:v>20.400000000000002</c:v>
                </c:pt>
                <c:pt idx="103">
                  <c:v>20.6</c:v>
                </c:pt>
                <c:pt idx="104">
                  <c:v>20.8</c:v>
                </c:pt>
                <c:pt idx="105">
                  <c:v>21.0</c:v>
                </c:pt>
              </c:numCache>
            </c:numRef>
          </c:xVal>
          <c:yVal>
            <c:numRef>
              <c:f>Sheet1!$B$322:$B$427</c:f>
              <c:numCache>
                <c:formatCode>General</c:formatCode>
                <c:ptCount val="106"/>
                <c:pt idx="0">
                  <c:v>0.0</c:v>
                </c:pt>
                <c:pt idx="1">
                  <c:v>0.057190514997237554</c:v>
                </c:pt>
                <c:pt idx="2">
                  <c:v>0.1150604231504431</c:v>
                </c:pt>
                <c:pt idx="3">
                  <c:v>0.17362197061471354</c:v>
                </c:pt>
                <c:pt idx="4">
                  <c:v>0.23288770577489704</c:v>
                </c:pt>
                <c:pt idx="5">
                  <c:v>0.2928704889815762</c:v>
                </c:pt>
                <c:pt idx="6">
                  <c:v>0.35358350263965005</c:v>
                </c:pt>
                <c:pt idx="7">
                  <c:v>0.41504026171423003</c:v>
                </c:pt>
                <c:pt idx="8">
                  <c:v>0.47725462467928526</c:v>
                </c:pt>
                <c:pt idx="9">
                  <c:v>0.5402408049073285</c:v>
                </c:pt>
                <c:pt idx="10">
                  <c:v>0.6040133825595575</c:v>
                </c:pt>
                <c:pt idx="11">
                  <c:v>0.6685873169519755</c:v>
                </c:pt>
                <c:pt idx="12">
                  <c:v>0.7339779594693001</c:v>
                </c:pt>
                <c:pt idx="13">
                  <c:v>0.8002010670273293</c:v>
                </c:pt>
                <c:pt idx="14">
                  <c:v>0.8672728161282585</c:v>
                </c:pt>
                <c:pt idx="15">
                  <c:v>0.9352098175254747</c:v>
                </c:pt>
                <c:pt idx="16">
                  <c:v>1.004029131547669</c:v>
                </c:pt>
                <c:pt idx="17">
                  <c:v>1.0737482841063457</c:v>
                </c:pt>
                <c:pt idx="18">
                  <c:v>1.1443852834315387</c:v>
                </c:pt>
                <c:pt idx="19">
                  <c:v>1.2159586375704576</c:v>
                </c:pt>
                <c:pt idx="20">
                  <c:v>1.2884873726962187</c:v>
                </c:pt>
                <c:pt idx="21">
                  <c:v>1.3619910522777732</c:v>
                </c:pt>
                <c:pt idx="22">
                  <c:v>1.4364897971485833</c:v>
                </c:pt>
                <c:pt idx="23">
                  <c:v>1.5120043065369395</c:v>
                </c:pt>
                <c:pt idx="24">
                  <c:v>1.5885558801108097</c:v>
                </c:pt>
                <c:pt idx="25">
                  <c:v>1.6661664411017014</c:v>
                </c:pt>
                <c:pt idx="26">
                  <c:v>1.744858560565474</c:v>
                </c:pt>
                <c:pt idx="27">
                  <c:v>1.8246554828567583</c:v>
                </c:pt>
                <c:pt idx="28">
                  <c:v>1.905581152390732</c:v>
                </c:pt>
                <c:pt idx="29">
                  <c:v>1.9876602417698845</c:v>
                </c:pt>
                <c:pt idx="30">
                  <c:v>2.0709181813666575</c:v>
                </c:pt>
                <c:pt idx="31">
                  <c:v>2.155381190451882</c:v>
                </c:pt>
                <c:pt idx="32">
                  <c:v>2.241076309974454</c:v>
                </c:pt>
                <c:pt idx="33">
                  <c:v>2.3280314370945416</c:v>
                </c:pt>
                <c:pt idx="34">
                  <c:v>2.41627536159327</c:v>
                </c:pt>
                <c:pt idx="35">
                  <c:v>2.505837804284202</c:v>
                </c:pt>
                <c:pt idx="36">
                  <c:v>2.5967494575598944</c:v>
                </c:pt>
                <c:pt idx="37">
                  <c:v>2.6890420282295873</c:v>
                </c:pt>
                <c:pt idx="38">
                  <c:v>2.782748282800389</c:v>
                </c:pt>
                <c:pt idx="39">
                  <c:v>2.8779020953835155</c:v>
                </c:pt>
                <c:pt idx="40">
                  <c:v>2.9745384984113787</c:v>
                </c:pt>
                <c:pt idx="41">
                  <c:v>3.0726937363724334</c:v>
                </c:pt>
                <c:pt idx="42">
                  <c:v>3.1724053227887246</c:v>
                </c:pt>
                <c:pt idx="43">
                  <c:v>3.2737121006802785</c:v>
                </c:pt>
                <c:pt idx="44">
                  <c:v>3.376654306782795</c:v>
                </c:pt>
                <c:pt idx="45">
                  <c:v>3.4812736398123314</c:v>
                </c:pt>
                <c:pt idx="46">
                  <c:v>3.587613333091181</c:v>
                </c:pt>
                <c:pt idx="47">
                  <c:v>3.6957182318890442</c:v>
                </c:pt>
                <c:pt idx="48">
                  <c:v>3.8056348758599037</c:v>
                </c:pt>
                <c:pt idx="49">
                  <c:v>3.917411586994839</c:v>
                </c:pt>
                <c:pt idx="50">
                  <c:v>4.0310985635539165</c:v>
                </c:pt>
                <c:pt idx="51">
                  <c:v>4.146747980486163</c:v>
                </c:pt>
                <c:pt idx="52">
                  <c:v>4.264414096899039</c:v>
                </c:pt>
                <c:pt idx="53">
                  <c:v>4.384153371197898</c:v>
                </c:pt>
                <c:pt idx="54">
                  <c:v>4.506024584581838</c:v>
                </c:pt>
                <c:pt idx="55">
                  <c:v>4.630088973654607</c:v>
                </c:pt>
                <c:pt idx="56">
                  <c:v>4.756410372997722</c:v>
                </c:pt>
                <c:pt idx="57">
                  <c:v>4.885055368642175</c:v>
                </c:pt>
                <c:pt idx="58">
                  <c:v>5.016093463483594</c:v>
                </c:pt>
                <c:pt idx="59">
                  <c:v>5.149597255810013</c:v>
                </c:pt>
                <c:pt idx="60">
                  <c:v>5.285642632243397</c:v>
                </c:pt>
                <c:pt idx="61">
                  <c:v>5.424308976559651</c:v>
                </c:pt>
                <c:pt idx="62">
                  <c:v>5.565679396024547</c:v>
                </c:pt>
                <c:pt idx="63">
                  <c:v>5.709840967092796</c:v>
                </c:pt>
                <c:pt idx="64">
                  <c:v>5.856885002551177</c:v>
                </c:pt>
                <c:pt idx="65">
                  <c:v>6.006907342456395</c:v>
                </c:pt>
                <c:pt idx="66">
                  <c:v>6.160008671531082</c:v>
                </c:pt>
                <c:pt idx="67">
                  <c:v>6.316294866043451</c:v>
                </c:pt>
                <c:pt idx="68">
                  <c:v>6.475877373612762</c:v>
                </c:pt>
                <c:pt idx="69">
                  <c:v>6.638873629871495</c:v>
                </c:pt>
                <c:pt idx="70">
                  <c:v>6.805407516483337</c:v>
                </c:pt>
                <c:pt idx="71">
                  <c:v>6.975609865678944</c:v>
                </c:pt>
                <c:pt idx="72">
                  <c:v>7.149619017261621</c:v>
                </c:pt>
                <c:pt idx="73">
                  <c:v>7.327581434945458</c:v>
                </c:pt>
                <c:pt idx="74">
                  <c:v>7.509652389989403</c:v>
                </c:pt>
                <c:pt idx="75">
                  <c:v>7.6959967213833735</c:v>
                </c:pt>
                <c:pt idx="76">
                  <c:v>7.886789683389598</c:v>
                </c:pt>
                <c:pt idx="77">
                  <c:v>8.08221789309587</c:v>
                </c:pt>
                <c:pt idx="78">
                  <c:v>8.282480392867381</c:v>
                </c:pt>
                <c:pt idx="79">
                  <c:v>8.487789845280371</c:v>
                </c:pt>
                <c:pt idx="80">
                  <c:v>8.698373881397846</c:v>
                </c:pt>
                <c:pt idx="81">
                  <c:v>8.914476627249538</c:v>
                </c:pt>
                <c:pt idx="82">
                  <c:v>9.1363604382956</c:v>
                </c:pt>
                <c:pt idx="83">
                  <c:v>9.364307877726507</c:v>
                </c:pt>
                <c:pt idx="84">
                  <c:v>9.59862398200287</c:v>
                </c:pt>
                <c:pt idx="85">
                  <c:v>9.83963886648805</c:v>
                </c:pt>
                <c:pt idx="86">
                  <c:v>10.087710735929509</c:v>
                </c:pt>
                <c:pt idx="87">
                  <c:v>10.343229379659519</c:v>
                </c:pt>
                <c:pt idx="88">
                  <c:v>10.606620250720864</c:v>
                </c:pt>
                <c:pt idx="89">
                  <c:v>10.878349253071667</c:v>
                </c:pt>
                <c:pt idx="90">
                  <c:v>11.158928393511433</c:v>
                </c:pt>
                <c:pt idx="91">
                  <c:v>11.448922497677476</c:v>
                </c:pt>
                <c:pt idx="92">
                  <c:v>11.748957246207915</c:v>
                </c:pt>
                <c:pt idx="93">
                  <c:v>12.059728863412051</c:v>
                </c:pt>
                <c:pt idx="94">
                  <c:v>12.382015894504901</c:v>
                </c:pt>
                <c:pt idx="95">
                  <c:v>12.716693650429924</c:v>
                </c:pt>
                <c:pt idx="96">
                  <c:v>13.064752099262783</c:v>
                </c:pt>
                <c:pt idx="97">
                  <c:v>13.42731826736518</c:v>
                </c:pt>
                <c:pt idx="98">
                  <c:v>13.805684624464504</c:v>
                </c:pt>
                <c:pt idx="99">
                  <c:v>14.201345532913592</c:v>
                </c:pt>
                <c:pt idx="100">
                  <c:v>14.616044754652462</c:v>
                </c:pt>
                <c:pt idx="101">
                  <c:v>15.051838419246652</c:v>
                </c:pt>
                <c:pt idx="102">
                  <c:v>15.511180093059616</c:v>
                </c:pt>
                <c:pt idx="103">
                  <c:v>15.997038249950174</c:v>
                </c:pt>
                <c:pt idx="104">
                  <c:v>16.513062651441366</c:v>
                </c:pt>
                <c:pt idx="105">
                  <c:v>17.063827116732536</c:v>
                </c:pt>
              </c:numCache>
            </c:numRef>
          </c:yVal>
          <c:smooth val="0"/>
        </c:ser>
        <c:ser>
          <c:idx val="4"/>
          <c:order val="4"/>
          <c:tx>
            <c:strRef>
              <c:f>Sheet1!$B$429</c:f>
              <c:strCache>
                <c:ptCount val="1"/>
                <c:pt idx="0">
                  <c:v>0.6 m, CG 1 m above the deck</c:v>
                </c:pt>
              </c:strCache>
            </c:strRef>
          </c:tx>
          <c:spPr>
            <a:ln w="22225">
              <a:solidFill>
                <a:srgbClr val="7B3FA0"/>
              </a:solidFill>
              <a:prstDash val="dash"/>
            </a:ln>
          </c:spPr>
          <c:marker>
            <c:symbol val="none"/>
          </c:marker>
          <c:xVal>
            <c:numRef>
              <c:f>Sheet1!$A$430:$A$501</c:f>
              <c:numCache>
                <c:formatCode>General</c:formatCode>
                <c:ptCount val="72"/>
                <c:pt idx="0">
                  <c:v>0.0</c:v>
                </c:pt>
                <c:pt idx="1">
                  <c:v>0.6</c:v>
                </c:pt>
                <c:pt idx="2">
                  <c:v>1.2</c:v>
                </c:pt>
                <c:pt idx="3">
                  <c:v>1.7999999999999998</c:v>
                </c:pt>
                <c:pt idx="4">
                  <c:v>2.4</c:v>
                </c:pt>
                <c:pt idx="5">
                  <c:v>3.0</c:v>
                </c:pt>
                <c:pt idx="6">
                  <c:v>3.5999999999999996</c:v>
                </c:pt>
                <c:pt idx="7">
                  <c:v>4.2</c:v>
                </c:pt>
                <c:pt idx="8">
                  <c:v>4.8</c:v>
                </c:pt>
                <c:pt idx="9">
                  <c:v>5.3999999999999995</c:v>
                </c:pt>
                <c:pt idx="10">
                  <c:v>6.0</c:v>
                </c:pt>
                <c:pt idx="11">
                  <c:v>6.6</c:v>
                </c:pt>
                <c:pt idx="12">
                  <c:v>7.199999999999999</c:v>
                </c:pt>
                <c:pt idx="13">
                  <c:v>7.8</c:v>
                </c:pt>
                <c:pt idx="14">
                  <c:v>8.4</c:v>
                </c:pt>
                <c:pt idx="15">
                  <c:v>9.0</c:v>
                </c:pt>
                <c:pt idx="16">
                  <c:v>9.6</c:v>
                </c:pt>
                <c:pt idx="17">
                  <c:v>10.2</c:v>
                </c:pt>
                <c:pt idx="18">
                  <c:v>10.799999999999999</c:v>
                </c:pt>
                <c:pt idx="19">
                  <c:v>11.4</c:v>
                </c:pt>
                <c:pt idx="20">
                  <c:v>12.0</c:v>
                </c:pt>
                <c:pt idx="21">
                  <c:v>12.6</c:v>
                </c:pt>
                <c:pt idx="22">
                  <c:v>13.2</c:v>
                </c:pt>
                <c:pt idx="23">
                  <c:v>13.799999999999999</c:v>
                </c:pt>
                <c:pt idx="24">
                  <c:v>14.399999999999999</c:v>
                </c:pt>
                <c:pt idx="25">
                  <c:v>15.0</c:v>
                </c:pt>
                <c:pt idx="26">
                  <c:v>15.6</c:v>
                </c:pt>
                <c:pt idx="27">
                  <c:v>16.2</c:v>
                </c:pt>
                <c:pt idx="28">
                  <c:v>16.8</c:v>
                </c:pt>
                <c:pt idx="29">
                  <c:v>17.4</c:v>
                </c:pt>
                <c:pt idx="30">
                  <c:v>18.0</c:v>
                </c:pt>
                <c:pt idx="31">
                  <c:v>18.599999999999998</c:v>
                </c:pt>
                <c:pt idx="32">
                  <c:v>19.2</c:v>
                </c:pt>
                <c:pt idx="33">
                  <c:v>19.8</c:v>
                </c:pt>
                <c:pt idx="34">
                  <c:v>20.4</c:v>
                </c:pt>
                <c:pt idx="35">
                  <c:v>21.0</c:v>
                </c:pt>
                <c:pt idx="36">
                  <c:v>21.599999999999998</c:v>
                </c:pt>
                <c:pt idx="37">
                  <c:v>22.2</c:v>
                </c:pt>
                <c:pt idx="38">
                  <c:v>22.8</c:v>
                </c:pt>
                <c:pt idx="39">
                  <c:v>23.4</c:v>
                </c:pt>
                <c:pt idx="40">
                  <c:v>24.0</c:v>
                </c:pt>
                <c:pt idx="41">
                  <c:v>24.599999999999998</c:v>
                </c:pt>
                <c:pt idx="42">
                  <c:v>25.2</c:v>
                </c:pt>
                <c:pt idx="43">
                  <c:v>25.8</c:v>
                </c:pt>
                <c:pt idx="44">
                  <c:v>26.4</c:v>
                </c:pt>
                <c:pt idx="45">
                  <c:v>27.0</c:v>
                </c:pt>
                <c:pt idx="46">
                  <c:v>27.599999999999998</c:v>
                </c:pt>
                <c:pt idx="47">
                  <c:v>28.2</c:v>
                </c:pt>
                <c:pt idx="48">
                  <c:v>28.799999999999997</c:v>
                </c:pt>
                <c:pt idx="49">
                  <c:v>29.4</c:v>
                </c:pt>
                <c:pt idx="50">
                  <c:v>30.0</c:v>
                </c:pt>
                <c:pt idx="51">
                  <c:v>30.599999999999998</c:v>
                </c:pt>
                <c:pt idx="52">
                  <c:v>31.2</c:v>
                </c:pt>
                <c:pt idx="53">
                  <c:v>31.799999999999997</c:v>
                </c:pt>
                <c:pt idx="54">
                  <c:v>32.4</c:v>
                </c:pt>
                <c:pt idx="55">
                  <c:v>33.0</c:v>
                </c:pt>
                <c:pt idx="56">
                  <c:v>33.6</c:v>
                </c:pt>
                <c:pt idx="57">
                  <c:v>34.199999999999996</c:v>
                </c:pt>
                <c:pt idx="58">
                  <c:v>34.8</c:v>
                </c:pt>
                <c:pt idx="59">
                  <c:v>35.4</c:v>
                </c:pt>
                <c:pt idx="60">
                  <c:v>36.0</c:v>
                </c:pt>
                <c:pt idx="61">
                  <c:v>36.6</c:v>
                </c:pt>
                <c:pt idx="62">
                  <c:v>37.199999999999996</c:v>
                </c:pt>
                <c:pt idx="63">
                  <c:v>37.8</c:v>
                </c:pt>
                <c:pt idx="64">
                  <c:v>38.4</c:v>
                </c:pt>
                <c:pt idx="65">
                  <c:v>39.0</c:v>
                </c:pt>
                <c:pt idx="66">
                  <c:v>39.6</c:v>
                </c:pt>
                <c:pt idx="67">
                  <c:v>40.199999999999996</c:v>
                </c:pt>
                <c:pt idx="68">
                  <c:v>40.8</c:v>
                </c:pt>
                <c:pt idx="69">
                  <c:v>41.4</c:v>
                </c:pt>
                <c:pt idx="70">
                  <c:v>42.0</c:v>
                </c:pt>
                <c:pt idx="71">
                  <c:v>42.6</c:v>
                </c:pt>
              </c:numCache>
            </c:numRef>
          </c:xVal>
          <c:yVal>
            <c:numRef>
              <c:f>Sheet1!$B$430:$B$501</c:f>
              <c:numCache>
                <c:formatCode>General</c:formatCode>
                <c:ptCount val="72"/>
                <c:pt idx="0">
                  <c:v>0.0</c:v>
                </c:pt>
                <c:pt idx="1">
                  <c:v>0.17157178069811896</c:v>
                </c:pt>
                <c:pt idx="2">
                  <c:v>0.34518322239393234</c:v>
                </c:pt>
                <c:pt idx="3">
                  <c:v>0.5208727383148428</c:v>
                </c:pt>
                <c:pt idx="4">
                  <c:v>0.6986798768244139</c:v>
                </c:pt>
                <c:pt idx="5">
                  <c:v>0.8786453713213082</c:v>
                </c:pt>
                <c:pt idx="6">
                  <c:v>1.0608111930919688</c:v>
                </c:pt>
                <c:pt idx="7">
                  <c:v>1.2452206073278957</c:v>
                </c:pt>
                <c:pt idx="8">
                  <c:v>1.4319182325417878</c:v>
                </c:pt>
                <c:pt idx="9">
                  <c:v>1.6209501036472258</c:v>
                </c:pt>
                <c:pt idx="10">
                  <c:v>1.8123637389691778</c:v>
                </c:pt>
                <c:pt idx="11">
                  <c:v>2.0062082115049176</c:v>
                </c:pt>
                <c:pt idx="12">
                  <c:v>2.2025342247605724</c:v>
                </c:pt>
                <c:pt idx="13">
                  <c:v>2.401394193529069</c:v>
                </c:pt>
                <c:pt idx="14">
                  <c:v>2.6028423300148065</c:v>
                </c:pt>
                <c:pt idx="15">
                  <c:v>2.8069347357392527</c:v>
                </c:pt>
                <c:pt idx="16">
                  <c:v>3.0137294997118667</c:v>
                </c:pt>
                <c:pt idx="17">
                  <c:v>3.2232868033974738</c:v>
                </c:pt>
                <c:pt idx="18">
                  <c:v>3.435669033061886</c:v>
                </c:pt>
                <c:pt idx="19">
                  <c:v>3.650940900145219</c:v>
                </c:pt>
                <c:pt idx="20">
                  <c:v>3.8691695703684457</c:v>
                </c:pt>
                <c:pt idx="21">
                  <c:v>4.090424802366881</c:v>
                </c:pt>
                <c:pt idx="22">
                  <c:v>4.314779096720841</c:v>
                </c:pt>
                <c:pt idx="23">
                  <c:v>4.542307856352518</c:v>
                </c:pt>
                <c:pt idx="24">
                  <c:v>4.773089559368656</c:v>
                </c:pt>
                <c:pt idx="25">
                  <c:v>5.007205945547285</c:v>
                </c:pt>
                <c:pt idx="26">
                  <c:v>5.244742217809802</c:v>
                </c:pt>
                <c:pt idx="27">
                  <c:v>5.485787260174006</c:v>
                </c:pt>
                <c:pt idx="28">
                  <c:v>5.730433873868854</c:v>
                </c:pt>
                <c:pt idx="29">
                  <c:v>5.978779033490284</c:v>
                </c:pt>
                <c:pt idx="30">
                  <c:v>6.230924165319788</c:v>
                </c:pt>
                <c:pt idx="31">
                  <c:v>6.486975450190732</c:v>
                </c:pt>
                <c:pt idx="32">
                  <c:v>6.747044153601787</c:v>
                </c:pt>
                <c:pt idx="33">
                  <c:v>7.011246986132169</c:v>
                </c:pt>
                <c:pt idx="34">
                  <c:v>7.279706497625836</c:v>
                </c:pt>
                <c:pt idx="35">
                  <c:v>7.5525515090936715</c:v>
                </c:pt>
                <c:pt idx="36">
                  <c:v>7.829917586835378</c:v>
                </c:pt>
                <c:pt idx="37">
                  <c:v>8.111947563936516</c:v>
                </c:pt>
                <c:pt idx="38">
                  <c:v>8.398792115053702</c:v>
                </c:pt>
                <c:pt idx="39">
                  <c:v>8.690610391294392</c:v>
                </c:pt>
                <c:pt idx="40">
                  <c:v>8.987570723050249</c:v>
                </c:pt>
                <c:pt idx="41">
                  <c:v>9.289851399885752</c:v>
                </c:pt>
                <c:pt idx="42">
                  <c:v>9.597641538062199</c:v>
                </c:pt>
                <c:pt idx="43">
                  <c:v>9.911142048037297</c:v>
                </c:pt>
                <c:pt idx="44">
                  <c:v>10.230566716388115</c:v>
                </c:pt>
                <c:pt idx="45">
                  <c:v>10.556143419140286</c:v>
                </c:pt>
                <c:pt idx="46">
                  <c:v>10.888115486549218</c:v>
                </c:pt>
                <c:pt idx="47">
                  <c:v>11.22674324309471</c:v>
                </c:pt>
                <c:pt idx="48">
                  <c:v>11.572305750989274</c:v>
                </c:pt>
                <c:pt idx="49">
                  <c:v>11.925102791065296</c:v>
                </c:pt>
                <c:pt idx="50">
                  <c:v>12.285457121778581</c:v>
                </c:pt>
                <c:pt idx="51">
                  <c:v>12.653717065593378</c:v>
                </c:pt>
                <c:pt idx="52">
                  <c:v>13.030259482677936</c:v>
                </c:pt>
                <c:pt idx="53">
                  <c:v>13.415493205252774</c:v>
                </c:pt>
                <c:pt idx="54">
                  <c:v>13.809863022941265</c:v>
                </c:pt>
                <c:pt idx="55">
                  <c:v>14.213854331196407</c:v>
                </c:pt>
                <c:pt idx="56">
                  <c:v>14.627998582863471</c:v>
                </c:pt>
                <c:pt idx="57">
                  <c:v>15.052879719316017</c:v>
                </c:pt>
                <c:pt idx="58">
                  <c:v>15.48914180533523</c:v>
                </c:pt>
                <c:pt idx="59">
                  <c:v>15.937498155192783</c:v>
                </c:pt>
                <c:pt idx="60">
                  <c:v>16.398742322247976</c:v>
                </c:pt>
                <c:pt idx="61">
                  <c:v>16.87376143951018</c:v>
                </c:pt>
                <c:pt idx="62">
                  <c:v>17.363552556911873</c:v>
                </c:pt>
                <c:pt idx="63">
                  <c:v>17.869242841797305</c:v>
                </c:pt>
                <c:pt idx="64">
                  <c:v>18.392114821859266</c:v>
                </c:pt>
                <c:pt idx="65">
                  <c:v>18.933638300436918</c:v>
                </c:pt>
                <c:pt idx="66">
                  <c:v>19.49551123606744</c:v>
                </c:pt>
                <c:pt idx="67">
                  <c:v>20.07971287127689</c:v>
                </c:pt>
                <c:pt idx="68">
                  <c:v>20.688573921079445</c:v>
                </c:pt>
                <c:pt idx="69">
                  <c:v>21.324871038170453</c:v>
                </c:pt>
                <c:pt idx="70">
                  <c:v>21.991956684724794</c:v>
                </c:pt>
                <c:pt idx="71">
                  <c:v>22.693942127372257</c:v>
                </c:pt>
              </c:numCache>
            </c:numRef>
          </c:yVal>
          <c:smooth val="0"/>
        </c:ser>
        <c:ser>
          <c:idx val="5"/>
          <c:order val="5"/>
          <c:tx>
            <c:strRef>
              <c:f>Sheet1!$B$503</c:f>
              <c:strCache>
                <c:ptCount val="1"/>
                <c:pt idx="0">
                  <c:v>1.2 m, CG 1 m above the deck</c:v>
                </c:pt>
              </c:strCache>
            </c:strRef>
          </c:tx>
          <c:spPr>
            <a:ln w="22225">
              <a:solidFill>
                <a:srgbClr val="7B3FA0"/>
              </a:solidFill>
              <a:prstDash val="dash"/>
            </a:ln>
          </c:spPr>
          <c:marker>
            <c:symbol val="none"/>
          </c:marker>
          <c:xVal>
            <c:numRef>
              <c:f>Sheet1!$A$504:$A$554</c:f>
              <c:numCache>
                <c:formatCode>General</c:formatCode>
                <c:ptCount val="51"/>
                <c:pt idx="0">
                  <c:v>0.0</c:v>
                </c:pt>
                <c:pt idx="1">
                  <c:v>1.2</c:v>
                </c:pt>
                <c:pt idx="2">
                  <c:v>2.4</c:v>
                </c:pt>
                <c:pt idx="3">
                  <c:v>3.5999999999999996</c:v>
                </c:pt>
                <c:pt idx="4">
                  <c:v>4.8</c:v>
                </c:pt>
                <c:pt idx="5">
                  <c:v>6.0</c:v>
                </c:pt>
                <c:pt idx="6">
                  <c:v>7.199999999999999</c:v>
                </c:pt>
                <c:pt idx="7">
                  <c:v>8.4</c:v>
                </c:pt>
                <c:pt idx="8">
                  <c:v>9.6</c:v>
                </c:pt>
                <c:pt idx="9">
                  <c:v>10.799999999999999</c:v>
                </c:pt>
                <c:pt idx="10">
                  <c:v>12.0</c:v>
                </c:pt>
                <c:pt idx="11">
                  <c:v>13.2</c:v>
                </c:pt>
                <c:pt idx="12">
                  <c:v>14.399999999999999</c:v>
                </c:pt>
                <c:pt idx="13">
                  <c:v>15.6</c:v>
                </c:pt>
                <c:pt idx="14">
                  <c:v>16.8</c:v>
                </c:pt>
                <c:pt idx="15">
                  <c:v>18.0</c:v>
                </c:pt>
                <c:pt idx="16">
                  <c:v>19.2</c:v>
                </c:pt>
                <c:pt idx="17">
                  <c:v>20.4</c:v>
                </c:pt>
                <c:pt idx="18">
                  <c:v>21.599999999999998</c:v>
                </c:pt>
                <c:pt idx="19">
                  <c:v>22.8</c:v>
                </c:pt>
                <c:pt idx="20">
                  <c:v>24.0</c:v>
                </c:pt>
                <c:pt idx="21">
                  <c:v>25.2</c:v>
                </c:pt>
                <c:pt idx="22">
                  <c:v>26.4</c:v>
                </c:pt>
                <c:pt idx="23">
                  <c:v>27.599999999999998</c:v>
                </c:pt>
                <c:pt idx="24">
                  <c:v>28.799999999999997</c:v>
                </c:pt>
                <c:pt idx="25">
                  <c:v>30.0</c:v>
                </c:pt>
                <c:pt idx="26">
                  <c:v>31.2</c:v>
                </c:pt>
                <c:pt idx="27">
                  <c:v>32.4</c:v>
                </c:pt>
                <c:pt idx="28">
                  <c:v>33.6</c:v>
                </c:pt>
                <c:pt idx="29">
                  <c:v>34.8</c:v>
                </c:pt>
                <c:pt idx="30">
                  <c:v>36.0</c:v>
                </c:pt>
                <c:pt idx="31">
                  <c:v>37.199999999999996</c:v>
                </c:pt>
                <c:pt idx="32">
                  <c:v>38.4</c:v>
                </c:pt>
                <c:pt idx="33">
                  <c:v>39.6</c:v>
                </c:pt>
                <c:pt idx="34">
                  <c:v>40.8</c:v>
                </c:pt>
                <c:pt idx="35">
                  <c:v>42.0</c:v>
                </c:pt>
                <c:pt idx="36">
                  <c:v>43.199999999999996</c:v>
                </c:pt>
                <c:pt idx="37">
                  <c:v>44.4</c:v>
                </c:pt>
                <c:pt idx="38">
                  <c:v>45.6</c:v>
                </c:pt>
                <c:pt idx="39">
                  <c:v>46.8</c:v>
                </c:pt>
                <c:pt idx="40">
                  <c:v>48.0</c:v>
                </c:pt>
                <c:pt idx="41">
                  <c:v>49.199999999999996</c:v>
                </c:pt>
                <c:pt idx="42">
                  <c:v>50.4</c:v>
                </c:pt>
                <c:pt idx="43">
                  <c:v>51.6</c:v>
                </c:pt>
                <c:pt idx="44">
                  <c:v>52.8</c:v>
                </c:pt>
                <c:pt idx="45">
                  <c:v>54.0</c:v>
                </c:pt>
                <c:pt idx="46">
                  <c:v>55.199999999999996</c:v>
                </c:pt>
                <c:pt idx="47">
                  <c:v>56.4</c:v>
                </c:pt>
                <c:pt idx="48">
                  <c:v>57.599999999999994</c:v>
                </c:pt>
                <c:pt idx="49">
                  <c:v>58.8</c:v>
                </c:pt>
                <c:pt idx="50">
                  <c:v>60.0</c:v>
                </c:pt>
              </c:numCache>
            </c:numRef>
          </c:xVal>
          <c:yVal>
            <c:numRef>
              <c:f>Sheet1!$B$504:$B$554</c:f>
              <c:numCache>
                <c:formatCode>General</c:formatCode>
                <c:ptCount val="51"/>
                <c:pt idx="0">
                  <c:v>0.0</c:v>
                </c:pt>
                <c:pt idx="1">
                  <c:v>0.3431451524455836</c:v>
                </c:pt>
                <c:pt idx="2">
                  <c:v>0.6903796279959088</c:v>
                </c:pt>
                <c:pt idx="3">
                  <c:v>1.041791562788566</c:v>
                </c:pt>
                <c:pt idx="4">
                  <c:v>1.3974729142461284</c:v>
                </c:pt>
                <c:pt idx="5">
                  <c:v>1.7575197087871806</c:v>
                </c:pt>
                <c:pt idx="6">
                  <c:v>2.1220323100298484</c:v>
                </c:pt>
                <c:pt idx="7">
                  <c:v>2.4911157095930125</c:v>
                </c:pt>
                <c:pt idx="8">
                  <c:v>2.8648798428566695</c:v>
                </c:pt>
                <c:pt idx="9">
                  <c:v>3.2434399323380654</c:v>
                </c:pt>
                <c:pt idx="10">
                  <c:v>3.626916861697161</c:v>
                </c:pt>
                <c:pt idx="11">
                  <c:v>4.015437583760642</c:v>
                </c:pt>
                <c:pt idx="12">
                  <c:v>4.409135566428292</c:v>
                </c:pt>
                <c:pt idx="13">
                  <c:v>4.808151280839477</c:v>
                </c:pt>
                <c:pt idx="14">
                  <c:v>5.212632736801437</c:v>
                </c:pt>
                <c:pt idx="15">
                  <c:v>5.622736071189771</c:v>
                </c:pt>
                <c:pt idx="16">
                  <c:v>6.038626195869783</c:v>
                </c:pt>
                <c:pt idx="17">
                  <c:v>6.460477512667449</c:v>
                </c:pt>
                <c:pt idx="18">
                  <c:v>6.888474704071935</c:v>
                </c:pt>
                <c:pt idx="19">
                  <c:v>7.322813609714181</c:v>
                </c:pt>
                <c:pt idx="20">
                  <c:v>7.7637022002796146</c:v>
                </c:pt>
                <c:pt idx="21">
                  <c:v>8.21136166243831</c:v>
                </c:pt>
                <c:pt idx="22">
                  <c:v>8.66602761067118</c:v>
                </c:pt>
                <c:pt idx="23">
                  <c:v>9.127951444630568</c:v>
                </c:pt>
                <c:pt idx="24">
                  <c:v>9.59740187399925</c:v>
                </c:pt>
                <c:pt idx="25">
                  <c:v>10.074666636843947</c:v>
                </c:pt>
                <c:pt idx="26">
                  <c:v>10.560054442368516</c:v>
                </c:pt>
                <c:pt idx="27">
                  <c:v>11.053897174983527</c:v>
                </c:pt>
                <c:pt idx="28">
                  <c:v>11.55655240401424</c:v>
                </c:pt>
                <c:pt idx="29">
                  <c:v>12.068406252537557</c:v>
                </c:pt>
                <c:pt idx="30">
                  <c:v>12.589876690275133</c:v>
                </c:pt>
                <c:pt idx="31">
                  <c:v>13.121417329818886</c:v>
                </c:pt>
                <c:pt idx="32">
                  <c:v>13.663521823604167</c:v>
                </c:pt>
                <c:pt idx="33">
                  <c:v>14.216728982155908</c:v>
                </c:pt>
                <c:pt idx="34">
                  <c:v>14.781628763798308</c:v>
                </c:pt>
                <c:pt idx="35">
                  <c:v>15.35886932445799</c:v>
                </c:pt>
                <c:pt idx="36">
                  <c:v>15.949165366437889</c:v>
                </c:pt>
                <c:pt idx="37">
                  <c:v>16.553308091404894</c:v>
                </c:pt>
                <c:pt idx="38">
                  <c:v>17.172177151428656</c:v>
                </c:pt>
                <c:pt idx="39">
                  <c:v>17.806755111574176</c:v>
                </c:pt>
                <c:pt idx="40">
                  <c:v>18.458145101244334</c:v>
                </c:pt>
                <c:pt idx="41">
                  <c:v>19.127592558505896</c:v>
                </c:pt>
                <c:pt idx="42">
                  <c:v>19.816512291321114</c:v>
                </c:pt>
                <c:pt idx="43">
                  <c:v>20.526522537281643</c:v>
                </c:pt>
                <c:pt idx="44">
                  <c:v>21.259488370763936</c:v>
                </c:pt>
                <c:pt idx="45">
                  <c:v>22.01757779939075</c:v>
                </c:pt>
                <c:pt idx="46">
                  <c:v>22.803335403045427</c:v>
                </c:pt>
                <c:pt idx="47">
                  <c:v>23.619780728372753</c:v>
                </c:pt>
                <c:pt idx="48">
                  <c:v>24.470542443544414</c:v>
                </c:pt>
                <c:pt idx="49">
                  <c:v>25.360045555024936</c:v>
                </c:pt>
                <c:pt idx="50">
                  <c:v>26.293779850023885</c:v>
                </c:pt>
              </c:numCache>
            </c:numRef>
          </c:yVal>
          <c:smooth val="0"/>
        </c:ser>
        <c:ser>
          <c:idx val="6"/>
          <c:order val="6"/>
          <c:tx>
            <c:strRef>
              <c:f>Sheet1!$B$556</c:f>
              <c:strCache>
                <c:ptCount val="1"/>
                <c:pt idx="0">
                  <c:v>small-angle: θ = m g e / 1987 N·m/rad</c:v>
                </c:pt>
              </c:strCache>
            </c:strRef>
          </c:tx>
          <c:spPr>
            <a:ln w="19050">
              <a:solidFill>
                <a:srgbClr val="2B3A44"/>
              </a:solidFill>
              <a:prstDash val="sysDot"/>
            </a:ln>
          </c:spPr>
          <c:marker>
            <c:symbol val="none"/>
          </c:marker>
          <c:xVal>
            <c:numRef>
              <c:f>Sheet1!$A$557:$A$586</c:f>
              <c:numCache>
                <c:formatCode>General</c:formatCode>
                <c:ptCount val="30"/>
                <c:pt idx="0">
                  <c:v>0.0</c:v>
                </c:pt>
                <c:pt idx="1">
                  <c:v>2.7586206896551726</c:v>
                </c:pt>
                <c:pt idx="2">
                  <c:v>5.517241379310345</c:v>
                </c:pt>
                <c:pt idx="3">
                  <c:v>8.275862068965518</c:v>
                </c:pt>
                <c:pt idx="4">
                  <c:v>11.03448275862069</c:v>
                </c:pt>
                <c:pt idx="5">
                  <c:v>13.793103448275863</c:v>
                </c:pt>
                <c:pt idx="6">
                  <c:v>16.551724137931036</c:v>
                </c:pt>
                <c:pt idx="7">
                  <c:v>19.310344827586206</c:v>
                </c:pt>
                <c:pt idx="8">
                  <c:v>22.06896551724138</c:v>
                </c:pt>
                <c:pt idx="9">
                  <c:v>24.827586206896555</c:v>
                </c:pt>
                <c:pt idx="10">
                  <c:v>27.586206896551726</c:v>
                </c:pt>
                <c:pt idx="11">
                  <c:v>30.344827586206897</c:v>
                </c:pt>
                <c:pt idx="12">
                  <c:v>33.10344827586207</c:v>
                </c:pt>
                <c:pt idx="13">
                  <c:v>35.862068965517246</c:v>
                </c:pt>
                <c:pt idx="14">
                  <c:v>38.62068965517241</c:v>
                </c:pt>
                <c:pt idx="15">
                  <c:v>41.37931034482759</c:v>
                </c:pt>
                <c:pt idx="16">
                  <c:v>44.13793103448276</c:v>
                </c:pt>
                <c:pt idx="17">
                  <c:v>46.896551724137936</c:v>
                </c:pt>
                <c:pt idx="18">
                  <c:v>49.65517241379311</c:v>
                </c:pt>
                <c:pt idx="19">
                  <c:v>52.41379310344828</c:v>
                </c:pt>
                <c:pt idx="20">
                  <c:v>55.17241379310345</c:v>
                </c:pt>
                <c:pt idx="21">
                  <c:v>57.931034482758626</c:v>
                </c:pt>
                <c:pt idx="22">
                  <c:v>60.689655172413794</c:v>
                </c:pt>
                <c:pt idx="23">
                  <c:v>63.44827586206897</c:v>
                </c:pt>
                <c:pt idx="24">
                  <c:v>66.20689655172414</c:v>
                </c:pt>
                <c:pt idx="25">
                  <c:v>68.96551724137932</c:v>
                </c:pt>
                <c:pt idx="26">
                  <c:v>71.72413793103449</c:v>
                </c:pt>
                <c:pt idx="27">
                  <c:v>74.48275862068967</c:v>
                </c:pt>
                <c:pt idx="28">
                  <c:v>77.24137931034483</c:v>
                </c:pt>
                <c:pt idx="29">
                  <c:v>80.0</c:v>
                </c:pt>
              </c:numCache>
            </c:numRef>
          </c:xVal>
          <c:yVal>
            <c:numRef>
              <c:f>Sheet1!$B$557:$B$586</c:f>
              <c:numCache>
                <c:formatCode>General</c:formatCode>
                <c:ptCount val="30"/>
                <c:pt idx="0">
                  <c:v>0.0</c:v>
                </c:pt>
                <c:pt idx="1">
                  <c:v>0.7799555058530234</c:v>
                </c:pt>
                <c:pt idx="2">
                  <c:v>1.5599110117060468</c:v>
                </c:pt>
                <c:pt idx="3">
                  <c:v>2.33986651755907</c:v>
                </c:pt>
                <c:pt idx="4">
                  <c:v>3.1198220234120937</c:v>
                </c:pt>
                <c:pt idx="5">
                  <c:v>3.8997775292651173</c:v>
                </c:pt>
                <c:pt idx="6">
                  <c:v>4.67973303511814</c:v>
                </c:pt>
                <c:pt idx="7">
                  <c:v>5.459688540971164</c:v>
                </c:pt>
                <c:pt idx="8">
                  <c:v>6.239644046824187</c:v>
                </c:pt>
                <c:pt idx="9">
                  <c:v>7.019599552677211</c:v>
                </c:pt>
                <c:pt idx="10">
                  <c:v>7.799555058530235</c:v>
                </c:pt>
                <c:pt idx="11">
                  <c:v>8.579510564383257</c:v>
                </c:pt>
                <c:pt idx="12">
                  <c:v>9.35946607023628</c:v>
                </c:pt>
                <c:pt idx="13">
                  <c:v>10.139421576089305</c:v>
                </c:pt>
                <c:pt idx="14">
                  <c:v>10.919377081942327</c:v>
                </c:pt>
                <c:pt idx="15">
                  <c:v>11.69933258779535</c:v>
                </c:pt>
                <c:pt idx="16">
                  <c:v>12.479288093648375</c:v>
                </c:pt>
                <c:pt idx="17">
                  <c:v>13.259243599501398</c:v>
                </c:pt>
                <c:pt idx="18">
                  <c:v>14.039199105354422</c:v>
                </c:pt>
                <c:pt idx="19">
                  <c:v>14.819154611207447</c:v>
                </c:pt>
                <c:pt idx="20">
                  <c:v>15.59911011706047</c:v>
                </c:pt>
                <c:pt idx="21">
                  <c:v>16.379065622913494</c:v>
                </c:pt>
                <c:pt idx="22">
                  <c:v>17.159021128766515</c:v>
                </c:pt>
                <c:pt idx="23">
                  <c:v>17.938976634619536</c:v>
                </c:pt>
                <c:pt idx="24">
                  <c:v>18.71893214047256</c:v>
                </c:pt>
                <c:pt idx="25">
                  <c:v>19.498887646325585</c:v>
                </c:pt>
                <c:pt idx="26">
                  <c:v>20.27884315217861</c:v>
                </c:pt>
                <c:pt idx="27">
                  <c:v>21.058798658031634</c:v>
                </c:pt>
                <c:pt idx="28">
                  <c:v>21.838754163884655</c:v>
                </c:pt>
                <c:pt idx="29">
                  <c:v>22.618709669737676</c:v>
                </c:pt>
              </c:numCache>
            </c:numRef>
          </c:yVal>
          <c:smooth val="0"/>
        </c:ser>
        <c:axId val="-2128940872"/>
        <c:axId val="-2129643912"/>
      </c:scatterChart>
      <c:valAx>
        <c:axId val="-2128940872"/>
        <c:scaling>
          <c:orientation val="minMax"/>
          <c:max val="80.0"/>
          <c:min val="0.0"/>
        </c:scaling>
        <c:delete val="0"/>
        <c:axPos val="b"/>
        <c:majorGridlines>
          <c:spPr>
            <a:ln>
              <a:solidFill>
                <a:srgbClr val="E6ECEE"/>
              </a:solidFill>
            </a:ln>
          </c:spPr>
        </c:majorGridlines>
        <c:title>
          <c:tx>
            <c:rich>
              <a:bodyPr/>
              <a:lstStyle/>
              <a:p>
                <a:r>
                  <a:rPr sz="1200" b="0">
                    <a:solidFill>
                      <a:srgbClr val="2B3A44"/>
                    </a:solidFill>
                  </a:rPr>
                  <a:t>mass × offset (kg·m)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30.0"/>
          <c:min val="0.0"/>
        </c:scaling>
        <c:delete val="0"/>
        <c:axPos val="l"/>
        <c:majorGridlines>
          <c:spPr>
            <a:ln>
              <a:solidFill>
                <a:srgbClr val="E6ECEE"/>
              </a:solidFill>
            </a:ln>
          </c:spPr>
        </c:majorGridlines>
        <c:title>
          <c:tx>
            <c:rich>
              <a:bodyPr/>
              <a:lstStyle/>
              <a:p>
                <a:r>
                  <a:rPr sz="1200" b="0">
                    <a:solidFill>
                      <a:srgbClr val="2B3A44"/>
                    </a:solidFill>
                  </a:rPr>
                  <a:t>deck tilt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Centred payload: pins awash, or the deck tips over</a:t>
            </a:r>
          </a:p>
        </c:rich>
      </c:tx>
      <c:layout/>
      <c:overlay val="0"/>
    </c:title>
    <c:plotArea>
      <c:scatterChart>
        <c:scatterStyle val="lineMarker"/>
        <c:varyColors val="0"/>
        <c:ser>
          <c:idx val="0"/>
          <c:order val="0"/>
          <c:tx>
            <c:strRef>
              <c:f>Sheet1!$B$1</c:f>
              <c:strCache>
                <c:ptCount val="1"/>
                <c:pt idx="0">
                  <c:v>limit (large-angle statics)</c:v>
                </c:pt>
              </c:strCache>
            </c:strRef>
          </c:tx>
          <c:spPr>
            <a:ln w="38100">
              <a:solidFill>
                <a:srgbClr val="14232E"/>
              </a:solidFill>
            </a:ln>
          </c:spPr>
          <c:marker>
            <c:symbol val="none"/>
          </c:marker>
          <c:xVal>
            <c:numRef>
              <c:f>Sheet1!$A$2:$A$22</c:f>
              <c:numCache>
                <c:formatCode>General</c:formatCode>
                <c:ptCount val="21"/>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Sheet1!$B$2:$B$22</c:f>
              <c:numCache>
                <c:formatCode>General</c:formatCode>
                <c:ptCount val="21"/>
                <c:pt idx="0">
                  <c:v>212.96875</c:v>
                </c:pt>
                <c:pt idx="1">
                  <c:v>212.96875</c:v>
                </c:pt>
                <c:pt idx="2">
                  <c:v>212.953125</c:v>
                </c:pt>
                <c:pt idx="3">
                  <c:v>212.9375</c:v>
                </c:pt>
                <c:pt idx="4">
                  <c:v>212.921875</c:v>
                </c:pt>
                <c:pt idx="5">
                  <c:v>212.890625</c:v>
                </c:pt>
                <c:pt idx="6">
                  <c:v>212.8125</c:v>
                </c:pt>
                <c:pt idx="7">
                  <c:v>212.46875</c:v>
                </c:pt>
                <c:pt idx="8">
                  <c:v>204.125</c:v>
                </c:pt>
                <c:pt idx="9">
                  <c:v>185.53125</c:v>
                </c:pt>
                <c:pt idx="10">
                  <c:v>169.875</c:v>
                </c:pt>
                <c:pt idx="11">
                  <c:v>156.65625</c:v>
                </c:pt>
                <c:pt idx="12">
                  <c:v>145.359375</c:v>
                </c:pt>
                <c:pt idx="13">
                  <c:v>135.5625</c:v>
                </c:pt>
                <c:pt idx="14">
                  <c:v>127.015625</c:v>
                </c:pt>
                <c:pt idx="15">
                  <c:v>119.46875</c:v>
                </c:pt>
                <c:pt idx="16">
                  <c:v>112.78125</c:v>
                </c:pt>
                <c:pt idx="17">
                  <c:v>106.796875</c:v>
                </c:pt>
                <c:pt idx="18">
                  <c:v>101.421875</c:v>
                </c:pt>
                <c:pt idx="19">
                  <c:v>96.5625</c:v>
                </c:pt>
                <c:pt idx="20">
                  <c:v>92.140625</c:v>
                </c:pt>
              </c:numCache>
            </c:numRef>
          </c:yVal>
          <c:smooth val="0"/>
        </c:ser>
        <c:ser>
          <c:idx val="1"/>
          <c:order val="1"/>
          <c:tx>
            <c:strRef>
              <c:f>Sheet1!$B$24</c:f>
              <c:strCache>
                <c:ptCount val="1"/>
                <c:pt idx="0">
                  <c:v>tips over: m (h + 0.18 m) = 202 kg·m</c:v>
                </c:pt>
              </c:strCache>
            </c:strRef>
          </c:tx>
          <c:spPr>
            <a:ln w="19050">
              <a:solidFill>
                <a:srgbClr val="B2432C"/>
              </a:solidFill>
              <a:prstDash val="dash"/>
            </a:ln>
          </c:spPr>
          <c:marker>
            <c:symbol val="none"/>
          </c:marker>
          <c:xVal>
            <c:numRef>
              <c:f>Sheet1!$A$25:$A$65</c:f>
              <c:numCache>
                <c:formatCode>General</c:formatCode>
                <c:ptCount val="41"/>
                <c:pt idx="0">
                  <c:v>0.0</c:v>
                </c:pt>
                <c:pt idx="1">
                  <c:v>0.05</c:v>
                </c:pt>
                <c:pt idx="2">
                  <c:v>0.1</c:v>
                </c:pt>
                <c:pt idx="3">
                  <c:v>0.15000000000000002</c:v>
                </c:pt>
                <c:pt idx="4">
                  <c:v>0.2</c:v>
                </c:pt>
                <c:pt idx="5">
                  <c:v>0.25</c:v>
                </c:pt>
                <c:pt idx="6">
                  <c:v>0.30000000000000004</c:v>
                </c:pt>
                <c:pt idx="7">
                  <c:v>0.35000000000000003</c:v>
                </c:pt>
                <c:pt idx="8">
                  <c:v>0.4</c:v>
                </c:pt>
                <c:pt idx="9">
                  <c:v>0.45</c:v>
                </c:pt>
                <c:pt idx="10">
                  <c:v>0.5</c:v>
                </c:pt>
                <c:pt idx="11">
                  <c:v>0.55</c:v>
                </c:pt>
                <c:pt idx="12">
                  <c:v>0.6000000000000001</c:v>
                </c:pt>
                <c:pt idx="13">
                  <c:v>0.65</c:v>
                </c:pt>
                <c:pt idx="14">
                  <c:v>0.7000000000000001</c:v>
                </c:pt>
                <c:pt idx="15">
                  <c:v>0.75</c:v>
                </c:pt>
                <c:pt idx="16">
                  <c:v>0.8</c:v>
                </c:pt>
                <c:pt idx="17">
                  <c:v>0.8500000000000001</c:v>
                </c:pt>
                <c:pt idx="18">
                  <c:v>0.9</c:v>
                </c:pt>
                <c:pt idx="19">
                  <c:v>0.9500000000000001</c:v>
                </c:pt>
                <c:pt idx="20">
                  <c:v>1.0</c:v>
                </c:pt>
                <c:pt idx="21">
                  <c:v>1.05</c:v>
                </c:pt>
                <c:pt idx="22">
                  <c:v>1.1</c:v>
                </c:pt>
                <c:pt idx="23">
                  <c:v>1.1500000000000001</c:v>
                </c:pt>
                <c:pt idx="24">
                  <c:v>1.2000000000000002</c:v>
                </c:pt>
                <c:pt idx="25">
                  <c:v>1.25</c:v>
                </c:pt>
                <c:pt idx="26">
                  <c:v>1.3</c:v>
                </c:pt>
                <c:pt idx="27">
                  <c:v>1.35</c:v>
                </c:pt>
                <c:pt idx="28">
                  <c:v>1.4000000000000001</c:v>
                </c:pt>
                <c:pt idx="29">
                  <c:v>1.4500000000000002</c:v>
                </c:pt>
                <c:pt idx="30">
                  <c:v>1.5</c:v>
                </c:pt>
                <c:pt idx="31">
                  <c:v>1.55</c:v>
                </c:pt>
                <c:pt idx="32">
                  <c:v>1.6</c:v>
                </c:pt>
                <c:pt idx="33">
                  <c:v>1.6500000000000001</c:v>
                </c:pt>
                <c:pt idx="34">
                  <c:v>1.7000000000000002</c:v>
                </c:pt>
                <c:pt idx="35">
                  <c:v>1.75</c:v>
                </c:pt>
                <c:pt idx="36">
                  <c:v>1.8</c:v>
                </c:pt>
                <c:pt idx="37">
                  <c:v>1.85</c:v>
                </c:pt>
                <c:pt idx="38">
                  <c:v>1.9000000000000001</c:v>
                </c:pt>
                <c:pt idx="39">
                  <c:v>1.9500000000000002</c:v>
                </c:pt>
                <c:pt idx="40">
                  <c:v>2.0</c:v>
                </c:pt>
              </c:numCache>
            </c:numRef>
          </c:xVal>
          <c:yVal>
            <c:numRef>
              <c:f>Sheet1!$B$25:$B$65</c:f>
              <c:numCache>
                <c:formatCode>General</c:formatCode>
                <c:ptCount val="41"/>
                <c:pt idx="0">
                  <c:v>1101.3724218573418</c:v>
                </c:pt>
                <c:pt idx="1">
                  <c:v>865.0264085832342</c:v>
                </c:pt>
                <c:pt idx="2">
                  <c:v>712.1948876321328</c:v>
                </c:pt>
                <c:pt idx="3">
                  <c:v>605.2587183179987</c:v>
                </c:pt>
                <c:pt idx="4">
                  <c:v>526.2432198430641</c:v>
                </c:pt>
                <c:pt idx="5">
                  <c:v>465.476104387745</c:v>
                </c:pt>
                <c:pt idx="6">
                  <c:v>417.2901722565084</c:v>
                </c:pt>
                <c:pt idx="7">
                  <c:v>378.14475272025055</c:v>
                </c:pt>
                <c:pt idx="8">
                  <c:v>345.7138133788912</c:v>
                </c:pt>
                <c:pt idx="9">
                  <c:v>318.4062451815065</c:v>
                </c:pt>
                <c:pt idx="10">
                  <c:v>295.0968568080433</c:v>
                </c:pt>
                <c:pt idx="11">
                  <c:v>274.96746684842236</c:v>
                </c:pt>
                <c:pt idx="12">
                  <c:v>257.40888020420635</c:v>
                </c:pt>
                <c:pt idx="13">
                  <c:v>241.958167106715</c:v>
                </c:pt>
                <c:pt idx="14">
                  <c:v>228.25725164200858</c:v>
                </c:pt>
                <c:pt idx="15">
                  <c:v>216.0248158626941</c:v>
                </c:pt>
                <c:pt idx="16">
                  <c:v>205.036778433259</c:v>
                </c:pt>
                <c:pt idx="17">
                  <c:v>195.11244259428227</c:v>
                </c:pt>
                <c:pt idx="18">
                  <c:v>186.10448125567274</c:v>
                </c:pt>
                <c:pt idx="19">
                  <c:v>177.8915738745751</c:v>
                </c:pt>
                <c:pt idx="20">
                  <c:v>170.37291056626677</c:v>
                </c:pt>
                <c:pt idx="21">
                  <c:v>163.46403341435004</c:v>
                </c:pt>
                <c:pt idx="22">
                  <c:v>157.09365019477286</c:v>
                </c:pt>
                <c:pt idx="23">
                  <c:v>151.201165191218</c:v>
                </c:pt>
                <c:pt idx="24">
                  <c:v>145.73474562537496</c:v>
                </c:pt>
                <c:pt idx="25">
                  <c:v>140.64979288199135</c:v>
                </c:pt>
                <c:pt idx="26">
                  <c:v>135.90772299385947</c:v>
                </c:pt>
                <c:pt idx="27">
                  <c:v>131.47498577944788</c:v>
                </c:pt>
                <c:pt idx="28">
                  <c:v>127.32226986727326</c:v>
                </c:pt>
                <c:pt idx="29">
                  <c:v>123.42385376600954</c:v>
                </c:pt>
                <c:pt idx="30">
                  <c:v>119.75707260837409</c:v>
                </c:pt>
                <c:pt idx="31">
                  <c:v>116.30187720709382</c:v>
                </c:pt>
                <c:pt idx="32">
                  <c:v>113.04046730223982</c:v>
                </c:pt>
                <c:pt idx="33">
                  <c:v>109.95698483354805</c:v>
                </c:pt>
                <c:pt idx="34">
                  <c:v>107.03725608066574</c:v>
                </c:pt>
                <c:pt idx="35">
                  <c:v>104.2685738230179</c:v>
                </c:pt>
                <c:pt idx="36">
                  <c:v>101.63951245582128</c:v>
                </c:pt>
                <c:pt idx="37">
                  <c:v>99.13977038853594</c:v>
                </c:pt>
                <c:pt idx="38">
                  <c:v>96.76003514157158</c:v>
                </c:pt>
                <c:pt idx="39">
                  <c:v>94.491867416734</c:v>
                </c:pt>
                <c:pt idx="40">
                  <c:v>92.32760109935576</c:v>
                </c:pt>
              </c:numCache>
            </c:numRef>
          </c:yVal>
          <c:smooth val="0"/>
        </c:ser>
        <c:ser>
          <c:idx val="2"/>
          <c:order val="2"/>
          <c:tx>
            <c:strRef>
              <c:f>Sheet1!$B$67</c:f>
              <c:strCache>
                <c:ptCount val="1"/>
                <c:pt idx="0">
                  <c:v>all pins awash</c:v>
                </c:pt>
              </c:strCache>
            </c:strRef>
          </c:tx>
          <c:spPr>
            <a:ln w="19050">
              <a:solidFill>
                <a:srgbClr val="0C8B96"/>
              </a:solidFill>
              <a:prstDash val="sysDot"/>
            </a:ln>
          </c:spPr>
          <c:marker>
            <c:symbol val="none"/>
          </c:marker>
          <c:xVal>
            <c:numRef>
              <c:f>Sheet1!$A$68:$A$69</c:f>
              <c:numCache>
                <c:formatCode>General</c:formatCode>
                <c:ptCount val="2"/>
                <c:pt idx="0">
                  <c:v>0.0</c:v>
                </c:pt>
                <c:pt idx="1">
                  <c:v>2.0</c:v>
                </c:pt>
              </c:numCache>
            </c:numRef>
          </c:xVal>
          <c:yVal>
            <c:numRef>
              <c:f>Sheet1!$B$68:$B$69</c:f>
              <c:numCache>
                <c:formatCode>General</c:formatCode>
                <c:ptCount val="2"/>
                <c:pt idx="0">
                  <c:v>212.71374014237855</c:v>
                </c:pt>
                <c:pt idx="1">
                  <c:v>212.71374014237855</c:v>
                </c:pt>
              </c:numCache>
            </c:numRef>
          </c:yVal>
          <c:smooth val="0"/>
        </c:ser>
        <c:axId val="-2128940872"/>
        <c:axId val="-2129643912"/>
      </c:scatterChart>
      <c:valAx>
        <c:axId val="-2128940872"/>
        <c:scaling>
          <c:orientation val="minMax"/>
          <c:max val="2.0"/>
          <c:min val="0.0"/>
        </c:scaling>
        <c:delete val="0"/>
        <c:axPos val="b"/>
        <c:majorGridlines>
          <c:spPr>
            <a:ln>
              <a:solidFill>
                <a:srgbClr val="E6ECEE"/>
              </a:solidFill>
            </a:ln>
          </c:spPr>
        </c:majorGridlines>
        <c:title>
          <c:tx>
            <c:rich>
              <a:bodyPr/>
              <a:lstStyle/>
              <a:p>
                <a:r>
                  <a:rPr sz="1200" b="0">
                    <a:solidFill>
                      <a:srgbClr val="2B3A44"/>
                    </a:solidFill>
                  </a:rPr>
                  <a:t>payload CG height above the deck frame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250.0"/>
          <c:min val="0.0"/>
        </c:scaling>
        <c:delete val="0"/>
        <c:axPos val="l"/>
        <c:majorGridlines>
          <c:spPr>
            <a:ln>
              <a:solidFill>
                <a:srgbClr val="E6ECEE"/>
              </a:solidFill>
            </a:ln>
          </c:spPr>
        </c:majorGridlines>
        <c:title>
          <c:tx>
            <c:rich>
              <a:bodyPr/>
              <a:lstStyle/>
              <a:p>
                <a:r>
                  <a:rPr sz="1200" b="0">
                    <a:solidFill>
                      <a:srgbClr val="2B3A44"/>
                    </a:solidFill>
                  </a:rPr>
                  <a:t>centred payload limit (kg)</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limit, 0° (between hubs)</c:v>
                </c:pt>
              </c:strCache>
            </c:strRef>
          </c:tx>
          <c:spPr>
            <a:ln w="31750">
              <a:solidFill>
                <a:srgbClr val="0C8B96"/>
              </a:solidFill>
            </a:ln>
          </c:spPr>
          <c:marker>
            <c:symbol val="none"/>
          </c:marker>
          <c:xVal>
            <c:numRef>
              <c:f>Sheet1!$A$2:$A$26</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Sheet1!$B$2:$B$26</c:f>
              <c:numCache>
                <c:formatCode>General</c:formatCode>
                <c:ptCount val="25"/>
                <c:pt idx="0">
                  <c:v>212.71374014237855</c:v>
                </c:pt>
                <c:pt idx="1">
                  <c:v>197.859375</c:v>
                </c:pt>
                <c:pt idx="2">
                  <c:v>184.77405849419915</c:v>
                </c:pt>
                <c:pt idx="3">
                  <c:v>173.984375</c:v>
                </c:pt>
                <c:pt idx="4">
                  <c:v>164.3125</c:v>
                </c:pt>
                <c:pt idx="5">
                  <c:v>155.765625</c:v>
                </c:pt>
                <c:pt idx="6">
                  <c:v>147.92603678316206</c:v>
                </c:pt>
                <c:pt idx="7">
                  <c:v>141.265625</c:v>
                </c:pt>
                <c:pt idx="8">
                  <c:v>134.8717695591982</c:v>
                </c:pt>
                <c:pt idx="9">
                  <c:v>129.40625</c:v>
                </c:pt>
                <c:pt idx="10">
                  <c:v>124.21875</c:v>
                </c:pt>
                <c:pt idx="11">
                  <c:v>119.46875</c:v>
                </c:pt>
                <c:pt idx="12">
                  <c:v>114.9361518357514</c:v>
                </c:pt>
                <c:pt idx="13">
                  <c:v>110.88280700905202</c:v>
                </c:pt>
                <c:pt idx="14">
                  <c:v>107.265625</c:v>
                </c:pt>
                <c:pt idx="15">
                  <c:v>103.75</c:v>
                </c:pt>
                <c:pt idx="16">
                  <c:v>100.46875</c:v>
                </c:pt>
                <c:pt idx="17">
                  <c:v>97.390625</c:v>
                </c:pt>
                <c:pt idx="18">
                  <c:v>94.515625</c:v>
                </c:pt>
                <c:pt idx="19">
                  <c:v>91.796875</c:v>
                </c:pt>
                <c:pt idx="20">
                  <c:v>89.25</c:v>
                </c:pt>
                <c:pt idx="21">
                  <c:v>86.84375</c:v>
                </c:pt>
                <c:pt idx="22">
                  <c:v>84.5625</c:v>
                </c:pt>
                <c:pt idx="23">
                  <c:v>82.390625</c:v>
                </c:pt>
                <c:pt idx="24">
                  <c:v>80.34375</c:v>
                </c:pt>
              </c:numCache>
            </c:numRef>
          </c:yVal>
          <c:smooth val="0"/>
        </c:ser>
        <c:ser>
          <c:idx val="1"/>
          <c:order val="1"/>
          <c:tx>
            <c:strRef>
              <c:f>Sheet1!$B$28</c:f>
              <c:strCache>
                <c:ptCount val="1"/>
                <c:pt idx="0">
                  <c:v>limit, 15°</c:v>
                </c:pt>
              </c:strCache>
            </c:strRef>
          </c:tx>
          <c:spPr>
            <a:ln w="31750">
              <a:solidFill>
                <a:srgbClr val="5A8A2B"/>
              </a:solidFill>
            </a:ln>
          </c:spPr>
          <c:marker>
            <c:symbol val="none"/>
          </c:marker>
          <c:xVal>
            <c:numRef>
              <c:f>Sheet1!$A$29:$A$53</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Sheet1!$B$29:$B$53</c:f>
              <c:numCache>
                <c:formatCode>General</c:formatCode>
                <c:ptCount val="25"/>
                <c:pt idx="0">
                  <c:v>212.71374014237855</c:v>
                </c:pt>
                <c:pt idx="1">
                  <c:v>194.796875</c:v>
                </c:pt>
                <c:pt idx="2">
                  <c:v>179.9375</c:v>
                </c:pt>
                <c:pt idx="3">
                  <c:v>167.359375</c:v>
                </c:pt>
                <c:pt idx="4">
                  <c:v>156.640625</c:v>
                </c:pt>
                <c:pt idx="5">
                  <c:v>147.375</c:v>
                </c:pt>
                <c:pt idx="6">
                  <c:v>138.9546606656314</c:v>
                </c:pt>
                <c:pt idx="7">
                  <c:v>131.4629661473615</c:v>
                </c:pt>
                <c:pt idx="8">
                  <c:v>125.390625</c:v>
                </c:pt>
                <c:pt idx="9">
                  <c:v>119.625</c:v>
                </c:pt>
                <c:pt idx="10">
                  <c:v>114.375</c:v>
                </c:pt>
                <c:pt idx="11">
                  <c:v>109.421875</c:v>
                </c:pt>
                <c:pt idx="12">
                  <c:v>104.86941766635783</c:v>
                </c:pt>
                <c:pt idx="13">
                  <c:v>100.953125</c:v>
                </c:pt>
                <c:pt idx="14">
                  <c:v>97.203125</c:v>
                </c:pt>
                <c:pt idx="15">
                  <c:v>93.75</c:v>
                </c:pt>
                <c:pt idx="16">
                  <c:v>90.515625</c:v>
                </c:pt>
                <c:pt idx="17">
                  <c:v>87.546875</c:v>
                </c:pt>
                <c:pt idx="18">
                  <c:v>84.734375</c:v>
                </c:pt>
                <c:pt idx="19">
                  <c:v>82.25</c:v>
                </c:pt>
                <c:pt idx="20">
                  <c:v>79.640625</c:v>
                </c:pt>
                <c:pt idx="21">
                  <c:v>77.34375</c:v>
                </c:pt>
                <c:pt idx="22">
                  <c:v>75.25</c:v>
                </c:pt>
                <c:pt idx="23">
                  <c:v>73.5</c:v>
                </c:pt>
                <c:pt idx="24">
                  <c:v>71.15625</c:v>
                </c:pt>
              </c:numCache>
            </c:numRef>
          </c:yVal>
          <c:smooth val="0"/>
        </c:ser>
        <c:ser>
          <c:idx val="2"/>
          <c:order val="2"/>
          <c:tx>
            <c:strRef>
              <c:f>Sheet1!$B$55</c:f>
              <c:strCache>
                <c:ptCount val="1"/>
                <c:pt idx="0">
                  <c:v>limit, 30°</c:v>
                </c:pt>
              </c:strCache>
            </c:strRef>
          </c:tx>
          <c:spPr>
            <a:ln w="31750">
              <a:solidFill>
                <a:srgbClr val="C9772B"/>
              </a:solidFill>
            </a:ln>
          </c:spPr>
          <c:marker>
            <c:symbol val="none"/>
          </c:marker>
          <c:xVal>
            <c:numRef>
              <c:f>Sheet1!$A$56:$A$80</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Sheet1!$B$56:$B$80</c:f>
              <c:numCache>
                <c:formatCode>General</c:formatCode>
                <c:ptCount val="25"/>
                <c:pt idx="0">
                  <c:v>212.71374014237855</c:v>
                </c:pt>
                <c:pt idx="1">
                  <c:v>192.96875</c:v>
                </c:pt>
                <c:pt idx="2">
                  <c:v>176.8125</c:v>
                </c:pt>
                <c:pt idx="3">
                  <c:v>163.484375</c:v>
                </c:pt>
                <c:pt idx="4">
                  <c:v>152.21875</c:v>
                </c:pt>
                <c:pt idx="5">
                  <c:v>142.765625</c:v>
                </c:pt>
                <c:pt idx="6">
                  <c:v>133.89752038343087</c:v>
                </c:pt>
                <c:pt idx="7">
                  <c:v>126.640625</c:v>
                </c:pt>
                <c:pt idx="8">
                  <c:v>119.87979078763502</c:v>
                </c:pt>
                <c:pt idx="9">
                  <c:v>113.9749604116662</c:v>
                </c:pt>
                <c:pt idx="10">
                  <c:v>108.34784609066669</c:v>
                </c:pt>
                <c:pt idx="11">
                  <c:v>103.96875</c:v>
                </c:pt>
                <c:pt idx="12">
                  <c:v>99.875</c:v>
                </c:pt>
                <c:pt idx="13">
                  <c:v>95.625</c:v>
                </c:pt>
                <c:pt idx="14">
                  <c:v>91.828125</c:v>
                </c:pt>
                <c:pt idx="15">
                  <c:v>88.40625</c:v>
                </c:pt>
                <c:pt idx="16">
                  <c:v>85.234375</c:v>
                </c:pt>
                <c:pt idx="17">
                  <c:v>82.296875</c:v>
                </c:pt>
                <c:pt idx="18">
                  <c:v>79.16556713965662</c:v>
                </c:pt>
                <c:pt idx="19">
                  <c:v>76.90580383766144</c:v>
                </c:pt>
                <c:pt idx="20">
                  <c:v>74.609375</c:v>
                </c:pt>
                <c:pt idx="21">
                  <c:v>72.359375</c:v>
                </c:pt>
                <c:pt idx="22">
                  <c:v>70.25</c:v>
                </c:pt>
                <c:pt idx="23">
                  <c:v>68.265625</c:v>
                </c:pt>
                <c:pt idx="24">
                  <c:v>66.390625</c:v>
                </c:pt>
              </c:numCache>
            </c:numRef>
          </c:yVal>
          <c:smooth val="0"/>
        </c:ser>
        <c:ser>
          <c:idx val="3"/>
          <c:order val="3"/>
          <c:tx>
            <c:strRef>
              <c:f>Sheet1!$B$82</c:f>
              <c:strCache>
                <c:ptCount val="1"/>
                <c:pt idx="0">
                  <c:v>limit, 45° (towards a hub)</c:v>
                </c:pt>
              </c:strCache>
            </c:strRef>
          </c:tx>
          <c:spPr>
            <a:ln w="31750">
              <a:solidFill>
                <a:srgbClr val="B2432C"/>
              </a:solidFill>
            </a:ln>
          </c:spPr>
          <c:marker>
            <c:symbol val="none"/>
          </c:marker>
          <c:xVal>
            <c:numRef>
              <c:f>Sheet1!$A$83:$A$107</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Sheet1!$B$83:$B$107</c:f>
              <c:numCache>
                <c:formatCode>General</c:formatCode>
                <c:ptCount val="25"/>
                <c:pt idx="0">
                  <c:v>212.71374014237855</c:v>
                </c:pt>
                <c:pt idx="1">
                  <c:v>192.3125</c:v>
                </c:pt>
                <c:pt idx="2">
                  <c:v>175.890625</c:v>
                </c:pt>
                <c:pt idx="3">
                  <c:v>161.98694423868642</c:v>
                </c:pt>
                <c:pt idx="4">
                  <c:v>150.765625</c:v>
                </c:pt>
                <c:pt idx="5">
                  <c:v>140.96875</c:v>
                </c:pt>
                <c:pt idx="6">
                  <c:v>132.4375</c:v>
                </c:pt>
                <c:pt idx="7">
                  <c:v>124.953125</c:v>
                </c:pt>
                <c:pt idx="8">
                  <c:v>118.328125</c:v>
                </c:pt>
                <c:pt idx="9">
                  <c:v>112.390625</c:v>
                </c:pt>
                <c:pt idx="10">
                  <c:v>106.9185532963654</c:v>
                </c:pt>
                <c:pt idx="11">
                  <c:v>102.25</c:v>
                </c:pt>
                <c:pt idx="12">
                  <c:v>97.4217475971303</c:v>
                </c:pt>
                <c:pt idx="13">
                  <c:v>93.8125</c:v>
                </c:pt>
                <c:pt idx="14">
                  <c:v>90.125</c:v>
                </c:pt>
                <c:pt idx="15">
                  <c:v>86.71875</c:v>
                </c:pt>
                <c:pt idx="16">
                  <c:v>83.578125</c:v>
                </c:pt>
                <c:pt idx="17">
                  <c:v>80.65625</c:v>
                </c:pt>
                <c:pt idx="18">
                  <c:v>77.9375</c:v>
                </c:pt>
                <c:pt idx="19">
                  <c:v>75.09243545864229</c:v>
                </c:pt>
                <c:pt idx="20">
                  <c:v>72.9439318415377</c:v>
                </c:pt>
                <c:pt idx="21">
                  <c:v>70.875</c:v>
                </c:pt>
                <c:pt idx="22">
                  <c:v>68.734375</c:v>
                </c:pt>
                <c:pt idx="23">
                  <c:v>66.90625</c:v>
                </c:pt>
                <c:pt idx="24">
                  <c:v>64.90625</c:v>
                </c:pt>
              </c:numCache>
            </c:numRef>
          </c:yVal>
          <c:smooth val="0"/>
        </c:ser>
        <c:ser>
          <c:idx val="4"/>
          <c:order val="4"/>
          <c:tx>
            <c:strRef>
              <c:f>Sheet1!$B$109</c:f>
              <c:strCache>
                <c:ptCount val="1"/>
                <c:pt idx="0">
                  <c:v>45°, CG 0.5 m above the deck</c:v>
                </c:pt>
              </c:strCache>
            </c:strRef>
          </c:tx>
          <c:spPr>
            <a:ln w="22225">
              <a:solidFill>
                <a:srgbClr val="7B3FA0"/>
              </a:solidFill>
              <a:prstDash val="dash"/>
            </a:ln>
          </c:spPr>
          <c:marker>
            <c:symbol val="none"/>
          </c:marker>
          <c:xVal>
            <c:numRef>
              <c:f>Sheet1!$A$110:$A$134</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Sheet1!$B$110:$B$134</c:f>
              <c:numCache>
                <c:formatCode>General</c:formatCode>
                <c:ptCount val="25"/>
                <c:pt idx="0">
                  <c:v>212.71374014237853</c:v>
                </c:pt>
                <c:pt idx="1">
                  <c:v>174.65625</c:v>
                </c:pt>
                <c:pt idx="2">
                  <c:v>154.5</c:v>
                </c:pt>
                <c:pt idx="3">
                  <c:v>140.296875</c:v>
                </c:pt>
                <c:pt idx="4">
                  <c:v>129.3125</c:v>
                </c:pt>
                <c:pt idx="5">
                  <c:v>120.390625</c:v>
                </c:pt>
                <c:pt idx="6">
                  <c:v>112.890625</c:v>
                </c:pt>
                <c:pt idx="7">
                  <c:v>106.484375</c:v>
                </c:pt>
                <c:pt idx="8">
                  <c:v>100.890625</c:v>
                </c:pt>
                <c:pt idx="9">
                  <c:v>95.953125</c:v>
                </c:pt>
                <c:pt idx="10">
                  <c:v>91.546875</c:v>
                </c:pt>
                <c:pt idx="11">
                  <c:v>87.59375</c:v>
                </c:pt>
                <c:pt idx="12">
                  <c:v>83.91816953918863</c:v>
                </c:pt>
                <c:pt idx="13">
                  <c:v>80.734375</c:v>
                </c:pt>
                <c:pt idx="14">
                  <c:v>77.734375</c:v>
                </c:pt>
                <c:pt idx="15">
                  <c:v>74.984375</c:v>
                </c:pt>
                <c:pt idx="16">
                  <c:v>72.4375</c:v>
                </c:pt>
                <c:pt idx="17">
                  <c:v>69.9926357637932</c:v>
                </c:pt>
                <c:pt idx="18">
                  <c:v>67.859375</c:v>
                </c:pt>
                <c:pt idx="19">
                  <c:v>65.796875</c:v>
                </c:pt>
                <c:pt idx="20">
                  <c:v>63.90625</c:v>
                </c:pt>
                <c:pt idx="21">
                  <c:v>62.0625</c:v>
                </c:pt>
                <c:pt idx="22">
                  <c:v>60.390625</c:v>
                </c:pt>
                <c:pt idx="23">
                  <c:v>58.12159498622055</c:v>
                </c:pt>
                <c:pt idx="24">
                  <c:v>57.5</c:v>
                </c:pt>
              </c:numCache>
            </c:numRef>
          </c:yVal>
          <c:smooth val="0"/>
        </c:ser>
        <c:ser>
          <c:idx val="5"/>
          <c:order val="5"/>
          <c:tx>
            <c:strRef>
              <c:f>Sheet1!$B$136</c:f>
              <c:strCache>
                <c:ptCount val="1"/>
                <c:pt idx="0">
                  <c:v>45°, CG 1.0 m above the deck</c:v>
                </c:pt>
              </c:strCache>
            </c:strRef>
          </c:tx>
          <c:spPr>
            <a:ln w="22225">
              <a:solidFill>
                <a:srgbClr val="7B3FA0"/>
              </a:solidFill>
              <a:prstDash val="sysDot"/>
            </a:ln>
          </c:spPr>
          <c:marker>
            <c:symbol val="none"/>
          </c:marker>
          <c:xVal>
            <c:numRef>
              <c:f>Sheet1!$A$137:$A$161</c:f>
              <c:numCache>
                <c:formatCode>General</c:formatCode>
                <c:ptCount val="25"/>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numCache>
            </c:numRef>
          </c:xVal>
          <c:yVal>
            <c:numRef>
              <c:f>Sheet1!$B$137:$B$161</c:f>
              <c:numCache>
                <c:formatCode>General</c:formatCode>
                <c:ptCount val="25"/>
                <c:pt idx="0">
                  <c:v>170.359375</c:v>
                </c:pt>
                <c:pt idx="1">
                  <c:v>138.90625</c:v>
                </c:pt>
                <c:pt idx="2">
                  <c:v>124.078125</c:v>
                </c:pt>
                <c:pt idx="3">
                  <c:v>113.6875</c:v>
                </c:pt>
                <c:pt idx="4">
                  <c:v>105.640625</c:v>
                </c:pt>
                <c:pt idx="5">
                  <c:v>99.0625</c:v>
                </c:pt>
                <c:pt idx="6">
                  <c:v>93.515625</c:v>
                </c:pt>
                <c:pt idx="7">
                  <c:v>88.734375</c:v>
                </c:pt>
                <c:pt idx="8">
                  <c:v>84.546875</c:v>
                </c:pt>
                <c:pt idx="9">
                  <c:v>80.828125</c:v>
                </c:pt>
                <c:pt idx="10">
                  <c:v>77.484375</c:v>
                </c:pt>
                <c:pt idx="11">
                  <c:v>74.46875</c:v>
                </c:pt>
                <c:pt idx="12">
                  <c:v>71.71875</c:v>
                </c:pt>
                <c:pt idx="13">
                  <c:v>69.203125</c:v>
                </c:pt>
                <c:pt idx="14">
                  <c:v>66.875</c:v>
                </c:pt>
                <c:pt idx="15">
                  <c:v>64.734375</c:v>
                </c:pt>
                <c:pt idx="16">
                  <c:v>62.734375</c:v>
                </c:pt>
                <c:pt idx="17">
                  <c:v>60.890625</c:v>
                </c:pt>
                <c:pt idx="18">
                  <c:v>59.140625</c:v>
                </c:pt>
                <c:pt idx="19">
                  <c:v>57.515625</c:v>
                </c:pt>
                <c:pt idx="20">
                  <c:v>55.984375</c:v>
                </c:pt>
                <c:pt idx="21">
                  <c:v>54.546875</c:v>
                </c:pt>
                <c:pt idx="22">
                  <c:v>53.171875</c:v>
                </c:pt>
                <c:pt idx="23">
                  <c:v>51.890625</c:v>
                </c:pt>
                <c:pt idx="24">
                  <c:v>50.671875</c:v>
                </c:pt>
              </c:numCache>
            </c:numRef>
          </c:yVal>
          <c:smooth val="0"/>
        </c:ser>
        <c:ser>
          <c:idx val="6"/>
          <c:order val="6"/>
          <c:tx>
            <c:strRef>
              <c:f>Sheet1!$B$163</c:f>
              <c:strCache>
                <c:ptCount val="1"/>
                <c:pt idx="0">
                  <c:v>deck tilt 5°</c:v>
                </c:pt>
              </c:strCache>
            </c:strRef>
          </c:tx>
          <c:spPr>
            <a:ln w="22225">
              <a:solidFill>
                <a:srgbClr val="2B3A44"/>
              </a:solidFill>
              <a:prstDash val="dash"/>
            </a:ln>
          </c:spPr>
          <c:marker>
            <c:symbol val="none"/>
          </c:marker>
          <c:xVal>
            <c:numRef>
              <c:f>Sheet1!$A$164:$A$186</c:f>
              <c:numCache>
                <c:formatCode>General</c:formatCode>
                <c:ptCount val="23"/>
                <c:pt idx="0">
                  <c:v>0.1</c:v>
                </c:pt>
                <c:pt idx="1">
                  <c:v>0.15</c:v>
                </c:pt>
                <c:pt idx="2">
                  <c:v>0.2</c:v>
                </c:pt>
                <c:pt idx="3">
                  <c:v>0.25</c:v>
                </c:pt>
                <c:pt idx="4">
                  <c:v>0.3</c:v>
                </c:pt>
                <c:pt idx="5">
                  <c:v>0.35</c:v>
                </c:pt>
                <c:pt idx="6">
                  <c:v>0.4</c:v>
                </c:pt>
                <c:pt idx="7">
                  <c:v>0.45</c:v>
                </c:pt>
                <c:pt idx="8">
                  <c:v>0.5</c:v>
                </c:pt>
                <c:pt idx="9">
                  <c:v>0.55</c:v>
                </c:pt>
                <c:pt idx="10">
                  <c:v>0.6</c:v>
                </c:pt>
                <c:pt idx="11">
                  <c:v>0.65</c:v>
                </c:pt>
                <c:pt idx="12">
                  <c:v>0.7</c:v>
                </c:pt>
                <c:pt idx="13">
                  <c:v>0.75</c:v>
                </c:pt>
                <c:pt idx="14">
                  <c:v>0.8</c:v>
                </c:pt>
                <c:pt idx="15">
                  <c:v>0.85</c:v>
                </c:pt>
                <c:pt idx="16">
                  <c:v>0.9</c:v>
                </c:pt>
                <c:pt idx="17">
                  <c:v>0.95</c:v>
                </c:pt>
                <c:pt idx="18">
                  <c:v>1.0</c:v>
                </c:pt>
                <c:pt idx="19">
                  <c:v>1.05</c:v>
                </c:pt>
                <c:pt idx="20">
                  <c:v>1.1</c:v>
                </c:pt>
                <c:pt idx="21">
                  <c:v>1.15</c:v>
                </c:pt>
                <c:pt idx="22">
                  <c:v>1.2</c:v>
                </c:pt>
              </c:numCache>
            </c:numRef>
          </c:xVal>
          <c:yVal>
            <c:numRef>
              <c:f>Sheet1!$B$164:$B$186</c:f>
              <c:numCache>
                <c:formatCode>General</c:formatCode>
                <c:ptCount val="23"/>
                <c:pt idx="0">
                  <c:v>151.41693954272128</c:v>
                </c:pt>
                <c:pt idx="1">
                  <c:v>105.81231740021742</c:v>
                </c:pt>
                <c:pt idx="2">
                  <c:v>81.31980296078017</c:v>
                </c:pt>
                <c:pt idx="3">
                  <c:v>66.03487605984067</c:v>
                </c:pt>
                <c:pt idx="4">
                  <c:v>55.586438891818936</c:v>
                </c:pt>
                <c:pt idx="5">
                  <c:v>47.99309266161859</c:v>
                </c:pt>
                <c:pt idx="6">
                  <c:v>42.22465767238644</c:v>
                </c:pt>
                <c:pt idx="7">
                  <c:v>37.69415493870836</c:v>
                </c:pt>
                <c:pt idx="8">
                  <c:v>34.041855933594555</c:v>
                </c:pt>
                <c:pt idx="9">
                  <c:v>31.034683273419144</c:v>
                </c:pt>
                <c:pt idx="10">
                  <c:v>28.51543710230217</c:v>
                </c:pt>
                <c:pt idx="11">
                  <c:v>26.374666058065518</c:v>
                </c:pt>
                <c:pt idx="12">
                  <c:v>24.532850321088084</c:v>
                </c:pt>
                <c:pt idx="13">
                  <c:v>22.931698834130962</c:v>
                </c:pt>
                <c:pt idx="14">
                  <c:v>21.526372760967444</c:v>
                </c:pt>
                <c:pt idx="15">
                  <c:v>20.283558960659285</c:v>
                </c:pt>
                <c:pt idx="16">
                  <c:v>19.176442239442242</c:v>
                </c:pt>
                <c:pt idx="17">
                  <c:v>18.183867729334338</c:v>
                </c:pt>
                <c:pt idx="18">
                  <c:v>17.288926420081587</c:v>
                </c:pt>
                <c:pt idx="19">
                  <c:v>16.47794400865818</c:v>
                </c:pt>
                <c:pt idx="20">
                  <c:v>15.739744764275716</c:v>
                </c:pt>
                <c:pt idx="21">
                  <c:v>15.0649503132931</c:v>
                </c:pt>
                <c:pt idx="22">
                  <c:v>14.445278934176583</c:v>
                </c:pt>
              </c:numCache>
            </c:numRef>
          </c:yVal>
          <c:smooth val="0"/>
        </c:ser>
        <c:ser>
          <c:idx val="7"/>
          <c:order val="7"/>
          <c:tx>
            <c:strRef>
              <c:f>Sheet1!$B$188</c:f>
              <c:strCache>
                <c:ptCount val="1"/>
                <c:pt idx="0">
                  <c:v>deck tilt 10°</c:v>
                </c:pt>
              </c:strCache>
            </c:strRef>
          </c:tx>
          <c:spPr>
            <a:ln w="19050">
              <a:solidFill>
                <a:srgbClr val="5C6B75"/>
              </a:solidFill>
              <a:prstDash val="dash"/>
            </a:ln>
          </c:spPr>
          <c:marker>
            <c:symbol val="none"/>
          </c:marker>
          <c:xVal>
            <c:numRef>
              <c:f>Sheet1!$A$189:$A$209</c:f>
              <c:numCache>
                <c:formatCode>General</c:formatCode>
                <c:ptCount val="21"/>
                <c:pt idx="0">
                  <c:v>0.2</c:v>
                </c:pt>
                <c:pt idx="1">
                  <c:v>0.25</c:v>
                </c:pt>
                <c:pt idx="2">
                  <c:v>0.3</c:v>
                </c:pt>
                <c:pt idx="3">
                  <c:v>0.35</c:v>
                </c:pt>
                <c:pt idx="4">
                  <c:v>0.4</c:v>
                </c:pt>
                <c:pt idx="5">
                  <c:v>0.45</c:v>
                </c:pt>
                <c:pt idx="6">
                  <c:v>0.5</c:v>
                </c:pt>
                <c:pt idx="7">
                  <c:v>0.55</c:v>
                </c:pt>
                <c:pt idx="8">
                  <c:v>0.6</c:v>
                </c:pt>
                <c:pt idx="9">
                  <c:v>0.65</c:v>
                </c:pt>
                <c:pt idx="10">
                  <c:v>0.7</c:v>
                </c:pt>
                <c:pt idx="11">
                  <c:v>0.75</c:v>
                </c:pt>
                <c:pt idx="12">
                  <c:v>0.8</c:v>
                </c:pt>
                <c:pt idx="13">
                  <c:v>0.85</c:v>
                </c:pt>
                <c:pt idx="14">
                  <c:v>0.9</c:v>
                </c:pt>
                <c:pt idx="15">
                  <c:v>0.95</c:v>
                </c:pt>
                <c:pt idx="16">
                  <c:v>1.0</c:v>
                </c:pt>
                <c:pt idx="17">
                  <c:v>1.05</c:v>
                </c:pt>
                <c:pt idx="18">
                  <c:v>1.1</c:v>
                </c:pt>
                <c:pt idx="19">
                  <c:v>1.15</c:v>
                </c:pt>
                <c:pt idx="20">
                  <c:v>1.2</c:v>
                </c:pt>
              </c:numCache>
            </c:numRef>
          </c:xVal>
          <c:yVal>
            <c:numRef>
              <c:f>Sheet1!$B$189:$B$209</c:f>
              <c:numCache>
                <c:formatCode>General</c:formatCode>
                <c:ptCount val="21"/>
                <c:pt idx="0">
                  <c:v>150.67080847125715</c:v>
                </c:pt>
                <c:pt idx="1">
                  <c:v>123.98168692120237</c:v>
                </c:pt>
                <c:pt idx="2">
                  <c:v>105.32453634062797</c:v>
                </c:pt>
                <c:pt idx="3">
                  <c:v>91.54818726558327</c:v>
                </c:pt>
                <c:pt idx="4">
                  <c:v>80.95912817647033</c:v>
                </c:pt>
                <c:pt idx="5">
                  <c:v>72.56526683516017</c:v>
                </c:pt>
                <c:pt idx="6">
                  <c:v>65.74869742792643</c:v>
                </c:pt>
                <c:pt idx="7">
                  <c:v>60.102885276261745</c:v>
                </c:pt>
                <c:pt idx="8">
                  <c:v>55.3497299772054</c:v>
                </c:pt>
                <c:pt idx="9">
                  <c:v>51.29342563510209</c:v>
                </c:pt>
                <c:pt idx="10">
                  <c:v>47.79109411009959</c:v>
                </c:pt>
                <c:pt idx="11">
                  <c:v>44.73638524226842</c:v>
                </c:pt>
                <c:pt idx="12">
                  <c:v>42.04895572377294</c:v>
                </c:pt>
                <c:pt idx="13">
                  <c:v>39.665692570621566</c:v>
                </c:pt>
                <c:pt idx="14">
                  <c:v>37.53825569963153</c:v>
                </c:pt>
                <c:pt idx="15">
                  <c:v>35.6274590933955</c:v>
                </c:pt>
                <c:pt idx="16">
                  <c:v>33.901968586831266</c:v>
                </c:pt>
                <c:pt idx="17">
                  <c:v>32.33550624804372</c:v>
                </c:pt>
                <c:pt idx="18">
                  <c:v>30.907795406096874</c:v>
                </c:pt>
                <c:pt idx="19">
                  <c:v>29.6004017211507</c:v>
                </c:pt>
                <c:pt idx="20">
                  <c:v>28.399326346864147</c:v>
                </c:pt>
              </c:numCache>
            </c:numRef>
          </c:yVal>
          <c:smooth val="0"/>
        </c:ser>
        <c:ser>
          <c:idx val="8"/>
          <c:order val="8"/>
          <c:tx>
            <c:strRef>
              <c:f>Sheet1!$B$211</c:f>
              <c:strCache>
                <c:ptCount val="1"/>
                <c:pt idx="0">
                  <c:v>deck tilt 20°</c:v>
                </c:pt>
              </c:strCache>
            </c:strRef>
          </c:tx>
          <c:spPr>
            <a:ln w="19050">
              <a:solidFill>
                <a:srgbClr val="A8B4BA"/>
              </a:solidFill>
              <a:prstDash val="dash"/>
            </a:ln>
          </c:spPr>
          <c:marker>
            <c:symbol val="none"/>
          </c:marker>
          <c:xVal>
            <c:numRef>
              <c:f>Sheet1!$A$212:$A$226</c:f>
              <c:numCache>
                <c:formatCode>General</c:formatCode>
                <c:ptCount val="15"/>
                <c:pt idx="0">
                  <c:v>0.5</c:v>
                </c:pt>
                <c:pt idx="1">
                  <c:v>0.55</c:v>
                </c:pt>
                <c:pt idx="2">
                  <c:v>0.6</c:v>
                </c:pt>
                <c:pt idx="3">
                  <c:v>0.65</c:v>
                </c:pt>
                <c:pt idx="4">
                  <c:v>0.7</c:v>
                </c:pt>
                <c:pt idx="5">
                  <c:v>0.75</c:v>
                </c:pt>
                <c:pt idx="6">
                  <c:v>0.8</c:v>
                </c:pt>
                <c:pt idx="7">
                  <c:v>0.85</c:v>
                </c:pt>
                <c:pt idx="8">
                  <c:v>0.9</c:v>
                </c:pt>
                <c:pt idx="9">
                  <c:v>0.95</c:v>
                </c:pt>
                <c:pt idx="10">
                  <c:v>1.0</c:v>
                </c:pt>
                <c:pt idx="11">
                  <c:v>1.05</c:v>
                </c:pt>
                <c:pt idx="12">
                  <c:v>1.1</c:v>
                </c:pt>
                <c:pt idx="13">
                  <c:v>1.15</c:v>
                </c:pt>
                <c:pt idx="14">
                  <c:v>1.2</c:v>
                </c:pt>
              </c:numCache>
            </c:numRef>
          </c:xVal>
          <c:yVal>
            <c:numRef>
              <c:f>Sheet1!$B$212:$B$226</c:f>
              <c:numCache>
                <c:formatCode>General</c:formatCode>
                <c:ptCount val="15"/>
                <c:pt idx="0">
                  <c:v>121.6190663098218</c:v>
                </c:pt>
                <c:pt idx="1">
                  <c:v>111.75716762212963</c:v>
                </c:pt>
                <c:pt idx="2">
                  <c:v>103.37447285894092</c:v>
                </c:pt>
                <c:pt idx="3">
                  <c:v>96.16187549725973</c:v>
                </c:pt>
                <c:pt idx="4">
                  <c:v>89.89002206393506</c:v>
                </c:pt>
                <c:pt idx="5">
                  <c:v>84.3857991385576</c:v>
                </c:pt>
                <c:pt idx="6">
                  <c:v>79.51697903771378</c:v>
                </c:pt>
                <c:pt idx="7">
                  <c:v>75.17960963753818</c:v>
                </c:pt>
                <c:pt idx="8">
                  <c:v>71.29059720263186</c:v>
                </c:pt>
                <c:pt idx="9">
                  <c:v>67.78435780563547</c:v>
                </c:pt>
                <c:pt idx="10">
                  <c:v>64.60658125646405</c:v>
                </c:pt>
                <c:pt idx="11">
                  <c:v>61.71364600655215</c:v>
                </c:pt>
                <c:pt idx="12">
                  <c:v>59.06897509564494</c:v>
                </c:pt>
                <c:pt idx="13">
                  <c:v>56.64090974937874</c:v>
                </c:pt>
                <c:pt idx="14">
                  <c:v>54.40491133279961</c:v>
                </c:pt>
              </c:numCache>
            </c:numRef>
          </c:yVal>
          <c:smooth val="0"/>
        </c:ser>
        <c:axId val="-2128940872"/>
        <c:axId val="-2129643912"/>
      </c:scatterChart>
      <c:valAx>
        <c:axId val="-2128940872"/>
        <c:scaling>
          <c:orientation val="minMax"/>
          <c:max val="1.2"/>
          <c:min val="0.0"/>
        </c:scaling>
        <c:delete val="0"/>
        <c:axPos val="b"/>
        <c:majorGridlines>
          <c:spPr>
            <a:ln>
              <a:solidFill>
                <a:srgbClr val="E6ECEE"/>
              </a:solidFill>
            </a:ln>
          </c:spPr>
        </c:majorGridlines>
        <c:title>
          <c:tx>
            <c:rich>
              <a:bodyPr/>
              <a:lstStyle/>
              <a:p>
                <a:r>
                  <a:rPr sz="1200" b="0">
                    <a:solidFill>
                      <a:srgbClr val="2B3A44"/>
                    </a:solidFill>
                  </a:rPr>
                  <a:t>payload offset from the deck centre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225.0"/>
          <c:min val="0.0"/>
        </c:scaling>
        <c:delete val="0"/>
        <c:axPos val="l"/>
        <c:majorGridlines>
          <c:spPr>
            <a:ln>
              <a:solidFill>
                <a:srgbClr val="E6ECEE"/>
              </a:solidFill>
            </a:ln>
          </c:spPr>
        </c:majorGridlines>
        <c:title>
          <c:tx>
            <c:rich>
              <a:bodyPr/>
              <a:lstStyle/>
              <a:p>
                <a:r>
                  <a:rPr sz="1200" b="0">
                    <a:solidFill>
                      <a:srgbClr val="2B3A44"/>
                    </a:solidFill>
                  </a:rPr>
                  <a:t>payload mass on the deck (kg)</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limit, 0° (between hubs)</c:v>
                </c:pt>
              </c:strCache>
            </c:strRef>
          </c:tx>
          <c:spPr>
            <a:ln w="31750">
              <a:solidFill>
                <a:srgbClr val="0C8B96"/>
              </a:solidFill>
            </a:ln>
          </c:spPr>
          <c:marker>
            <c:symbol val="none"/>
          </c:marker>
          <c:xVal>
            <c:numRef>
              <c:f>Sheet1!$A$2:$A$26</c:f>
              <c:numCache>
                <c:formatCode>General</c:formatCode>
                <c:ptCount val="25"/>
                <c:pt idx="0">
                  <c:v>0.0</c:v>
                </c:pt>
                <c:pt idx="1">
                  <c:v>17.78737075606229</c:v>
                </c:pt>
                <c:pt idx="2">
                  <c:v>34.022478354211785</c:v>
                </c:pt>
                <c:pt idx="3">
                  <c:v>49.02769444643396</c:v>
                </c:pt>
                <c:pt idx="4">
                  <c:v>62.87879150263331</c:v>
                </c:pt>
                <c:pt idx="5">
                  <c:v>75.7488720872131</c:v>
                </c:pt>
                <c:pt idx="6">
                  <c:v>87.66055990667786</c:v>
                </c:pt>
                <c:pt idx="7">
                  <c:v>98.96795719452496</c:v>
                </c:pt>
                <c:pt idx="8">
                  <c:v>109.38687778974338</c:v>
                </c:pt>
                <c:pt idx="9">
                  <c:v>119.39651085009265</c:v>
                </c:pt>
                <c:pt idx="10">
                  <c:v>128.71375614911756</c:v>
                </c:pt>
                <c:pt idx="11">
                  <c:v>137.5248213776486</c:v>
                </c:pt>
                <c:pt idx="12">
                  <c:v>145.7174742133827</c:v>
                </c:pt>
                <c:pt idx="13">
                  <c:v>153.6091077871436</c:v>
                </c:pt>
                <c:pt idx="14">
                  <c:v>161.2720270304737</c:v>
                </c:pt>
                <c:pt idx="15">
                  <c:v>168.39980955266518</c:v>
                </c:pt>
                <c:pt idx="16">
                  <c:v>175.18956164465672</c:v>
                </c:pt>
                <c:pt idx="17">
                  <c:v>181.65481932750635</c:v>
                </c:pt>
                <c:pt idx="18">
                  <c:v>187.8475495385329</c:v>
                </c:pt>
                <c:pt idx="19">
                  <c:v>193.7430833936186</c:v>
                </c:pt>
                <c:pt idx="20">
                  <c:v>199.4101481332529</c:v>
                </c:pt>
                <c:pt idx="21">
                  <c:v>204.83684374570035</c:v>
                </c:pt>
                <c:pt idx="22">
                  <c:v>210.03031278047794</c:v>
                </c:pt>
                <c:pt idx="23">
                  <c:v>214.99190937363943</c:v>
                </c:pt>
                <c:pt idx="24">
                  <c:v>219.7867956948802</c:v>
                </c:pt>
              </c:numCache>
            </c:numRef>
          </c:xVal>
          <c:yVal>
            <c:numRef>
              <c:f>Sheet1!$B$2:$B$26</c:f>
              <c:numCache>
                <c:formatCode>General</c:formatCode>
                <c:ptCount val="25"/>
                <c:pt idx="0">
                  <c:v>571.0337401423785</c:v>
                </c:pt>
                <c:pt idx="1">
                  <c:v>556.1793749999999</c:v>
                </c:pt>
                <c:pt idx="2">
                  <c:v>543.0940584941991</c:v>
                </c:pt>
                <c:pt idx="3">
                  <c:v>532.3043749999999</c:v>
                </c:pt>
                <c:pt idx="4">
                  <c:v>522.6324999999999</c:v>
                </c:pt>
                <c:pt idx="5">
                  <c:v>514.0856249999999</c:v>
                </c:pt>
                <c:pt idx="6">
                  <c:v>506.246036783162</c:v>
                </c:pt>
                <c:pt idx="7">
                  <c:v>499.585625</c:v>
                </c:pt>
                <c:pt idx="8">
                  <c:v>493.1917695591982</c:v>
                </c:pt>
                <c:pt idx="9">
                  <c:v>487.72625</c:v>
                </c:pt>
                <c:pt idx="10">
                  <c:v>482.53875</c:v>
                </c:pt>
                <c:pt idx="11">
                  <c:v>477.78875</c:v>
                </c:pt>
                <c:pt idx="12">
                  <c:v>473.2561518357514</c:v>
                </c:pt>
                <c:pt idx="13">
                  <c:v>469.202807009052</c:v>
                </c:pt>
                <c:pt idx="14">
                  <c:v>465.585625</c:v>
                </c:pt>
                <c:pt idx="15">
                  <c:v>462.07</c:v>
                </c:pt>
                <c:pt idx="16">
                  <c:v>458.78875</c:v>
                </c:pt>
                <c:pt idx="17">
                  <c:v>455.710625</c:v>
                </c:pt>
                <c:pt idx="18">
                  <c:v>452.835625</c:v>
                </c:pt>
                <c:pt idx="19">
                  <c:v>450.116875</c:v>
                </c:pt>
                <c:pt idx="20">
                  <c:v>447.57</c:v>
                </c:pt>
                <c:pt idx="21">
                  <c:v>445.16375</c:v>
                </c:pt>
                <c:pt idx="22">
                  <c:v>442.8825</c:v>
                </c:pt>
                <c:pt idx="23">
                  <c:v>440.710625</c:v>
                </c:pt>
                <c:pt idx="24">
                  <c:v>438.66375</c:v>
                </c:pt>
              </c:numCache>
            </c:numRef>
          </c:yVal>
          <c:smooth val="0"/>
        </c:ser>
        <c:ser>
          <c:idx val="1"/>
          <c:order val="1"/>
          <c:tx>
            <c:strRef>
              <c:f>Sheet1!$B$28</c:f>
              <c:strCache>
                <c:ptCount val="1"/>
                <c:pt idx="0">
                  <c:v>limit, 45° (towards a hub)</c:v>
                </c:pt>
              </c:strCache>
            </c:strRef>
          </c:tx>
          <c:spPr>
            <a:ln w="31750">
              <a:solidFill>
                <a:srgbClr val="B2432C"/>
              </a:solidFill>
            </a:ln>
          </c:spPr>
          <c:marker>
            <c:symbol val="none"/>
          </c:marker>
          <c:xVal>
            <c:numRef>
              <c:f>Sheet1!$A$29:$A$53</c:f>
              <c:numCache>
                <c:formatCode>General</c:formatCode>
                <c:ptCount val="25"/>
                <c:pt idx="0">
                  <c:v>0.0</c:v>
                </c:pt>
                <c:pt idx="1">
                  <c:v>17.46287224237582</c:v>
                </c:pt>
                <c:pt idx="2">
                  <c:v>32.92533258768488</c:v>
                </c:pt>
                <c:pt idx="3">
                  <c:v>46.6994375240482</c:v>
                </c:pt>
                <c:pt idx="4">
                  <c:v>59.229967453903264</c:v>
                </c:pt>
                <c:pt idx="5">
                  <c:v>70.58478185218473</c:v>
                </c:pt>
                <c:pt idx="6">
                  <c:v>80.95902762566031</c:v>
                </c:pt>
                <c:pt idx="7">
                  <c:v>90.49457022879143</c:v>
                </c:pt>
                <c:pt idx="8">
                  <c:v>99.30019130988924</c:v>
                </c:pt>
                <c:pt idx="9">
                  <c:v>107.44559090842702</c:v>
                </c:pt>
                <c:pt idx="10">
                  <c:v>114.90723687752543</c:v>
                </c:pt>
                <c:pt idx="11">
                  <c:v>122.10413183663722</c:v>
                </c:pt>
                <c:pt idx="12">
                  <c:v>128.2591486658139</c:v>
                </c:pt>
                <c:pt idx="13">
                  <c:v>134.86782082685937</c:v>
                </c:pt>
                <c:pt idx="14">
                  <c:v>140.68057398343166</c:v>
                </c:pt>
                <c:pt idx="15">
                  <c:v>146.14247073990748</c:v>
                </c:pt>
                <c:pt idx="16">
                  <c:v>151.30749875890513</c:v>
                </c:pt>
                <c:pt idx="17">
                  <c:v>156.17658700214417</c:v>
                </c:pt>
                <c:pt idx="18">
                  <c:v>160.78520140054897</c:v>
                </c:pt>
                <c:pt idx="19">
                  <c:v>164.5956780409857</c:v>
                </c:pt>
                <c:pt idx="20">
                  <c:v>169.1398850120858</c:v>
                </c:pt>
                <c:pt idx="21">
                  <c:v>173.39146541781707</c:v>
                </c:pt>
                <c:pt idx="22">
                  <c:v>177.04493133924692</c:v>
                </c:pt>
                <c:pt idx="23">
                  <c:v>180.94411504463798</c:v>
                </c:pt>
                <c:pt idx="24">
                  <c:v>184.0327720693128</c:v>
                </c:pt>
              </c:numCache>
            </c:numRef>
          </c:xVal>
          <c:yVal>
            <c:numRef>
              <c:f>Sheet1!$B$29:$B$53</c:f>
              <c:numCache>
                <c:formatCode>General</c:formatCode>
                <c:ptCount val="25"/>
                <c:pt idx="0">
                  <c:v>571.0337401423785</c:v>
                </c:pt>
                <c:pt idx="1">
                  <c:v>550.6324999999999</c:v>
                </c:pt>
                <c:pt idx="2">
                  <c:v>534.2106249999999</c:v>
                </c:pt>
                <c:pt idx="3">
                  <c:v>520.3069442386864</c:v>
                </c:pt>
                <c:pt idx="4">
                  <c:v>509.085625</c:v>
                </c:pt>
                <c:pt idx="5">
                  <c:v>499.28875</c:v>
                </c:pt>
                <c:pt idx="6">
                  <c:v>490.7575</c:v>
                </c:pt>
                <c:pt idx="7">
                  <c:v>483.273125</c:v>
                </c:pt>
                <c:pt idx="8">
                  <c:v>476.648125</c:v>
                </c:pt>
                <c:pt idx="9">
                  <c:v>470.710625</c:v>
                </c:pt>
                <c:pt idx="10">
                  <c:v>465.2385532963654</c:v>
                </c:pt>
                <c:pt idx="11">
                  <c:v>460.57</c:v>
                </c:pt>
                <c:pt idx="12">
                  <c:v>455.7417475971303</c:v>
                </c:pt>
                <c:pt idx="13">
                  <c:v>452.1325</c:v>
                </c:pt>
                <c:pt idx="14">
                  <c:v>448.445</c:v>
                </c:pt>
                <c:pt idx="15">
                  <c:v>445.03875</c:v>
                </c:pt>
                <c:pt idx="16">
                  <c:v>441.898125</c:v>
                </c:pt>
                <c:pt idx="17">
                  <c:v>438.97625</c:v>
                </c:pt>
                <c:pt idx="18">
                  <c:v>436.2575</c:v>
                </c:pt>
                <c:pt idx="19">
                  <c:v>433.4124354586423</c:v>
                </c:pt>
                <c:pt idx="20">
                  <c:v>431.26393184153767</c:v>
                </c:pt>
                <c:pt idx="21">
                  <c:v>429.195</c:v>
                </c:pt>
                <c:pt idx="22">
                  <c:v>427.054375</c:v>
                </c:pt>
                <c:pt idx="23">
                  <c:v>425.22625</c:v>
                </c:pt>
                <c:pt idx="24">
                  <c:v>423.22625</c:v>
                </c:pt>
              </c:numCache>
            </c:numRef>
          </c:yVal>
          <c:smooth val="0"/>
        </c:ser>
        <c:ser>
          <c:idx val="2"/>
          <c:order val="2"/>
          <c:tx>
            <c:strRef>
              <c:f>Sheet1!$B$55</c:f>
              <c:strCache>
                <c:ptCount val="1"/>
                <c:pt idx="0">
                  <c:v>deck tilt 5°</c:v>
                </c:pt>
              </c:strCache>
            </c:strRef>
          </c:tx>
          <c:spPr>
            <a:ln w="19050">
              <a:solidFill>
                <a:srgbClr val="2B3A44"/>
              </a:solidFill>
              <a:prstDash val="dash"/>
            </a:ln>
          </c:spPr>
          <c:marker>
            <c:symbol val="none"/>
          </c:marker>
          <c:xVal>
            <c:numRef>
              <c:f>Sheet1!$A$56:$A$78</c:f>
              <c:numCache>
                <c:formatCode>General</c:formatCode>
                <c:ptCount val="23"/>
                <c:pt idx="0">
                  <c:v>29.704917928560477</c:v>
                </c:pt>
                <c:pt idx="1">
                  <c:v>34.19681632801805</c:v>
                </c:pt>
                <c:pt idx="2">
                  <c:v>36.99383104674653</c:v>
                </c:pt>
                <c:pt idx="3">
                  <c:v>38.903097257287506</c:v>
                </c:pt>
                <c:pt idx="4">
                  <c:v>40.289133245168486</c:v>
                </c:pt>
                <c:pt idx="5">
                  <c:v>41.34147467789253</c:v>
                </c:pt>
                <c:pt idx="6">
                  <c:v>42.167240894195466</c:v>
                </c:pt>
                <c:pt idx="7">
                  <c:v>42.832735928451974</c:v>
                </c:pt>
                <c:pt idx="8">
                  <c:v>43.38068981322688</c:v>
                </c:pt>
                <c:pt idx="9">
                  <c:v>43.8394002529411</c:v>
                </c:pt>
                <c:pt idx="10">
                  <c:v>44.22878728366502</c:v>
                </c:pt>
                <c:pt idx="11">
                  <c:v>44.563999582866465</c:v>
                </c:pt>
                <c:pt idx="12">
                  <c:v>44.85534118489426</c:v>
                </c:pt>
                <c:pt idx="13">
                  <c:v>45.11133767585072</c:v>
                </c:pt>
                <c:pt idx="14">
                  <c:v>45.33700844264999</c:v>
                </c:pt>
                <c:pt idx="15">
                  <c:v>45.53846552285555</c:v>
                </c:pt>
                <c:pt idx="16">
                  <c:v>45.71910112082841</c:v>
                </c:pt>
                <c:pt idx="17">
                  <c:v>45.8817978339767</c:v>
                </c:pt>
                <c:pt idx="18">
                  <c:v>46.0290616223152</c:v>
                </c:pt>
                <c:pt idx="19">
                  <c:v>46.16311664903745</c:v>
                </c:pt>
                <c:pt idx="20">
                  <c:v>46.28597298437985</c:v>
                </c:pt>
                <c:pt idx="21">
                  <c:v>46.39901218769148</c:v>
                </c:pt>
                <c:pt idx="22">
                  <c:v>46.50200997950997</c:v>
                </c:pt>
              </c:numCache>
            </c:numRef>
          </c:xVal>
          <c:yVal>
            <c:numRef>
              <c:f>Sheet1!$B$56:$B$78</c:f>
              <c:numCache>
                <c:formatCode>General</c:formatCode>
                <c:ptCount val="23"/>
                <c:pt idx="0">
                  <c:v>509.7369395427213</c:v>
                </c:pt>
                <c:pt idx="1">
                  <c:v>464.1323174002174</c:v>
                </c:pt>
                <c:pt idx="2">
                  <c:v>439.6398029607802</c:v>
                </c:pt>
                <c:pt idx="3">
                  <c:v>424.35487605984065</c:v>
                </c:pt>
                <c:pt idx="4">
                  <c:v>413.90643889181894</c:v>
                </c:pt>
                <c:pt idx="5">
                  <c:v>406.3130926616186</c:v>
                </c:pt>
                <c:pt idx="6">
                  <c:v>400.54465767238645</c:v>
                </c:pt>
                <c:pt idx="7">
                  <c:v>396.0141549387084</c:v>
                </c:pt>
                <c:pt idx="8">
                  <c:v>392.36185593359454</c:v>
                </c:pt>
                <c:pt idx="9">
                  <c:v>389.35468327341914</c:v>
                </c:pt>
                <c:pt idx="10">
                  <c:v>386.83543710230214</c:v>
                </c:pt>
                <c:pt idx="11">
                  <c:v>384.69466605806554</c:v>
                </c:pt>
                <c:pt idx="12">
                  <c:v>382.85285032108806</c:v>
                </c:pt>
                <c:pt idx="13">
                  <c:v>381.25169883413093</c:v>
                </c:pt>
                <c:pt idx="14">
                  <c:v>379.8463727609674</c:v>
                </c:pt>
                <c:pt idx="15">
                  <c:v>378.60355896065926</c:v>
                </c:pt>
                <c:pt idx="16">
                  <c:v>377.4964422394422</c:v>
                </c:pt>
                <c:pt idx="17">
                  <c:v>376.50386772933433</c:v>
                </c:pt>
                <c:pt idx="18">
                  <c:v>375.60892642008156</c:v>
                </c:pt>
                <c:pt idx="19">
                  <c:v>374.7979440086582</c:v>
                </c:pt>
                <c:pt idx="20">
                  <c:v>374.0597447642757</c:v>
                </c:pt>
                <c:pt idx="21">
                  <c:v>373.3849503132931</c:v>
                </c:pt>
                <c:pt idx="22">
                  <c:v>372.7652789341766</c:v>
                </c:pt>
              </c:numCache>
            </c:numRef>
          </c:yVal>
          <c:smooth val="0"/>
        </c:ser>
        <c:ser>
          <c:idx val="3"/>
          <c:order val="3"/>
          <c:tx>
            <c:strRef>
              <c:f>Sheet1!$B$80</c:f>
              <c:strCache>
                <c:ptCount val="1"/>
                <c:pt idx="0">
                  <c:v>deck tilt 10°</c:v>
                </c:pt>
              </c:strCache>
            </c:strRef>
          </c:tx>
          <c:spPr>
            <a:ln w="19050">
              <a:solidFill>
                <a:srgbClr val="5C6B75"/>
              </a:solidFill>
              <a:prstDash val="dash"/>
            </a:ln>
          </c:spPr>
          <c:marker>
            <c:symbol val="none"/>
          </c:marker>
          <c:xVal>
            <c:numRef>
              <c:f>Sheet1!$A$81:$A$101</c:f>
              <c:numCache>
                <c:formatCode>General</c:formatCode>
                <c:ptCount val="21"/>
                <c:pt idx="0">
                  <c:v>59.20374433628524</c:v>
                </c:pt>
                <c:pt idx="1">
                  <c:v>64.2656299383099</c:v>
                </c:pt>
                <c:pt idx="2">
                  <c:v>68.14996926648696</c:v>
                </c:pt>
                <c:pt idx="3">
                  <c:v>71.22500868023809</c:v>
                </c:pt>
                <c:pt idx="4">
                  <c:v>73.71998620790093</c:v>
                </c:pt>
                <c:pt idx="5">
                  <c:v>75.78437368180974</c:v>
                </c:pt>
                <c:pt idx="6">
                  <c:v>77.52128113523506</c:v>
                </c:pt>
                <c:pt idx="7">
                  <c:v>79.00281764014534</c:v>
                </c:pt>
                <c:pt idx="8">
                  <c:v>80.28104446548025</c:v>
                </c:pt>
                <c:pt idx="9">
                  <c:v>81.39559051591594</c:v>
                </c:pt>
                <c:pt idx="10">
                  <c:v>82.3758975370423</c:v>
                </c:pt>
                <c:pt idx="11">
                  <c:v>83.24465300688331</c:v>
                </c:pt>
                <c:pt idx="12">
                  <c:v>84.02041191781878</c:v>
                </c:pt>
                <c:pt idx="13">
                  <c:v>84.71620793012688</c:v>
                </c:pt>
                <c:pt idx="14">
                  <c:v>85.34476581764977</c:v>
                </c:pt>
                <c:pt idx="15">
                  <c:v>85.91522894097822</c:v>
                </c:pt>
                <c:pt idx="16">
                  <c:v>86.43566985546335</c:v>
                </c:pt>
                <c:pt idx="17">
                  <c:v>86.91105338955128</c:v>
                </c:pt>
                <c:pt idx="18">
                  <c:v>87.34878481952836</c:v>
                </c:pt>
                <c:pt idx="19">
                  <c:v>87.75115159782868</c:v>
                </c:pt>
                <c:pt idx="20">
                  <c:v>88.12383890447197</c:v>
                </c:pt>
              </c:numCache>
            </c:numRef>
          </c:xVal>
          <c:yVal>
            <c:numRef>
              <c:f>Sheet1!$B$81:$B$101</c:f>
              <c:numCache>
                <c:formatCode>General</c:formatCode>
                <c:ptCount val="21"/>
                <c:pt idx="0">
                  <c:v>508.99080847125714</c:v>
                </c:pt>
                <c:pt idx="1">
                  <c:v>482.30168692120236</c:v>
                </c:pt>
                <c:pt idx="2">
                  <c:v>463.64453634062795</c:v>
                </c:pt>
                <c:pt idx="3">
                  <c:v>449.8681872655833</c:v>
                </c:pt>
                <c:pt idx="4">
                  <c:v>439.2791281764703</c:v>
                </c:pt>
                <c:pt idx="5">
                  <c:v>430.88526683516017</c:v>
                </c:pt>
                <c:pt idx="6">
                  <c:v>424.0686974279264</c:v>
                </c:pt>
                <c:pt idx="7">
                  <c:v>418.42288527626175</c:v>
                </c:pt>
                <c:pt idx="8">
                  <c:v>413.6697299772054</c:v>
                </c:pt>
                <c:pt idx="9">
                  <c:v>409.6134256351021</c:v>
                </c:pt>
                <c:pt idx="10">
                  <c:v>406.1110941100996</c:v>
                </c:pt>
                <c:pt idx="11">
                  <c:v>403.0563852422684</c:v>
                </c:pt>
                <c:pt idx="12">
                  <c:v>400.36895572377296</c:v>
                </c:pt>
                <c:pt idx="13">
                  <c:v>397.98569257062155</c:v>
                </c:pt>
                <c:pt idx="14">
                  <c:v>395.8582556996315</c:v>
                </c:pt>
                <c:pt idx="15">
                  <c:v>393.9474590933955</c:v>
                </c:pt>
                <c:pt idx="16">
                  <c:v>392.2219685868313</c:v>
                </c:pt>
                <c:pt idx="17">
                  <c:v>390.6555062480437</c:v>
                </c:pt>
                <c:pt idx="18">
                  <c:v>389.22779540609685</c:v>
                </c:pt>
                <c:pt idx="19">
                  <c:v>387.9204017211507</c:v>
                </c:pt>
                <c:pt idx="20">
                  <c:v>386.71932634686414</c:v>
                </c:pt>
              </c:numCache>
            </c:numRef>
          </c:yVal>
          <c:smooth val="0"/>
        </c:ser>
        <c:ser>
          <c:idx val="4"/>
          <c:order val="4"/>
          <c:tx>
            <c:strRef>
              <c:f>Sheet1!$B$103</c:f>
              <c:strCache>
                <c:ptCount val="1"/>
                <c:pt idx="0">
                  <c:v>deck tilt 20°</c:v>
                </c:pt>
              </c:strCache>
            </c:strRef>
          </c:tx>
          <c:spPr>
            <a:ln w="19050">
              <a:solidFill>
                <a:srgbClr val="A8B4BA"/>
              </a:solidFill>
              <a:prstDash val="dash"/>
            </a:ln>
          </c:spPr>
          <c:marker>
            <c:symbol val="none"/>
          </c:marker>
          <c:xVal>
            <c:numRef>
              <c:f>Sheet1!$A$104:$A$118</c:f>
              <c:numCache>
                <c:formatCode>General</c:formatCode>
                <c:ptCount val="15"/>
                <c:pt idx="0">
                  <c:v>126.70261169290951</c:v>
                </c:pt>
                <c:pt idx="1">
                  <c:v>130.75819551733886</c:v>
                </c:pt>
                <c:pt idx="2">
                  <c:v>134.3414040269757</c:v>
                </c:pt>
                <c:pt idx="3">
                  <c:v>137.53071891993568</c:v>
                </c:pt>
                <c:pt idx="4">
                  <c:v>140.38734599240814</c:v>
                </c:pt>
                <c:pt idx="5">
                  <c:v>142.96028982920544</c:v>
                </c:pt>
                <c:pt idx="6">
                  <c:v>145.29056766740476</c:v>
                </c:pt>
                <c:pt idx="7">
                  <c:v>147.41113203155675</c:v>
                </c:pt>
                <c:pt idx="8">
                  <c:v>149.34812572164273</c:v>
                </c:pt>
                <c:pt idx="9">
                  <c:v>151.1252789034537</c:v>
                </c:pt>
                <c:pt idx="10">
                  <c:v>152.76074883854702</c:v>
                </c:pt>
                <c:pt idx="11">
                  <c:v>154.27175637703306</c:v>
                </c:pt>
                <c:pt idx="12">
                  <c:v>155.67223017886417</c:v>
                </c:pt>
                <c:pt idx="13">
                  <c:v>156.97152353730368</c:v>
                </c:pt>
                <c:pt idx="14">
                  <c:v>158.18258555931078</c:v>
                </c:pt>
              </c:numCache>
            </c:numRef>
          </c:xVal>
          <c:yVal>
            <c:numRef>
              <c:f>Sheet1!$B$104:$B$118</c:f>
              <c:numCache>
                <c:formatCode>General</c:formatCode>
                <c:ptCount val="15"/>
                <c:pt idx="0">
                  <c:v>479.9390663098218</c:v>
                </c:pt>
                <c:pt idx="1">
                  <c:v>470.07716762212965</c:v>
                </c:pt>
                <c:pt idx="2">
                  <c:v>461.6944728589409</c:v>
                </c:pt>
                <c:pt idx="3">
                  <c:v>454.4818754972597</c:v>
                </c:pt>
                <c:pt idx="4">
                  <c:v>448.21002206393507</c:v>
                </c:pt>
                <c:pt idx="5">
                  <c:v>442.7057991385576</c:v>
                </c:pt>
                <c:pt idx="6">
                  <c:v>437.8369790377138</c:v>
                </c:pt>
                <c:pt idx="7">
                  <c:v>433.4996096375382</c:v>
                </c:pt>
                <c:pt idx="8">
                  <c:v>429.6105972026319</c:v>
                </c:pt>
                <c:pt idx="9">
                  <c:v>426.10435780563546</c:v>
                </c:pt>
                <c:pt idx="10">
                  <c:v>422.92658125646403</c:v>
                </c:pt>
                <c:pt idx="11">
                  <c:v>420.03364600655215</c:v>
                </c:pt>
                <c:pt idx="12">
                  <c:v>417.3889750956449</c:v>
                </c:pt>
                <c:pt idx="13">
                  <c:v>414.96090974937874</c:v>
                </c:pt>
                <c:pt idx="14">
                  <c:v>412.7249113327996</c:v>
                </c:pt>
              </c:numCache>
            </c:numRef>
          </c:yVal>
          <c:smooth val="0"/>
        </c:ser>
        <c:axId val="-2128940872"/>
        <c:axId val="-2129643912"/>
      </c:scatterChart>
      <c:valAx>
        <c:axId val="-2128940872"/>
        <c:scaling>
          <c:orientation val="minMax"/>
          <c:max val="200.0"/>
          <c:min val="0.0"/>
        </c:scaling>
        <c:delete val="0"/>
        <c:axPos val="b"/>
        <c:majorGridlines>
          <c:spPr>
            <a:ln>
              <a:solidFill>
                <a:srgbClr val="E6ECEE"/>
              </a:solidFill>
            </a:ln>
          </c:spPr>
        </c:majorGridlines>
        <c:title>
          <c:tx>
            <c:rich>
              <a:bodyPr/>
              <a:lstStyle/>
              <a:p>
                <a:r>
                  <a:rPr sz="1200" b="0">
                    <a:solidFill>
                      <a:srgbClr val="2B3A44"/>
                    </a:solidFill>
                  </a:rPr>
                  <a:t>horizontal offset of the platform's CG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580.0"/>
          <c:min val="350.0"/>
        </c:scaling>
        <c:delete val="0"/>
        <c:axPos val="l"/>
        <c:majorGridlines>
          <c:spPr>
            <a:ln>
              <a:solidFill>
                <a:srgbClr val="E6ECEE"/>
              </a:solidFill>
            </a:ln>
          </c:spPr>
        </c:majorGridlines>
        <c:title>
          <c:tx>
            <c:rich>
              <a:bodyPr/>
              <a:lstStyle/>
              <a:p>
                <a:r>
                  <a:rPr sz="1200" b="0">
                    <a:solidFill>
                      <a:srgbClr val="2B3A44"/>
                    </a:solidFill>
                  </a:rPr>
                  <a:t>total platform mass (kg)</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repeats the cluster study for the 2.4 m platform: how much mass can sit on the deck, and where, before its stability is compromised. Every number comes from the study's records; the drawings are to scale and come from the solved equilibria. The animations play in PowerPoint's slide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carry the story. A centred mass only sinks the platform: 213 kg puts all sixteen pins at the waterline. Off-centre, the whole deck tilts on its four clusters, and it is about thirty times stiffer than the cluster's hub: about 15 kg·m of mass times offset per 5 degrees. The new physics is height: a payload whose mass times CG height above the pins exceeds about 202 kg·m tips the deck over even when centred. And at the edge, 1.2 m towards a corner, the limit is 65 kg.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is the rev D test platform: sixteen OSU buoys on a 0.8 m grid, in four clusters of four. Each buoy hangs from its cluster's hub on a gimbal at the spar top, exactly as in the cluster; each hub hangs from the deck frame on another gimbal, at the hub centre. The deck frame sits 0.18 m above the pins. The study puts a point mass on the deck, moves it horizontally out to the outer buoy line, and also raises its centre of gravity. Same decisions as for the cluster: free-floating, calm water, gimbals free, pins dry.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platform carries a load, and how it was computed. The key simplification is exact, not assumed: each hub receives the deck's load at its own gimbal, which sits at the hub centre in the plane of its four pins. That load has no lever arm to tilt the hub, so the hub hangs level and its four buoys sink together. Each cluster then acts as one vertical spring under the deck, and only the deck tilts. The hub tilts are still in the stability check. The method is the cluster's: the same Capytaine draft table, the statics extended to the deck and four hubs, and FloatSim's own platform model checking the small-angle range.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one: the mass in the centre of the deck. Nothing tilts; the sixteen buoys share the load and the platform sinks 3.16 mm per kilogram, a quarter of the cluster's rate because there are four times the buoys. The deck and hubs alone sink it 44 mm. At 212.7 kg all sixteen pins reach the waterline: about four clusters' worth, less the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two: the mass towards a corner, 1.2 m out on the diagonal, the worst direction. The deck tilts as a whole on its four clusters; the hubs stay level, so each cluster's buoys move together. The resistance is the clusters' difference in sinkage times their distance squared: 1987 N·m per radian, thirty times the cluster's hub, because sixteen buoys work at about 0.8 m instead of four at 0.3 m. 14 kg at the corner tilts the deck 5 degrees; at 64.9 kg the near cluster's pins reach the water with the deck at 24 degrees.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mass times offset describes the tilt. With the mass on the deck (red), the branches at three offsets almost fall on one curve: the payload's moment tilts the deck, against the clusters' 1987 N·m per radian. They separate a little because a heavy mass also sits above the pins and helps the tilt along. With the CG raised a metre (purple, dashed) that effect is large: the same moment tilts the deck much more, and most for the heaviest masses.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three, the new physics: the same kind of offset load, but with the payload's centre of gravity a metre above the deck. As the deck tilts, the raised mass moves sideways over the low side and adds to the tipping moment. At 0.2 m off centre the limit falls from 164 kg with the mass on the deck to 112 kg raised, and the deck reaches 23 degrees instead of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high can the payload's centre of gravity be? With the mass centred, the pins limit it to 213 kg while the CG is low. Above about 0.76 m over the deck, the level deck tips over first. Tilting the deck by a small angle moves a mass at height H above the pins sideways by H times the angle: a tipping moment m g H per radian, against the clusters' 1987. They balance at m times H equal to 202 kg·m, the dashed curve, which the full calculation follows exactly.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loadings animated, the mass rising from zero to the limit. They play in slide show (and in normal view in recent PowerPoint). Watch the centred platform sink straight down, the deck tilt towards the loaded corner with the hubs staying level, and the raised mass lean out over the low 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envelope. Each solid line is the payload limit for one direction of the offset, with the mass on the deck: every limit is a cluster's pins reaching the water. Towards a hub, on the diagonal (red), is the worst direction, by up to 19 percent. Purple: the worst direction with the CG raised half a metre and a metre. The grey dashed lines are deck tilts of 5, 10 and 20 degrees, far inside the limits.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envelope as the whole platform's mass and centre of gravity. The platform weighs 358 kg unloaded. Its overall centre of gravity can move a few centimetres before the deck tilts 5 degrees, and roughly 15 to 20 centimetres before the limit, with the payload on the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and the platform side by side. The platform carries about four clusters' worth centred, but it is thirty times stiffer in tilt, because its sixteen buoys work at about 0.8 m from the centre instead of 0.3 m. So off-centre loads that would roll a cluster's hub over only tilt the deck a few degrees. What the platform adds is height: its deck sits above the pins, so a raised payload can tip it, which the cluster with its mass in the pin plane never sees.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to trust it. FloatSim, solving its own sixteen-buoy model of the platform with its joints, gives exactly the statics' sinkage and tilt when every weight is put in the pin plane, which is all FloatSim's linear model can represent. With the deck and payload at their real heights the statics tilt up to 1.6 percent more: that is the weight-on-top effect FloatSim leaves out, small for a payload on the deck, large for a raised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take away. Keep heavy payloads low and central: then the platform carries about two hundred kilograms before its pins are awash. Plan off-centre loads by deck tilt. Watch the height of the payload's centre of gravity, which is the platform's new limit. The analysis is static and in calm water; waves, the mooring and the hardware would all reduce the margins.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gif"/><Relationship Id="rId4" Type="http://schemas.openxmlformats.org/officeDocument/2006/relationships/image" Target="../media/image6.gif"/><Relationship Id="rId5"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2E"/>
        </a:solidFill>
        <a:effectLst/>
      </p:bgPr>
    </p:bg>
    <p:spTree>
      <p:nvGrpSpPr>
        <p:cNvPr id="1" name=""/>
        <p:cNvGrpSpPr/>
        <p:nvPr/>
      </p:nvGrpSpPr>
      <p:grpSpPr/>
      <p:sp>
        <p:nvSpPr>
          <p:cNvPr id="2" name="TextBox 1"/>
          <p:cNvSpPr txBox="1"/>
          <p:nvPr/>
        </p:nvSpPr>
        <p:spPr>
          <a:xfrm>
            <a:off x="731520" y="1463040"/>
            <a:ext cx="6766560" cy="457200"/>
          </a:xfrm>
          <a:prstGeom prst="rect">
            <a:avLst/>
          </a:prstGeom>
          <a:noFill/>
        </p:spPr>
        <p:txBody>
          <a:bodyPr wrap="square" anchor="t" lIns="0" rIns="0">
            <a:spAutoFit/>
          </a:bodyPr>
          <a:lstStyle/>
          <a:p>
            <a:pPr algn="l">
              <a:spcAft>
                <a:spcPts val="600"/>
              </a:spcAft>
            </a:pPr>
            <a:r>
              <a:rPr sz="1400" b="1" i="0">
                <a:solidFill>
                  <a:srgbClr val="B9D6DC"/>
                </a:solidFill>
                <a:latin typeface="Calibri"/>
              </a:rPr>
              <a:t>FLUME TEST ARTICLES · 4×4 PLATFORM</a:t>
            </a:r>
          </a:p>
        </p:txBody>
      </p:sp>
      <p:sp>
        <p:nvSpPr>
          <p:cNvPr id="3" name="TextBox 2"/>
          <p:cNvSpPr txBox="1"/>
          <p:nvPr/>
        </p:nvSpPr>
        <p:spPr>
          <a:xfrm>
            <a:off x="731520" y="1920240"/>
            <a:ext cx="6766560" cy="2011680"/>
          </a:xfrm>
          <a:prstGeom prst="rect">
            <a:avLst/>
          </a:prstGeom>
          <a:noFill/>
        </p:spPr>
        <p:txBody>
          <a:bodyPr wrap="square" anchor="t" lIns="0" rIns="0">
            <a:spAutoFit/>
          </a:bodyPr>
          <a:lstStyle/>
          <a:p>
            <a:pPr algn="l">
              <a:spcAft>
                <a:spcPts val="600"/>
              </a:spcAft>
            </a:pPr>
            <a:r>
              <a:rPr sz="4400" b="1" i="0">
                <a:solidFill>
                  <a:srgbClr val="FFFFFF"/>
                </a:solidFill>
                <a:latin typeface="Calibri"/>
              </a:rPr>
              <a:t>How much payload can the platform carry?</a:t>
            </a:r>
          </a:p>
        </p:txBody>
      </p:sp>
      <p:sp>
        <p:nvSpPr>
          <p:cNvPr id="4" name="TextBox 3"/>
          <p:cNvSpPr txBox="1"/>
          <p:nvPr/>
        </p:nvSpPr>
        <p:spPr>
          <a:xfrm>
            <a:off x="731520" y="3977639"/>
            <a:ext cx="6583680" cy="1097280"/>
          </a:xfrm>
          <a:prstGeom prst="rect">
            <a:avLst/>
          </a:prstGeom>
          <a:noFill/>
        </p:spPr>
        <p:txBody>
          <a:bodyPr wrap="square" anchor="t" lIns="0" rIns="0">
            <a:spAutoFit/>
          </a:bodyPr>
          <a:lstStyle/>
          <a:p>
            <a:pPr algn="l">
              <a:spcAft>
                <a:spcPts val="600"/>
              </a:spcAft>
            </a:pPr>
            <a:r>
              <a:rPr sz="2000" b="0" i="0">
                <a:solidFill>
                  <a:srgbClr val="B9D6DC"/>
                </a:solidFill>
                <a:latin typeface="Calibri"/>
              </a:rPr>
              <a:t>A mass on the deck, moved around and raised: the stability envelope and the physics behind it</a:t>
            </a:r>
          </a:p>
        </p:txBody>
      </p:sp>
      <p:sp>
        <p:nvSpPr>
          <p:cNvPr id="5" name="TextBox 4"/>
          <p:cNvSpPr txBox="1"/>
          <p:nvPr/>
        </p:nvSpPr>
        <p:spPr>
          <a:xfrm>
            <a:off x="731520" y="5943600"/>
            <a:ext cx="6583680" cy="365760"/>
          </a:xfrm>
          <a:prstGeom prst="rect">
            <a:avLst/>
          </a:prstGeom>
          <a:noFill/>
        </p:spPr>
        <p:txBody>
          <a:bodyPr wrap="square" anchor="t" lIns="0" rIns="0">
            <a:spAutoFit/>
          </a:bodyPr>
          <a:lstStyle/>
          <a:p>
            <a:pPr algn="l">
              <a:spcAft>
                <a:spcPts val="600"/>
              </a:spcAft>
            </a:pPr>
            <a:r>
              <a:rPr sz="1200" b="0" i="0">
                <a:solidFill>
                  <a:srgbClr val="B9D6DC"/>
                </a:solidFill>
                <a:latin typeface="Calibri"/>
              </a:rPr>
              <a:t>Payload-stability study · 2026-10-15 · Capytaine hydrostatics, large-angle statics, FloatSim cross-check</a:t>
            </a:r>
          </a:p>
        </p:txBody>
      </p:sp>
      <p:sp>
        <p:nvSpPr>
          <p:cNvPr id="6" name="Rounded Rectangle 5"/>
          <p:cNvSpPr/>
          <p:nvPr/>
        </p:nvSpPr>
        <p:spPr>
          <a:xfrm>
            <a:off x="7223760" y="822960"/>
            <a:ext cx="4526280" cy="5212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ketch_platform.png"/>
          <p:cNvPicPr>
            <a:picLocks noChangeAspect="1"/>
          </p:cNvPicPr>
          <p:nvPr/>
        </p:nvPicPr>
        <p:blipFill>
          <a:blip r:embed="rId3"/>
          <a:stretch>
            <a:fillRect/>
          </a:stretch>
        </p:blipFill>
        <p:spPr>
          <a:xfrm>
            <a:off x="7315200" y="1586863"/>
            <a:ext cx="4343400" cy="368427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bottom line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on the deck, free-floating in calm water, gimbals free, pins kept dry</a:t>
            </a:r>
          </a:p>
        </p:txBody>
      </p:sp>
      <p:sp>
        <p:nvSpPr>
          <p:cNvPr id="4" name="Rounded Rectangle 3"/>
          <p:cNvSpPr/>
          <p:nvPr/>
        </p:nvSpPr>
        <p:spPr>
          <a:xfrm>
            <a:off x="54864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19456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213 kg</a:t>
            </a:r>
          </a:p>
        </p:txBody>
      </p:sp>
      <p:sp>
        <p:nvSpPr>
          <p:cNvPr id="6" name="TextBox 5"/>
          <p:cNvSpPr txBox="1"/>
          <p:nvPr/>
        </p:nvSpPr>
        <p:spPr>
          <a:xfrm>
            <a:off x="77724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centred until all 16 pins reach the waterline: the platform only sinks</a:t>
            </a:r>
          </a:p>
        </p:txBody>
      </p:sp>
      <p:sp>
        <p:nvSpPr>
          <p:cNvPr id="7" name="Rounded Rectangle 6"/>
          <p:cNvSpPr/>
          <p:nvPr/>
        </p:nvSpPr>
        <p:spPr>
          <a:xfrm>
            <a:off x="338328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74519"/>
            <a:ext cx="219456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15 kg·m</a:t>
            </a:r>
          </a:p>
        </p:txBody>
      </p:sp>
      <p:sp>
        <p:nvSpPr>
          <p:cNvPr id="9" name="TextBox 8"/>
          <p:cNvSpPr txBox="1"/>
          <p:nvPr/>
        </p:nvSpPr>
        <p:spPr>
          <a:xfrm>
            <a:off x="361188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mass × offset per 5° of deck tilt: 29× stiffer than the cluster's hub</a:t>
            </a:r>
          </a:p>
        </p:txBody>
      </p:sp>
      <p:sp>
        <p:nvSpPr>
          <p:cNvPr id="10" name="Rounded Rectangle 9"/>
          <p:cNvSpPr/>
          <p:nvPr/>
        </p:nvSpPr>
        <p:spPr>
          <a:xfrm>
            <a:off x="621792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74519"/>
            <a:ext cx="219456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202 kg·m</a:t>
            </a:r>
          </a:p>
        </p:txBody>
      </p:sp>
      <p:sp>
        <p:nvSpPr>
          <p:cNvPr id="12" name="TextBox 11"/>
          <p:cNvSpPr txBox="1"/>
          <p:nvPr/>
        </p:nvSpPr>
        <p:spPr>
          <a:xfrm>
            <a:off x="644652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mass × CG height above the pins that tips the deck, even centred</a:t>
            </a:r>
          </a:p>
        </p:txBody>
      </p:sp>
      <p:sp>
        <p:nvSpPr>
          <p:cNvPr id="13" name="Rounded Rectangle 12"/>
          <p:cNvSpPr/>
          <p:nvPr/>
        </p:nvSpPr>
        <p:spPr>
          <a:xfrm>
            <a:off x="9052560" y="1737360"/>
            <a:ext cx="260604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874519"/>
            <a:ext cx="2148840" cy="685800"/>
          </a:xfrm>
          <a:prstGeom prst="rect">
            <a:avLst/>
          </a:prstGeom>
          <a:noFill/>
        </p:spPr>
        <p:txBody>
          <a:bodyPr wrap="square" anchor="t" lIns="0" rIns="0">
            <a:spAutoFit/>
          </a:bodyPr>
          <a:lstStyle/>
          <a:p>
            <a:pPr algn="l">
              <a:spcAft>
                <a:spcPts val="600"/>
              </a:spcAft>
            </a:pPr>
            <a:r>
              <a:rPr sz="3400" b="1" i="0">
                <a:solidFill>
                  <a:srgbClr val="7B3FA0"/>
                </a:solidFill>
                <a:latin typeface="Calibri"/>
              </a:rPr>
              <a:t>65 kg</a:t>
            </a:r>
          </a:p>
        </p:txBody>
      </p:sp>
      <p:sp>
        <p:nvSpPr>
          <p:cNvPr id="15" name="TextBox 14"/>
          <p:cNvSpPr txBox="1"/>
          <p:nvPr/>
        </p:nvSpPr>
        <p:spPr>
          <a:xfrm>
            <a:off x="9281160" y="2542032"/>
            <a:ext cx="214884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at the deck edge, 1.2 m towards a corner (deck at 24°)</a:t>
            </a:r>
          </a:p>
        </p:txBody>
      </p:sp>
      <p:sp>
        <p:nvSpPr>
          <p:cNvPr id="16" name="TextBox 15"/>
          <p:cNvSpPr txBox="1"/>
          <p:nvPr/>
        </p:nvSpPr>
        <p:spPr>
          <a:xfrm>
            <a:off x="548640" y="3657600"/>
            <a:ext cx="1106424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What limits the platform</a:t>
            </a:r>
          </a:p>
        </p:txBody>
      </p:sp>
      <p:sp>
        <p:nvSpPr>
          <p:cNvPr id="17" name="TextBox 16"/>
          <p:cNvSpPr txBox="1"/>
          <p:nvPr/>
        </p:nvSpPr>
        <p:spPr>
          <a:xfrm>
            <a:off x="548640" y="4160520"/>
            <a:ext cx="11064240" cy="2377440"/>
          </a:xfrm>
          <a:prstGeom prst="rect">
            <a:avLst/>
          </a:prstGeom>
          <a:noFill/>
        </p:spPr>
        <p:txBody>
          <a:bodyPr wrap="square" anchor="t" lIns="0" rIns="0">
            <a:spAutoFit/>
          </a:bodyPr>
          <a:lstStyle/>
          <a:p>
            <a:pPr algn="l">
              <a:spcAft>
                <a:spcPts val="700"/>
              </a:spcAft>
            </a:pPr>
            <a:r>
              <a:rPr sz="1600" b="1" i="0">
                <a:solidFill>
                  <a:srgbClr val="2B3A44"/>
                </a:solidFill>
                <a:latin typeface="Calibri"/>
              </a:rPr>
              <a:t>Centred, on the deck: </a:t>
            </a:r>
            <a:r>
              <a:rPr sz="1600" b="0" i="0">
                <a:solidFill>
                  <a:srgbClr val="2B3A44"/>
                </a:solidFill>
                <a:latin typeface="Calibri"/>
              </a:rPr>
              <a:t>reserve buoyancy. </a:t>
            </a:r>
            <a:r>
              <a:rPr sz="1600" b="0" i="0">
                <a:solidFill>
                  <a:srgbClr val="2B3A44"/>
                </a:solidFill>
                <a:latin typeface="Calibri"/>
              </a:rPr>
              <a:t>Each kg sinks it 3.16 mm; at 212.7 kg every pin is awash.</a:t>
            </a:r>
          </a:p>
          <a:p>
            <a:pPr algn="l">
              <a:spcAft>
                <a:spcPts val="700"/>
              </a:spcAft>
            </a:pPr>
            <a:r>
              <a:rPr sz="1600" b="1" i="0">
                <a:solidFill>
                  <a:srgbClr val="2B3A44"/>
                </a:solidFill>
                <a:latin typeface="Calibri"/>
              </a:rPr>
              <a:t>Off-centre: </a:t>
            </a:r>
            <a:r>
              <a:rPr sz="1600" b="0" i="0">
                <a:solidFill>
                  <a:srgbClr val="2B3A44"/>
                </a:solidFill>
                <a:latin typeface="Calibri"/>
              </a:rPr>
              <a:t>one cluster's four pins go awash together; worst towards a hub, on the diagonal. </a:t>
            </a:r>
            <a:r>
              <a:rPr sz="1600" b="0" i="0">
                <a:solidFill>
                  <a:srgbClr val="2B3A44"/>
                </a:solidFill>
                <a:latin typeface="Calibri"/>
              </a:rPr>
              <a:t>E.g. 97 kg at 0.6 m, 65 kg at 1.2 m.</a:t>
            </a:r>
          </a:p>
          <a:p>
            <a:pPr algn="l">
              <a:spcAft>
                <a:spcPts val="700"/>
              </a:spcAft>
            </a:pPr>
            <a:r>
              <a:rPr sz="1600" b="1" i="0">
                <a:solidFill>
                  <a:srgbClr val="2B3A44"/>
                </a:solidFill>
                <a:latin typeface="Calibri"/>
              </a:rPr>
              <a:t>Raised payload: </a:t>
            </a:r>
            <a:r>
              <a:rPr sz="1600" b="0" i="0">
                <a:solidFill>
                  <a:srgbClr val="2B3A44"/>
                </a:solidFill>
                <a:latin typeface="Calibri"/>
              </a:rPr>
              <a:t>keep mass × CG height above the pins below 202 kg·m, or the deck tips over (e.g. 170 kg with its CG 1 m above the deck).</a:t>
            </a:r>
          </a:p>
          <a:p>
            <a:pPr algn="l">
              <a:spcAft>
                <a:spcPts val="700"/>
              </a:spcAft>
            </a:pPr>
            <a:r>
              <a:rPr sz="1600" b="1" i="0">
                <a:solidFill>
                  <a:srgbClr val="0C8B96"/>
                </a:solidFill>
                <a:latin typeface="Calibri"/>
              </a:rPr>
              <a:t>For operation: </a:t>
            </a:r>
            <a:r>
              <a:rPr sz="1600" b="0" i="0">
                <a:solidFill>
                  <a:srgbClr val="0C8B96"/>
                </a:solidFill>
                <a:latin typeface="Calibri"/>
              </a:rPr>
              <a:t>≤ 5° of deck tilt ↔ mass × offset ≤ 15 kg·m (≤ 10° ↔ 30 kg·m), for a payload on the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platform and the question</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Four clusters hung from a deck on gimbals; a mass on the deck, moved parallel to the waterline</a:t>
            </a:r>
          </a:p>
        </p:txBody>
      </p:sp>
      <p:pic>
        <p:nvPicPr>
          <p:cNvPr id="4" name="Picture 3" descr="sketch_platform.png"/>
          <p:cNvPicPr>
            <a:picLocks noChangeAspect="1"/>
          </p:cNvPicPr>
          <p:nvPr/>
        </p:nvPicPr>
        <p:blipFill>
          <a:blip r:embed="rId3"/>
          <a:stretch>
            <a:fillRect/>
          </a:stretch>
        </p:blipFill>
        <p:spPr>
          <a:xfrm>
            <a:off x="457200" y="1541323"/>
            <a:ext cx="5852160" cy="4964073"/>
          </a:xfrm>
          <a:prstGeom prst="rect">
            <a:avLst/>
          </a:prstGeom>
        </p:spPr>
      </p:pic>
      <p:sp>
        <p:nvSpPr>
          <p:cNvPr id="5" name="TextBox 4"/>
          <p:cNvSpPr txBox="1"/>
          <p:nvPr/>
        </p:nvSpPr>
        <p:spPr>
          <a:xfrm>
            <a:off x="6492240" y="1600200"/>
            <a:ext cx="521208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The question</a:t>
            </a:r>
          </a:p>
        </p:txBody>
      </p:sp>
      <p:sp>
        <p:nvSpPr>
          <p:cNvPr id="6" name="TextBox 5"/>
          <p:cNvSpPr txBox="1"/>
          <p:nvPr/>
        </p:nvSpPr>
        <p:spPr>
          <a:xfrm>
            <a:off x="6492240" y="2057400"/>
            <a:ext cx="5212080" cy="1097280"/>
          </a:xfrm>
          <a:prstGeom prst="rect">
            <a:avLst/>
          </a:prstGeom>
          <a:noFill/>
        </p:spPr>
        <p:txBody>
          <a:bodyPr wrap="square" anchor="t" lIns="0" rIns="0">
            <a:spAutoFit/>
          </a:bodyPr>
          <a:lstStyle/>
          <a:p>
            <a:pPr algn="l">
              <a:spcAft>
                <a:spcPts val="600"/>
              </a:spcAft>
            </a:pPr>
            <a:r>
              <a:rPr sz="1600" b="0" i="0">
                <a:solidFill>
                  <a:srgbClr val="2B3A44"/>
                </a:solidFill>
                <a:latin typeface="Calibri"/>
              </a:rPr>
              <a:t>How much mass can sit on the deck, and how far from the centre, before stability is compromised? Then: an envelope of mass and centre of gravity.</a:t>
            </a:r>
          </a:p>
        </p:txBody>
      </p:sp>
      <p:sp>
        <p:nvSpPr>
          <p:cNvPr id="7" name="TextBox 6"/>
          <p:cNvSpPr txBox="1"/>
          <p:nvPr/>
        </p:nvSpPr>
        <p:spPr>
          <a:xfrm>
            <a:off x="6492240" y="3246120"/>
            <a:ext cx="521208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The set-up</a:t>
            </a:r>
          </a:p>
        </p:txBody>
      </p:sp>
      <p:sp>
        <p:nvSpPr>
          <p:cNvPr id="8" name="TextBox 7"/>
          <p:cNvSpPr txBox="1"/>
          <p:nvPr/>
        </p:nvSpPr>
        <p:spPr>
          <a:xfrm>
            <a:off x="6492240" y="3703320"/>
            <a:ext cx="5212080" cy="2926080"/>
          </a:xfrm>
          <a:prstGeom prst="rect">
            <a:avLst/>
          </a:prstGeom>
          <a:noFill/>
        </p:spPr>
        <p:txBody>
          <a:bodyPr wrap="square" anchor="t" lIns="0" rIns="0">
            <a:spAutoFit/>
          </a:bodyPr>
          <a:lstStyle/>
          <a:p>
            <a:pPr algn="l">
              <a:spcAft>
                <a:spcPts val="600"/>
              </a:spcAft>
            </a:pPr>
            <a:r>
              <a:rPr sz="1500" b="1" i="0">
                <a:solidFill>
                  <a:srgbClr val="2B3A44"/>
                </a:solidFill>
                <a:latin typeface="Calibri"/>
              </a:rPr>
              <a:t>Mass: </a:t>
            </a:r>
            <a:r>
              <a:rPr sz="1500" b="0" i="0">
                <a:solidFill>
                  <a:srgbClr val="2B3A44"/>
                </a:solidFill>
                <a:latin typeface="Calibri"/>
              </a:rPr>
              <a:t>a point mass on the deck frame (+0.90 m), moved horizontally up to 1.2 m; its CG also raised 0.5 and 1.0 m.</a:t>
            </a:r>
          </a:p>
          <a:p>
            <a:pPr algn="l">
              <a:spcAft>
                <a:spcPts val="600"/>
              </a:spcAft>
            </a:pPr>
            <a:r>
              <a:rPr sz="1500" b="1" i="0">
                <a:solidFill>
                  <a:srgbClr val="2B3A44"/>
                </a:solidFill>
                <a:latin typeface="Calibri"/>
              </a:rPr>
              <a:t>Water: </a:t>
            </a:r>
            <a:r>
              <a:rPr sz="1500" b="0" i="0">
                <a:solidFill>
                  <a:srgbClr val="2B3A44"/>
                </a:solidFill>
                <a:latin typeface="Calibri"/>
              </a:rPr>
              <a:t>calm; the platform free-floating (no mooring).</a:t>
            </a:r>
          </a:p>
          <a:p>
            <a:pPr algn="l">
              <a:spcAft>
                <a:spcPts val="600"/>
              </a:spcAft>
            </a:pPr>
            <a:r>
              <a:rPr sz="1500" b="1" i="0">
                <a:solidFill>
                  <a:srgbClr val="2B3A44"/>
                </a:solidFill>
                <a:latin typeface="Calibri"/>
              </a:rPr>
              <a:t>Gimbals: </a:t>
            </a:r>
            <a:r>
              <a:rPr sz="1500" b="0" i="0">
                <a:solidFill>
                  <a:srgbClr val="2B3A44"/>
                </a:solidFill>
                <a:latin typeface="Calibri"/>
              </a:rPr>
              <a:t>free, buoys to hubs and hubs to the deck; no stops.</a:t>
            </a:r>
          </a:p>
          <a:p>
            <a:pPr algn="l">
              <a:spcAft>
                <a:spcPts val="600"/>
              </a:spcAft>
            </a:pPr>
            <a:r>
              <a:rPr sz="1500" b="1" i="0">
                <a:solidFill>
                  <a:srgbClr val="2B3A44"/>
                </a:solidFill>
                <a:latin typeface="Calibri"/>
              </a:rPr>
              <a:t>Limit: </a:t>
            </a:r>
            <a:r>
              <a:rPr sz="1500" b="0" i="0">
                <a:solidFill>
                  <a:srgbClr val="2B3A44"/>
                </a:solidFill>
                <a:latin typeface="Calibri"/>
              </a:rPr>
              <a:t>loss of restoring, or a pin reaching the water.</a:t>
            </a:r>
          </a:p>
          <a:p>
            <a:pPr algn="l">
              <a:spcAft>
                <a:spcPts val="600"/>
              </a:spcAft>
            </a:pPr>
            <a:r>
              <a:rPr sz="1500" b="1" i="0">
                <a:solidFill>
                  <a:srgbClr val="2B3A44"/>
                </a:solidFill>
                <a:latin typeface="Calibri"/>
              </a:rPr>
              <a:t>Platform: </a:t>
            </a:r>
            <a:r>
              <a:rPr sz="1500" b="0" i="0">
                <a:solidFill>
                  <a:srgbClr val="2B3A44"/>
                </a:solidFill>
                <a:latin typeface="Calibri"/>
              </a:rPr>
              <a:t>358.3 kg unloaded: 16 × 21.52 kg buoys + 4 × 2 kg hubs + 6 kg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How the platform carries a load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deck rests on four clusters; each cluster acts as one spring</a:t>
            </a:r>
          </a:p>
        </p:txBody>
      </p:sp>
      <p:sp>
        <p:nvSpPr>
          <p:cNvPr id="4" name="Rounded Rectangle 3"/>
          <p:cNvSpPr/>
          <p:nvPr/>
        </p:nvSpPr>
        <p:spPr>
          <a:xfrm>
            <a:off x="548640" y="1600200"/>
            <a:ext cx="3383280" cy="22860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2926080" cy="502920"/>
          </a:xfrm>
          <a:prstGeom prst="rect">
            <a:avLst/>
          </a:prstGeom>
          <a:noFill/>
        </p:spPr>
        <p:txBody>
          <a:bodyPr wrap="square" anchor="t" lIns="0" rIns="0">
            <a:spAutoFit/>
          </a:bodyPr>
          <a:lstStyle/>
          <a:p>
            <a:pPr algn="l">
              <a:spcAft>
                <a:spcPts val="600"/>
              </a:spcAft>
            </a:pPr>
            <a:r>
              <a:rPr sz="1800" b="1" i="0">
                <a:solidFill>
                  <a:srgbClr val="0C8B96"/>
                </a:solidFill>
                <a:latin typeface="Calibri"/>
              </a:rPr>
              <a:t>1  Capytaine at every draft</a:t>
            </a:r>
          </a:p>
        </p:txBody>
      </p:sp>
      <p:sp>
        <p:nvSpPr>
          <p:cNvPr id="6" name="TextBox 5"/>
          <p:cNvSpPr txBox="1"/>
          <p:nvPr/>
        </p:nvSpPr>
        <p:spPr>
          <a:xfrm>
            <a:off x="777240" y="2331720"/>
            <a:ext cx="2926080" cy="155448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cluster study's buoy table is reused as it is: buoyancy, pin load and tilt stiffness for sinkage −0.95 … +0.72 m.</a:t>
            </a:r>
          </a:p>
        </p:txBody>
      </p:sp>
      <p:sp>
        <p:nvSpPr>
          <p:cNvPr id="7" name="Right Arrow 6"/>
          <p:cNvSpPr/>
          <p:nvPr/>
        </p:nvSpPr>
        <p:spPr>
          <a:xfrm>
            <a:off x="3977639" y="2606040"/>
            <a:ext cx="411480" cy="292608"/>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1600200"/>
            <a:ext cx="3383280" cy="22860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783080"/>
            <a:ext cx="2926080" cy="502920"/>
          </a:xfrm>
          <a:prstGeom prst="rect">
            <a:avLst/>
          </a:prstGeom>
          <a:noFill/>
        </p:spPr>
        <p:txBody>
          <a:bodyPr wrap="square" anchor="t" lIns="0" rIns="0">
            <a:spAutoFit/>
          </a:bodyPr>
          <a:lstStyle/>
          <a:p>
            <a:pPr algn="l">
              <a:spcAft>
                <a:spcPts val="600"/>
              </a:spcAft>
            </a:pPr>
            <a:r>
              <a:rPr sz="1800" b="1" i="0">
                <a:solidFill>
                  <a:srgbClr val="C9772B"/>
                </a:solidFill>
                <a:latin typeface="Calibri"/>
              </a:rPr>
              <a:t>2  Large-angle statics</a:t>
            </a:r>
          </a:p>
        </p:txBody>
      </p:sp>
      <p:sp>
        <p:nvSpPr>
          <p:cNvPr id="10" name="TextBox 9"/>
          <p:cNvSpPr txBox="1"/>
          <p:nvPr/>
        </p:nvSpPr>
        <p:spPr>
          <a:xfrm>
            <a:off x="4617720" y="2331720"/>
            <a:ext cx="2926080" cy="1554480"/>
          </a:xfrm>
          <a:prstGeom prst="rect">
            <a:avLst/>
          </a:prstGeom>
          <a:noFill/>
        </p:spPr>
        <p:txBody>
          <a:bodyPr wrap="square" anchor="t" lIns="0" rIns="0">
            <a:spAutoFit/>
          </a:bodyPr>
          <a:lstStyle/>
          <a:p>
            <a:pPr algn="l">
              <a:spcAft>
                <a:spcPts val="600"/>
              </a:spcAft>
            </a:pPr>
            <a:r>
              <a:rPr sz="1400" b="0" i="0">
                <a:solidFill>
                  <a:srgbClr val="2B3A44"/>
                </a:solidFill>
                <a:latin typeface="Calibri"/>
              </a:rPr>
              <a:t>Deck + 4 hubs + 16 hanging buoys, exact at any deck tilt: 11 coordinates, equilibrium at the minimum of potential energy, stability from its stiffness.</a:t>
            </a:r>
          </a:p>
        </p:txBody>
      </p:sp>
      <p:sp>
        <p:nvSpPr>
          <p:cNvPr id="11" name="Right Arrow 10"/>
          <p:cNvSpPr/>
          <p:nvPr/>
        </p:nvSpPr>
        <p:spPr>
          <a:xfrm>
            <a:off x="7818120" y="2606040"/>
            <a:ext cx="411480" cy="292608"/>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0" y="1600200"/>
            <a:ext cx="3383280" cy="22860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1783080"/>
            <a:ext cx="2926080" cy="502920"/>
          </a:xfrm>
          <a:prstGeom prst="rect">
            <a:avLst/>
          </a:prstGeom>
          <a:noFill/>
        </p:spPr>
        <p:txBody>
          <a:bodyPr wrap="square" anchor="t" lIns="0" rIns="0">
            <a:spAutoFit/>
          </a:bodyPr>
          <a:lstStyle/>
          <a:p>
            <a:pPr algn="l">
              <a:spcAft>
                <a:spcPts val="600"/>
              </a:spcAft>
            </a:pPr>
            <a:r>
              <a:rPr sz="1800" b="1" i="0">
                <a:solidFill>
                  <a:srgbClr val="5A8A2B"/>
                </a:solidFill>
                <a:latin typeface="Calibri"/>
              </a:rPr>
              <a:t>3  FloatSim cross-check</a:t>
            </a:r>
          </a:p>
        </p:txBody>
      </p:sp>
      <p:sp>
        <p:nvSpPr>
          <p:cNvPr id="14" name="TextBox 13"/>
          <p:cNvSpPr txBox="1"/>
          <p:nvPr/>
        </p:nvSpPr>
        <p:spPr>
          <a:xfrm>
            <a:off x="8458200" y="2331720"/>
            <a:ext cx="2926080" cy="1554480"/>
          </a:xfrm>
          <a:prstGeom prst="rect">
            <a:avLst/>
          </a:prstGeom>
          <a:noFill/>
        </p:spPr>
        <p:txBody>
          <a:bodyPr wrap="square" anchor="t" lIns="0" rIns="0">
            <a:spAutoFit/>
          </a:bodyPr>
          <a:lstStyle/>
          <a:p>
            <a:pPr algn="l">
              <a:spcAft>
                <a:spcPts val="600"/>
              </a:spcAft>
            </a:pPr>
            <a:r>
              <a:rPr sz="1400" b="0" i="0">
                <a:solidFill>
                  <a:srgbClr val="2B3A44"/>
                </a:solidFill>
                <a:latin typeface="Calibri"/>
              </a:rPr>
              <a:t>FloatSim's own platform model (16 buoys, coupled BEM, joints), solved statically: identical sinkage and tilt at small angles.</a:t>
            </a:r>
          </a:p>
        </p:txBody>
      </p:sp>
      <p:sp>
        <p:nvSpPr>
          <p:cNvPr id="15" name="Rounded Rectangle 14"/>
          <p:cNvSpPr/>
          <p:nvPr/>
        </p:nvSpPr>
        <p:spPr>
          <a:xfrm>
            <a:off x="548640" y="4160520"/>
            <a:ext cx="11064240" cy="2331720"/>
          </a:xfrm>
          <a:prstGeom prst="roundRect">
            <a:avLst>
              <a:gd name="adj" fmla="val 6000"/>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297680"/>
            <a:ext cx="1060704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Why each hub stays level</a:t>
            </a:r>
          </a:p>
        </p:txBody>
      </p:sp>
      <p:sp>
        <p:nvSpPr>
          <p:cNvPr id="17" name="TextBox 16"/>
          <p:cNvSpPr txBox="1"/>
          <p:nvPr/>
        </p:nvSpPr>
        <p:spPr>
          <a:xfrm>
            <a:off x="777240" y="4800600"/>
            <a:ext cx="10607040" cy="1645920"/>
          </a:xfrm>
          <a:prstGeom prst="rect">
            <a:avLst/>
          </a:prstGeom>
          <a:noFill/>
        </p:spPr>
        <p:txBody>
          <a:bodyPr wrap="square" anchor="t" lIns="0" rIns="0">
            <a:spAutoFit/>
          </a:bodyPr>
          <a:lstStyle/>
          <a:p>
            <a:pPr algn="l">
              <a:spcAft>
                <a:spcPts val="800"/>
              </a:spcAft>
            </a:pPr>
            <a:r>
              <a:rPr sz="1500" b="1" i="0">
                <a:solidFill>
                  <a:srgbClr val="2B3A44"/>
                </a:solidFill>
                <a:latin typeface="Calibri"/>
              </a:rPr>
              <a:t>The deck's load reaches each hub at its gimbal: </a:t>
            </a:r>
            <a:r>
              <a:rPr sz="1500" b="0" i="0">
                <a:solidFill>
                  <a:srgbClr val="2B3A44"/>
                </a:solidFill>
                <a:latin typeface="Calibri"/>
              </a:rPr>
              <a:t>the hub centre, in the plane of its four pins. It has no lever arm to tilt the hub, so the hub hangs level and its four buoys sink together.</a:t>
            </a:r>
          </a:p>
          <a:p>
            <a:pPr algn="l">
              <a:spcAft>
                <a:spcPts val="800"/>
              </a:spcAft>
            </a:pPr>
            <a:r>
              <a:rPr sz="1500" b="1" i="0">
                <a:solidFill>
                  <a:srgbClr val="2B3A44"/>
                </a:solidFill>
                <a:latin typeface="Calibri"/>
              </a:rPr>
              <a:t>So each cluster is one vertical spring under the deck: </a:t>
            </a:r>
            <a:r>
              <a:rPr sz="1500" b="0" i="0">
                <a:solidFill>
                  <a:srgbClr val="2B3A44"/>
                </a:solidFill>
                <a:latin typeface="Calibri"/>
              </a:rPr>
              <a:t>4 × 194 N/m, 1.13 m from the centre. Only the deck tilts. Checked, not assumed: the hub moment residual is ≤ 2e-14 N·m and the hub tilts are in the stability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 centred mass only sinks the platform</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All sixteen buoys share the load; nothing tilts</a:t>
            </a:r>
          </a:p>
        </p:txBody>
      </p:sp>
      <p:pic>
        <p:nvPicPr>
          <p:cNvPr id="4" name="Picture 3" descr="pseq_centred.png"/>
          <p:cNvPicPr>
            <a:picLocks noChangeAspect="1"/>
          </p:cNvPicPr>
          <p:nvPr/>
        </p:nvPicPr>
        <p:blipFill>
          <a:blip r:embed="rId3"/>
          <a:stretch>
            <a:fillRect/>
          </a:stretch>
        </p:blipFill>
        <p:spPr>
          <a:xfrm>
            <a:off x="1011923" y="1417320"/>
            <a:ext cx="10137672" cy="3428999"/>
          </a:xfrm>
          <a:prstGeom prst="rect">
            <a:avLst/>
          </a:prstGeom>
        </p:spPr>
      </p:pic>
      <p:sp>
        <p:nvSpPr>
          <p:cNvPr id="5" name="Rounded Rectangle 4"/>
          <p:cNvSpPr/>
          <p:nvPr/>
        </p:nvSpPr>
        <p:spPr>
          <a:xfrm>
            <a:off x="54864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212080"/>
            <a:ext cx="301752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3.16 mm</a:t>
            </a:r>
          </a:p>
        </p:txBody>
      </p:sp>
      <p:sp>
        <p:nvSpPr>
          <p:cNvPr id="7" name="TextBox 6"/>
          <p:cNvSpPr txBox="1"/>
          <p:nvPr/>
        </p:nvSpPr>
        <p:spPr>
          <a:xfrm>
            <a:off x="77724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of sinkage per kg of payload (194 N/m per buoy, sixteen buoys)</a:t>
            </a:r>
          </a:p>
        </p:txBody>
      </p:sp>
      <p:sp>
        <p:nvSpPr>
          <p:cNvPr id="8" name="Rounded Rectangle 7"/>
          <p:cNvSpPr/>
          <p:nvPr/>
        </p:nvSpPr>
        <p:spPr>
          <a:xfrm>
            <a:off x="434340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21208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212.7 kg</a:t>
            </a:r>
          </a:p>
        </p:txBody>
      </p:sp>
      <p:sp>
        <p:nvSpPr>
          <p:cNvPr id="10" name="TextBox 9"/>
          <p:cNvSpPr txBox="1"/>
          <p:nvPr/>
        </p:nvSpPr>
        <p:spPr>
          <a:xfrm>
            <a:off x="457200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on the deck puts all sixteen pins at the waterline</a:t>
            </a:r>
          </a:p>
        </p:txBody>
      </p:sp>
      <p:sp>
        <p:nvSpPr>
          <p:cNvPr id="11" name="Rounded Rectangle 10"/>
          <p:cNvSpPr/>
          <p:nvPr/>
        </p:nvSpPr>
        <p:spPr>
          <a:xfrm>
            <a:off x="813816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212080"/>
            <a:ext cx="301752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 4 × 55 kg</a:t>
            </a:r>
          </a:p>
        </p:txBody>
      </p:sp>
      <p:sp>
        <p:nvSpPr>
          <p:cNvPr id="13" name="TextBox 12"/>
          <p:cNvSpPr txBox="1"/>
          <p:nvPr/>
        </p:nvSpPr>
        <p:spPr>
          <a:xfrm>
            <a:off x="836676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cluster's centred limit, four times, less the 6 kg deck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Off-centre, the whole deck tilts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1.2 m towards a corner: the hubs stay level; the clusters' difference in sinkage resists the tilt</a:t>
            </a:r>
          </a:p>
        </p:txBody>
      </p:sp>
      <p:pic>
        <p:nvPicPr>
          <p:cNvPr id="4" name="Picture 3" descr="pseq_offset.png"/>
          <p:cNvPicPr>
            <a:picLocks noChangeAspect="1"/>
          </p:cNvPicPr>
          <p:nvPr/>
        </p:nvPicPr>
        <p:blipFill>
          <a:blip r:embed="rId3"/>
          <a:stretch>
            <a:fillRect/>
          </a:stretch>
        </p:blipFill>
        <p:spPr>
          <a:xfrm>
            <a:off x="1011923" y="1417320"/>
            <a:ext cx="10137672" cy="3428999"/>
          </a:xfrm>
          <a:prstGeom prst="rect">
            <a:avLst/>
          </a:prstGeom>
        </p:spPr>
      </p:pic>
      <p:sp>
        <p:nvSpPr>
          <p:cNvPr id="5" name="Rounded Rectangle 4"/>
          <p:cNvSpPr/>
          <p:nvPr/>
        </p:nvSpPr>
        <p:spPr>
          <a:xfrm>
            <a:off x="54864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66360"/>
            <a:ext cx="301752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1987 N·m/rad</a:t>
            </a:r>
          </a:p>
        </p:txBody>
      </p:sp>
      <p:sp>
        <p:nvSpPr>
          <p:cNvPr id="7" name="TextBox 6"/>
          <p:cNvSpPr txBox="1"/>
          <p:nvPr/>
        </p:nvSpPr>
        <p:spPr>
          <a:xfrm>
            <a:off x="77724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deck tilt stiffness: 29× the cluster's hub (16 buoys at ~0.8 m)</a:t>
            </a:r>
          </a:p>
        </p:txBody>
      </p:sp>
      <p:sp>
        <p:nvSpPr>
          <p:cNvPr id="8" name="Rounded Rectangle 7"/>
          <p:cNvSpPr/>
          <p:nvPr/>
        </p:nvSpPr>
        <p:spPr>
          <a:xfrm>
            <a:off x="434340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166360"/>
            <a:ext cx="30175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14 kg → 5°</a:t>
            </a:r>
          </a:p>
        </p:txBody>
      </p:sp>
      <p:sp>
        <p:nvSpPr>
          <p:cNvPr id="10" name="TextBox 9"/>
          <p:cNvSpPr txBox="1"/>
          <p:nvPr/>
        </p:nvSpPr>
        <p:spPr>
          <a:xfrm>
            <a:off x="457200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at the corner, 1.2 m out on the diagonal</a:t>
            </a:r>
          </a:p>
        </p:txBody>
      </p:sp>
      <p:sp>
        <p:nvSpPr>
          <p:cNvPr id="11" name="Rounded Rectangle 10"/>
          <p:cNvSpPr/>
          <p:nvPr/>
        </p:nvSpPr>
        <p:spPr>
          <a:xfrm>
            <a:off x="813816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16636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64.9 kg</a:t>
            </a:r>
          </a:p>
        </p:txBody>
      </p:sp>
      <p:sp>
        <p:nvSpPr>
          <p:cNvPr id="13" name="TextBox 12"/>
          <p:cNvSpPr txBox="1"/>
          <p:nvPr/>
        </p:nvSpPr>
        <p:spPr>
          <a:xfrm>
            <a:off x="836676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near cluster's pins awash, deck at 24° tilt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tilt follows mass × offset</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on the deck: one curve; raised a metre: the heavy masses tilt the deck further</a:t>
            </a:r>
          </a:p>
        </p:txBody>
      </p:sp>
      <p:graphicFrame>
        <p:nvGraphicFramePr>
          <p:cNvPr id="4" name="Chart 3"/>
          <p:cNvGraphicFramePr>
            <a:graphicFrameLocks noGrp="1"/>
          </p:cNvGraphicFramePr>
          <p:nvPr/>
        </p:nvGraphicFramePr>
        <p:xfrm>
          <a:off x="457200" y="141732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463040"/>
            <a:ext cx="40233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Reading it (CG on the deck)</a:t>
            </a:r>
          </a:p>
        </p:txBody>
      </p:sp>
      <p:graphicFrame>
        <p:nvGraphicFramePr>
          <p:cNvPr id="6" name="Table 5"/>
          <p:cNvGraphicFramePr>
            <a:graphicFrameLocks noGrp="1"/>
          </p:cNvGraphicFramePr>
          <p:nvPr/>
        </p:nvGraphicFramePr>
        <p:xfrm>
          <a:off x="7680960" y="2011680"/>
          <a:ext cx="4023360" cy="2103120"/>
        </p:xfrm>
        <a:graphic>
          <a:graphicData uri="http://schemas.openxmlformats.org/drawingml/2006/table">
            <a:tbl>
              <a:tblPr firstRow="1" bandRow="1">
                <a:tableStyleId>{5C22544A-7EE6-4342-B048-85BDC9FD1C3A}</a:tableStyleId>
              </a:tblPr>
              <a:tblGrid>
                <a:gridCol w="1341120"/>
                <a:gridCol w="1341120"/>
                <a:gridCol w="1341120"/>
              </a:tblGrid>
              <a:tr h="420624">
                <a:tc>
                  <a:txBody>
                    <a:bodyPr/>
                    <a:lstStyle/>
                    <a:p>
                      <a:r>
                        <a:rPr sz="1400" b="1">
                          <a:solidFill>
                            <a:srgbClr val="FFFFFF"/>
                          </a:solidFill>
                          <a:latin typeface="Calibri"/>
                        </a:rPr>
                        <a:t>Deck tilt</a:t>
                      </a:r>
                    </a:p>
                  </a:txBody>
                  <a:tcPr>
                    <a:solidFill>
                      <a:srgbClr val="0C8B96"/>
                    </a:solidFill>
                  </a:tcPr>
                </a:tc>
                <a:tc>
                  <a:txBody>
                    <a:bodyPr/>
                    <a:lstStyle/>
                    <a:p>
                      <a:r>
                        <a:rPr sz="1400" b="1">
                          <a:solidFill>
                            <a:srgbClr val="FFFFFF"/>
                          </a:solidFill>
                          <a:latin typeface="Calibri"/>
                        </a:rPr>
                        <a:t>mass × offset</a:t>
                      </a:r>
                    </a:p>
                  </a:txBody>
                  <a:tcPr>
                    <a:solidFill>
                      <a:srgbClr val="0C8B96"/>
                    </a:solidFill>
                  </a:tcPr>
                </a:tc>
                <a:tc>
                  <a:txBody>
                    <a:bodyPr/>
                    <a:lstStyle/>
                    <a:p>
                      <a:r>
                        <a:rPr sz="1400" b="1">
                          <a:solidFill>
                            <a:srgbClr val="FFFFFF"/>
                          </a:solidFill>
                          <a:latin typeface="Calibri"/>
                        </a:rPr>
                        <a:t>e.g. at 1.0 m</a:t>
                      </a:r>
                    </a:p>
                  </a:txBody>
                  <a:tcPr>
                    <a:solidFill>
                      <a:srgbClr val="0C8B96"/>
                    </a:solidFill>
                  </a:tcPr>
                </a:tc>
              </a:tr>
              <a:tr h="420624">
                <a:tc>
                  <a:txBody>
                    <a:bodyPr/>
                    <a:lstStyle/>
                    <a:p>
                      <a:r>
                        <a:rPr sz="1400" b="0">
                          <a:solidFill>
                            <a:srgbClr val="2B3A44"/>
                          </a:solidFill>
                          <a:latin typeface="Calibri"/>
                        </a:rPr>
                        <a:t>2°</a:t>
                      </a:r>
                    </a:p>
                  </a:txBody>
                  <a:tcPr>
                    <a:solidFill>
                      <a:srgbClr val="E4F2F4"/>
                    </a:solidFill>
                  </a:tcPr>
                </a:tc>
                <a:tc>
                  <a:txBody>
                    <a:bodyPr/>
                    <a:lstStyle/>
                    <a:p>
                      <a:r>
                        <a:rPr sz="1400" b="0">
                          <a:solidFill>
                            <a:srgbClr val="2B3A44"/>
                          </a:solidFill>
                          <a:latin typeface="Calibri"/>
                        </a:rPr>
                        <a:t>6.2 kg·m</a:t>
                      </a:r>
                    </a:p>
                  </a:txBody>
                  <a:tcPr>
                    <a:solidFill>
                      <a:srgbClr val="E4F2F4"/>
                    </a:solidFill>
                  </a:tcPr>
                </a:tc>
                <a:tc>
                  <a:txBody>
                    <a:bodyPr/>
                    <a:lstStyle/>
                    <a:p>
                      <a:r>
                        <a:rPr sz="1400" b="0">
                          <a:solidFill>
                            <a:srgbClr val="2B3A44"/>
                          </a:solidFill>
                          <a:latin typeface="Calibri"/>
                        </a:rPr>
                        <a:t>7.0 kg</a:t>
                      </a:r>
                    </a:p>
                  </a:txBody>
                  <a:tcPr>
                    <a:solidFill>
                      <a:srgbClr val="E4F2F4"/>
                    </a:solidFill>
                  </a:tcPr>
                </a:tc>
              </a:tr>
              <a:tr h="420624">
                <a:tc>
                  <a:txBody>
                    <a:bodyPr/>
                    <a:lstStyle/>
                    <a:p>
                      <a:r>
                        <a:rPr sz="1400" b="0">
                          <a:solidFill>
                            <a:srgbClr val="2B3A44"/>
                          </a:solidFill>
                          <a:latin typeface="Calibri"/>
                        </a:rPr>
                        <a:t>5°</a:t>
                      </a:r>
                    </a:p>
                  </a:txBody>
                  <a:tcPr>
                    <a:solidFill>
                      <a:srgbClr val="FFFFFF"/>
                    </a:solidFill>
                  </a:tcPr>
                </a:tc>
                <a:tc>
                  <a:txBody>
                    <a:bodyPr/>
                    <a:lstStyle/>
                    <a:p>
                      <a:r>
                        <a:rPr sz="1400" b="0">
                          <a:solidFill>
                            <a:srgbClr val="2B3A44"/>
                          </a:solidFill>
                          <a:latin typeface="Calibri"/>
                        </a:rPr>
                        <a:t>15.1 kg·m</a:t>
                      </a:r>
                    </a:p>
                  </a:txBody>
                  <a:tcPr>
                    <a:solidFill>
                      <a:srgbClr val="FFFFFF"/>
                    </a:solidFill>
                  </a:tcPr>
                </a:tc>
                <a:tc>
                  <a:txBody>
                    <a:bodyPr/>
                    <a:lstStyle/>
                    <a:p>
                      <a:r>
                        <a:rPr sz="1400" b="0">
                          <a:solidFill>
                            <a:srgbClr val="2B3A44"/>
                          </a:solidFill>
                          <a:latin typeface="Calibri"/>
                        </a:rPr>
                        <a:t>17.3 kg</a:t>
                      </a:r>
                    </a:p>
                  </a:txBody>
                  <a:tcPr>
                    <a:solidFill>
                      <a:srgbClr val="FFFFFF"/>
                    </a:solidFill>
                  </a:tcPr>
                </a:tc>
              </a:tr>
              <a:tr h="420624">
                <a:tc>
                  <a:txBody>
                    <a:bodyPr/>
                    <a:lstStyle/>
                    <a:p>
                      <a:r>
                        <a:rPr sz="1400" b="0">
                          <a:solidFill>
                            <a:srgbClr val="2B3A44"/>
                          </a:solidFill>
                          <a:latin typeface="Calibri"/>
                        </a:rPr>
                        <a:t>10°</a:t>
                      </a:r>
                    </a:p>
                  </a:txBody>
                  <a:tcPr>
                    <a:solidFill>
                      <a:srgbClr val="E4F2F4"/>
                    </a:solidFill>
                  </a:tcPr>
                </a:tc>
                <a:tc>
                  <a:txBody>
                    <a:bodyPr/>
                    <a:lstStyle/>
                    <a:p>
                      <a:r>
                        <a:rPr sz="1400" b="0">
                          <a:solidFill>
                            <a:srgbClr val="2B3A44"/>
                          </a:solidFill>
                          <a:latin typeface="Calibri"/>
                        </a:rPr>
                        <a:t>30.1 kg·m</a:t>
                      </a:r>
                    </a:p>
                  </a:txBody>
                  <a:tcPr>
                    <a:solidFill>
                      <a:srgbClr val="E4F2F4"/>
                    </a:solidFill>
                  </a:tcPr>
                </a:tc>
                <a:tc>
                  <a:txBody>
                    <a:bodyPr/>
                    <a:lstStyle/>
                    <a:p>
                      <a:r>
                        <a:rPr sz="1400" b="0">
                          <a:solidFill>
                            <a:srgbClr val="2B3A44"/>
                          </a:solidFill>
                          <a:latin typeface="Calibri"/>
                        </a:rPr>
                        <a:t>33.9 kg</a:t>
                      </a:r>
                    </a:p>
                  </a:txBody>
                  <a:tcPr>
                    <a:solidFill>
                      <a:srgbClr val="E4F2F4"/>
                    </a:solidFill>
                  </a:tcPr>
                </a:tc>
              </a:tr>
              <a:tr h="420624">
                <a:tc>
                  <a:txBody>
                    <a:bodyPr/>
                    <a:lstStyle/>
                    <a:p>
                      <a:r>
                        <a:rPr sz="1400" b="0">
                          <a:solidFill>
                            <a:srgbClr val="2B3A44"/>
                          </a:solidFill>
                          <a:latin typeface="Calibri"/>
                        </a:rPr>
                        <a:t>20°</a:t>
                      </a:r>
                    </a:p>
                  </a:txBody>
                  <a:tcPr>
                    <a:solidFill>
                      <a:srgbClr val="FFFFFF"/>
                    </a:solidFill>
                  </a:tcPr>
                </a:tc>
                <a:tc>
                  <a:txBody>
                    <a:bodyPr/>
                    <a:lstStyle/>
                    <a:p>
                      <a:r>
                        <a:rPr sz="1400" b="0">
                          <a:solidFill>
                            <a:srgbClr val="2B3A44"/>
                          </a:solidFill>
                          <a:latin typeface="Calibri"/>
                        </a:rPr>
                        <a:t>60.8 kg·m</a:t>
                      </a:r>
                    </a:p>
                  </a:txBody>
                  <a:tcPr>
                    <a:solidFill>
                      <a:srgbClr val="FFFFFF"/>
                    </a:solidFill>
                  </a:tcPr>
                </a:tc>
                <a:tc>
                  <a:txBody>
                    <a:bodyPr/>
                    <a:lstStyle/>
                    <a:p>
                      <a:r>
                        <a:rPr sz="1400" b="0">
                          <a:solidFill>
                            <a:srgbClr val="2B3A44"/>
                          </a:solidFill>
                          <a:latin typeface="Calibri"/>
                        </a:rPr>
                        <a:t>64.6 kg</a:t>
                      </a:r>
                    </a:p>
                  </a:txBody>
                  <a:tcPr>
                    <a:solidFill>
                      <a:srgbClr val="FFFFFF"/>
                    </a:solidFill>
                  </a:tcPr>
                </a:tc>
              </a:tr>
            </a:tbl>
          </a:graphicData>
        </a:graphic>
      </p:graphicFrame>
      <p:sp>
        <p:nvSpPr>
          <p:cNvPr id="7" name="TextBox 6"/>
          <p:cNvSpPr txBox="1"/>
          <p:nvPr/>
        </p:nvSpPr>
        <p:spPr>
          <a:xfrm>
            <a:off x="7680960" y="4343400"/>
            <a:ext cx="4023360" cy="2194560"/>
          </a:xfrm>
          <a:prstGeom prst="rect">
            <a:avLst/>
          </a:prstGeom>
          <a:noFill/>
        </p:spPr>
        <p:txBody>
          <a:bodyPr wrap="square" anchor="t" lIns="0" rIns="0">
            <a:spAutoFit/>
          </a:bodyPr>
          <a:lstStyle/>
          <a:p>
            <a:pPr algn="l">
              <a:spcAft>
                <a:spcPts val="800"/>
              </a:spcAft>
            </a:pPr>
            <a:r>
              <a:rPr sz="1300" b="1" i="0">
                <a:solidFill>
                  <a:srgbClr val="5C6B75"/>
                </a:solidFill>
                <a:latin typeface="Calibri"/>
              </a:rPr>
              <a:t>mass × offset: </a:t>
            </a:r>
            <a:r>
              <a:rPr sz="1300" b="0" i="0">
                <a:solidFill>
                  <a:srgbClr val="5C6B75"/>
                </a:solidFill>
                <a:latin typeface="Calibri"/>
              </a:rPr>
              <a:t>the smallest over the offsets, so a safe reading; the same in every direction.</a:t>
            </a:r>
          </a:p>
          <a:p>
            <a:pPr algn="l">
              <a:spcAft>
                <a:spcPts val="800"/>
              </a:spcAft>
            </a:pPr>
            <a:r>
              <a:rPr sz="1300" b="1" i="0">
                <a:solidFill>
                  <a:srgbClr val="5C6B75"/>
                </a:solidFill>
                <a:latin typeface="Calibri"/>
              </a:rPr>
              <a:t>Raised payloads </a:t>
            </a:r>
            <a:r>
              <a:rPr sz="1300" b="0" i="0">
                <a:solidFill>
                  <a:srgbClr val="5C6B75"/>
                </a:solidFill>
                <a:latin typeface="Calibri"/>
              </a:rPr>
              <a:t>tilt further for the same moment: by 1 / (1 − m·H / 202 kg·m), H = CG height above the pins.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 raised payload tips the deck further</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CG 1.0 m above the deck, 0.2 m off centre: the raised mass leans out over the low side</a:t>
            </a:r>
          </a:p>
        </p:txBody>
      </p:sp>
      <p:pic>
        <p:nvPicPr>
          <p:cNvPr id="4" name="Picture 3" descr="pseq_raised.png"/>
          <p:cNvPicPr>
            <a:picLocks noChangeAspect="1"/>
          </p:cNvPicPr>
          <p:nvPr/>
        </p:nvPicPr>
        <p:blipFill>
          <a:blip r:embed="rId3"/>
          <a:stretch>
            <a:fillRect/>
          </a:stretch>
        </p:blipFill>
        <p:spPr>
          <a:xfrm>
            <a:off x="1020086" y="1417320"/>
            <a:ext cx="10121347" cy="3429000"/>
          </a:xfrm>
          <a:prstGeom prst="rect">
            <a:avLst/>
          </a:prstGeom>
        </p:spPr>
      </p:pic>
      <p:sp>
        <p:nvSpPr>
          <p:cNvPr id="5" name="Rounded Rectangle 4"/>
          <p:cNvSpPr/>
          <p:nvPr/>
        </p:nvSpPr>
        <p:spPr>
          <a:xfrm>
            <a:off x="54864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6636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112 kg</a:t>
            </a:r>
          </a:p>
        </p:txBody>
      </p:sp>
      <p:sp>
        <p:nvSpPr>
          <p:cNvPr id="7" name="TextBox 6"/>
          <p:cNvSpPr txBox="1"/>
          <p:nvPr/>
        </p:nvSpPr>
        <p:spPr>
          <a:xfrm>
            <a:off x="77724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limit at 0.2 m with the CG 1 m up (on the deck: 164 kg)</a:t>
            </a:r>
          </a:p>
        </p:txBody>
      </p:sp>
      <p:sp>
        <p:nvSpPr>
          <p:cNvPr id="8" name="Rounded Rectangle 7"/>
          <p:cNvSpPr/>
          <p:nvPr/>
        </p:nvSpPr>
        <p:spPr>
          <a:xfrm>
            <a:off x="434340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166360"/>
            <a:ext cx="30175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23°</a:t>
            </a:r>
          </a:p>
        </p:txBody>
      </p:sp>
      <p:sp>
        <p:nvSpPr>
          <p:cNvPr id="10" name="TextBox 9"/>
          <p:cNvSpPr txBox="1"/>
          <p:nvPr/>
        </p:nvSpPr>
        <p:spPr>
          <a:xfrm>
            <a:off x="457200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deck tilt at that limit (on the deck: 11°)</a:t>
            </a:r>
          </a:p>
        </p:txBody>
      </p:sp>
      <p:sp>
        <p:nvSpPr>
          <p:cNvPr id="11" name="Rounded Rectangle 10"/>
          <p:cNvSpPr/>
          <p:nvPr/>
        </p:nvSpPr>
        <p:spPr>
          <a:xfrm>
            <a:off x="813816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166360"/>
            <a:ext cx="3017520" cy="685800"/>
          </a:xfrm>
          <a:prstGeom prst="rect">
            <a:avLst/>
          </a:prstGeom>
          <a:noFill/>
        </p:spPr>
        <p:txBody>
          <a:bodyPr wrap="square" anchor="t" lIns="0" rIns="0">
            <a:spAutoFit/>
          </a:bodyPr>
          <a:lstStyle/>
          <a:p>
            <a:pPr algn="l">
              <a:spcAft>
                <a:spcPts val="600"/>
              </a:spcAft>
            </a:pPr>
            <a:r>
              <a:rPr sz="3400" b="1" i="0">
                <a:solidFill>
                  <a:srgbClr val="7B3FA0"/>
                </a:solidFill>
                <a:latin typeface="Calibri"/>
              </a:rPr>
              <a:t>170 kg</a:t>
            </a:r>
          </a:p>
        </p:txBody>
      </p:sp>
      <p:sp>
        <p:nvSpPr>
          <p:cNvPr id="13" name="TextBox 12"/>
          <p:cNvSpPr txBox="1"/>
          <p:nvPr/>
        </p:nvSpPr>
        <p:spPr>
          <a:xfrm>
            <a:off x="836676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centred, CG 1 m up: the level deck tips over before any pin is awash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How high can the payload's CG be?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Centred payload: its limit against the height of its CG above the deck</a:t>
            </a:r>
          </a:p>
        </p:txBody>
      </p:sp>
      <p:graphicFrame>
        <p:nvGraphicFramePr>
          <p:cNvPr id="4" name="Chart 3"/>
          <p:cNvGraphicFramePr>
            <a:graphicFrameLocks noGrp="1"/>
          </p:cNvGraphicFramePr>
          <p:nvPr/>
        </p:nvGraphicFramePr>
        <p:xfrm>
          <a:off x="457200" y="141732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463040"/>
            <a:ext cx="40233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The rule</a:t>
            </a:r>
          </a:p>
        </p:txBody>
      </p:sp>
      <p:sp>
        <p:nvSpPr>
          <p:cNvPr id="6" name="Rounded Rectangle 5"/>
          <p:cNvSpPr/>
          <p:nvPr/>
        </p:nvSpPr>
        <p:spPr>
          <a:xfrm>
            <a:off x="7680960" y="1965960"/>
            <a:ext cx="4023360" cy="11430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2057400"/>
            <a:ext cx="3657600" cy="1005840"/>
          </a:xfrm>
          <a:prstGeom prst="rect">
            <a:avLst/>
          </a:prstGeom>
          <a:noFill/>
        </p:spPr>
        <p:txBody>
          <a:bodyPr wrap="square" anchor="t" lIns="0" rIns="0">
            <a:spAutoFit/>
          </a:bodyPr>
          <a:lstStyle/>
          <a:p>
            <a:pPr algn="l">
              <a:spcAft>
                <a:spcPts val="200"/>
              </a:spcAft>
            </a:pPr>
            <a:r>
              <a:rPr sz="1500" b="1" i="0">
                <a:solidFill>
                  <a:srgbClr val="2B3A44"/>
                </a:solidFill>
                <a:latin typeface="Calibri"/>
              </a:rPr>
              <a:t>mass × CG height above the pins</a:t>
            </a:r>
          </a:p>
          <a:p>
            <a:pPr algn="l">
              <a:spcAft>
                <a:spcPts val="200"/>
              </a:spcAft>
            </a:pPr>
            <a:r>
              <a:rPr sz="2600" b="1" i="0">
                <a:solidFill>
                  <a:srgbClr val="B2432C"/>
                </a:solidFill>
                <a:latin typeface="Calibri"/>
              </a:rPr>
              <a:t>≤ 202 kg·m</a:t>
            </a:r>
          </a:p>
        </p:txBody>
      </p:sp>
      <p:graphicFrame>
        <p:nvGraphicFramePr>
          <p:cNvPr id="8" name="Table 7"/>
          <p:cNvGraphicFramePr>
            <a:graphicFrameLocks noGrp="1"/>
          </p:cNvGraphicFramePr>
          <p:nvPr/>
        </p:nvGraphicFramePr>
        <p:xfrm>
          <a:off x="7680960" y="3291840"/>
          <a:ext cx="4023360" cy="1463040"/>
        </p:xfrm>
        <a:graphic>
          <a:graphicData uri="http://schemas.openxmlformats.org/drawingml/2006/table">
            <a:tbl>
              <a:tblPr firstRow="1" bandRow="1">
                <a:tableStyleId>{5C22544A-7EE6-4342-B048-85BDC9FD1C3A}</a:tableStyleId>
              </a:tblPr>
              <a:tblGrid>
                <a:gridCol w="2011680"/>
                <a:gridCol w="2011680"/>
              </a:tblGrid>
              <a:tr h="365760">
                <a:tc>
                  <a:txBody>
                    <a:bodyPr/>
                    <a:lstStyle/>
                    <a:p>
                      <a:r>
                        <a:rPr sz="1400" b="1">
                          <a:solidFill>
                            <a:srgbClr val="FFFFFF"/>
                          </a:solidFill>
                          <a:latin typeface="Calibri"/>
                        </a:rPr>
                        <a:t>Payload</a:t>
                      </a:r>
                    </a:p>
                  </a:txBody>
                  <a:tcPr>
                    <a:solidFill>
                      <a:srgbClr val="0C8B96"/>
                    </a:solidFill>
                  </a:tcPr>
                </a:tc>
                <a:tc>
                  <a:txBody>
                    <a:bodyPr/>
                    <a:lstStyle/>
                    <a:p>
                      <a:r>
                        <a:rPr sz="1400" b="1">
                          <a:solidFill>
                            <a:srgbClr val="FFFFFF"/>
                          </a:solidFill>
                          <a:latin typeface="Calibri"/>
                        </a:rPr>
                        <a:t>CG at most above the deck</a:t>
                      </a:r>
                    </a:p>
                  </a:txBody>
                  <a:tcPr>
                    <a:solidFill>
                      <a:srgbClr val="0C8B96"/>
                    </a:solidFill>
                  </a:tcPr>
                </a:tc>
              </a:tr>
              <a:tr h="365760">
                <a:tc>
                  <a:txBody>
                    <a:bodyPr/>
                    <a:lstStyle/>
                    <a:p>
                      <a:r>
                        <a:rPr sz="1400" b="0">
                          <a:solidFill>
                            <a:srgbClr val="2B3A44"/>
                          </a:solidFill>
                          <a:latin typeface="Calibri"/>
                        </a:rPr>
                        <a:t>100 kg</a:t>
                      </a:r>
                    </a:p>
                  </a:txBody>
                  <a:tcPr>
                    <a:solidFill>
                      <a:srgbClr val="E4F2F4"/>
                    </a:solidFill>
                  </a:tcPr>
                </a:tc>
                <a:tc>
                  <a:txBody>
                    <a:bodyPr/>
                    <a:lstStyle/>
                    <a:p>
                      <a:r>
                        <a:rPr sz="1400" b="0">
                          <a:solidFill>
                            <a:srgbClr val="2B3A44"/>
                          </a:solidFill>
                          <a:latin typeface="Calibri"/>
                        </a:rPr>
                        <a:t>1.83 m</a:t>
                      </a:r>
                    </a:p>
                  </a:txBody>
                  <a:tcPr>
                    <a:solidFill>
                      <a:srgbClr val="E4F2F4"/>
                    </a:solidFill>
                  </a:tcPr>
                </a:tc>
              </a:tr>
              <a:tr h="365760">
                <a:tc>
                  <a:txBody>
                    <a:bodyPr/>
                    <a:lstStyle/>
                    <a:p>
                      <a:r>
                        <a:rPr sz="1400" b="0">
                          <a:solidFill>
                            <a:srgbClr val="2B3A44"/>
                          </a:solidFill>
                          <a:latin typeface="Calibri"/>
                        </a:rPr>
                        <a:t>150 kg</a:t>
                      </a:r>
                    </a:p>
                  </a:txBody>
                  <a:tcPr>
                    <a:solidFill>
                      <a:srgbClr val="FFFFFF"/>
                    </a:solidFill>
                  </a:tcPr>
                </a:tc>
                <a:tc>
                  <a:txBody>
                    <a:bodyPr/>
                    <a:lstStyle/>
                    <a:p>
                      <a:r>
                        <a:rPr sz="1400" b="0">
                          <a:solidFill>
                            <a:srgbClr val="2B3A44"/>
                          </a:solidFill>
                          <a:latin typeface="Calibri"/>
                        </a:rPr>
                        <a:t>1.16 m</a:t>
                      </a:r>
                    </a:p>
                  </a:txBody>
                  <a:tcPr>
                    <a:solidFill>
                      <a:srgbClr val="FFFFFF"/>
                    </a:solidFill>
                  </a:tcPr>
                </a:tc>
              </a:tr>
              <a:tr h="365760">
                <a:tc>
                  <a:txBody>
                    <a:bodyPr/>
                    <a:lstStyle/>
                    <a:p>
                      <a:r>
                        <a:rPr sz="1400" b="0">
                          <a:solidFill>
                            <a:srgbClr val="2B3A44"/>
                          </a:solidFill>
                          <a:latin typeface="Calibri"/>
                        </a:rPr>
                        <a:t>200 kg</a:t>
                      </a:r>
                    </a:p>
                  </a:txBody>
                  <a:tcPr>
                    <a:solidFill>
                      <a:srgbClr val="E4F2F4"/>
                    </a:solidFill>
                  </a:tcPr>
                </a:tc>
                <a:tc>
                  <a:txBody>
                    <a:bodyPr/>
                    <a:lstStyle/>
                    <a:p>
                      <a:r>
                        <a:rPr sz="1400" b="0">
                          <a:solidFill>
                            <a:srgbClr val="2B3A44"/>
                          </a:solidFill>
                          <a:latin typeface="Calibri"/>
                        </a:rPr>
                        <a:t>0.82 m</a:t>
                      </a:r>
                    </a:p>
                  </a:txBody>
                  <a:tcPr>
                    <a:solidFill>
                      <a:srgbClr val="E4F2F4"/>
                    </a:solidFill>
                  </a:tcPr>
                </a:tc>
              </a:tr>
            </a:tbl>
          </a:graphicData>
        </a:graphic>
      </p:graphicFrame>
      <p:sp>
        <p:nvSpPr>
          <p:cNvPr id="9" name="TextBox 8"/>
          <p:cNvSpPr txBox="1"/>
          <p:nvPr/>
        </p:nvSpPr>
        <p:spPr>
          <a:xfrm>
            <a:off x="7680960" y="4937760"/>
            <a:ext cx="4023360" cy="1645920"/>
          </a:xfrm>
          <a:prstGeom prst="rect">
            <a:avLst/>
          </a:prstGeom>
          <a:noFill/>
        </p:spPr>
        <p:txBody>
          <a:bodyPr wrap="square" anchor="t" lIns="0" rIns="0">
            <a:spAutoFit/>
          </a:bodyPr>
          <a:lstStyle/>
          <a:p>
            <a:pPr algn="l">
              <a:spcAft>
                <a:spcPts val="600"/>
              </a:spcAft>
            </a:pPr>
            <a:r>
              <a:rPr sz="1300" b="1" i="0">
                <a:solidFill>
                  <a:srgbClr val="5C6B75"/>
                </a:solidFill>
                <a:latin typeface="Calibri"/>
              </a:rPr>
              <a:t>Why: </a:t>
            </a:r>
            <a:r>
              <a:rPr sz="1300" b="0" i="0">
                <a:solidFill>
                  <a:srgbClr val="5C6B75"/>
                </a:solidFill>
                <a:latin typeface="Calibri"/>
              </a:rPr>
              <a:t>a raised mass moves sideways as the deck tilts; past this, its tipping moment beats the clusters' 1987 N·m/rad.</a:t>
            </a:r>
          </a:p>
          <a:p>
            <a:pPr algn="l">
              <a:spcAft>
                <a:spcPts val="600"/>
              </a:spcAft>
            </a:pPr>
            <a:r>
              <a:rPr sz="1300" b="1" i="0">
                <a:solidFill>
                  <a:srgbClr val="5C6B75"/>
                </a:solidFill>
                <a:latin typeface="Calibri"/>
              </a:rPr>
              <a:t>A stability limit, </a:t>
            </a:r>
            <a:r>
              <a:rPr sz="1300" b="0" i="0">
                <a:solidFill>
                  <a:srgbClr val="5C6B75"/>
                </a:solidFill>
                <a:latin typeface="Calibri"/>
              </a:rPr>
              <a:t>not a working value: near it, small offsets give large tilts.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happen</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mass rising from zero to the limit (animations play in slide show)</a:t>
            </a:r>
          </a:p>
        </p:txBody>
      </p:sp>
      <p:pic>
        <p:nvPicPr>
          <p:cNvPr id="4" name="Picture 3" descr="panim_centred.gif"/>
          <p:cNvPicPr>
            <a:picLocks noChangeAspect="1"/>
          </p:cNvPicPr>
          <p:nvPr/>
        </p:nvPicPr>
        <p:blipFill>
          <a:blip r:embed="rId3"/>
          <a:stretch>
            <a:fillRect/>
          </a:stretch>
        </p:blipFill>
        <p:spPr>
          <a:xfrm>
            <a:off x="502920" y="1417320"/>
            <a:ext cx="3657600" cy="3918857"/>
          </a:xfrm>
          <a:prstGeom prst="rect">
            <a:avLst/>
          </a:prstGeom>
        </p:spPr>
      </p:pic>
      <p:sp>
        <p:nvSpPr>
          <p:cNvPr id="5" name="TextBox 4"/>
          <p:cNvSpPr txBox="1"/>
          <p:nvPr/>
        </p:nvSpPr>
        <p:spPr>
          <a:xfrm>
            <a:off x="502920" y="544068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Centred, on the deck</a:t>
            </a:r>
          </a:p>
        </p:txBody>
      </p:sp>
      <p:pic>
        <p:nvPicPr>
          <p:cNvPr id="6" name="Picture 5" descr="panim_offset.gif"/>
          <p:cNvPicPr>
            <a:picLocks noChangeAspect="1"/>
          </p:cNvPicPr>
          <p:nvPr/>
        </p:nvPicPr>
        <p:blipFill>
          <a:blip r:embed="rId4"/>
          <a:stretch>
            <a:fillRect/>
          </a:stretch>
        </p:blipFill>
        <p:spPr>
          <a:xfrm>
            <a:off x="4297680" y="1417320"/>
            <a:ext cx="3657600" cy="3918857"/>
          </a:xfrm>
          <a:prstGeom prst="rect">
            <a:avLst/>
          </a:prstGeom>
        </p:spPr>
      </p:pic>
      <p:sp>
        <p:nvSpPr>
          <p:cNvPr id="7" name="TextBox 6"/>
          <p:cNvSpPr txBox="1"/>
          <p:nvPr/>
        </p:nvSpPr>
        <p:spPr>
          <a:xfrm>
            <a:off x="4297680" y="544068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1.2 m towards a corner</a:t>
            </a:r>
          </a:p>
        </p:txBody>
      </p:sp>
      <p:pic>
        <p:nvPicPr>
          <p:cNvPr id="8" name="Picture 7" descr="panim_raised.gif"/>
          <p:cNvPicPr>
            <a:picLocks noChangeAspect="1"/>
          </p:cNvPicPr>
          <p:nvPr/>
        </p:nvPicPr>
        <p:blipFill>
          <a:blip r:embed="rId5"/>
          <a:stretch>
            <a:fillRect/>
          </a:stretch>
        </p:blipFill>
        <p:spPr>
          <a:xfrm>
            <a:off x="8092440" y="1417320"/>
            <a:ext cx="3657600" cy="3918857"/>
          </a:xfrm>
          <a:prstGeom prst="rect">
            <a:avLst/>
          </a:prstGeom>
        </p:spPr>
      </p:pic>
      <p:sp>
        <p:nvSpPr>
          <p:cNvPr id="9" name="TextBox 8"/>
          <p:cNvSpPr txBox="1"/>
          <p:nvPr/>
        </p:nvSpPr>
        <p:spPr>
          <a:xfrm>
            <a:off x="8092440" y="544068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CG 1 m up, 0.2 m off centre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payload envelope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mass against its offset from the deck centre: limits (solid), raised CG (purple) and deck tilt (dashed)</a:t>
            </a:r>
          </a:p>
        </p:txBody>
      </p:sp>
      <p:graphicFrame>
        <p:nvGraphicFramePr>
          <p:cNvPr id="4" name="Chart 3"/>
          <p:cNvGraphicFramePr>
            <a:graphicFrameLocks noGrp="1"/>
          </p:cNvGraphicFramePr>
          <p:nvPr/>
        </p:nvGraphicFramePr>
        <p:xfrm>
          <a:off x="457200" y="1371600"/>
          <a:ext cx="7863840" cy="5257800"/>
        </p:xfrm>
        <a:graphic>
          <a:graphicData uri="http://schemas.openxmlformats.org/drawingml/2006/chart">
            <c:chart xmlns:c="http://schemas.openxmlformats.org/drawingml/2006/chart" r:id="rId3"/>
          </a:graphicData>
        </a:graphic>
      </p:graphicFrame>
      <p:sp>
        <p:nvSpPr>
          <p:cNvPr id="5" name="TextBox 4"/>
          <p:cNvSpPr txBox="1"/>
          <p:nvPr/>
        </p:nvSpPr>
        <p:spPr>
          <a:xfrm>
            <a:off x="8595360" y="1463040"/>
            <a:ext cx="31089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Reading it</a:t>
            </a:r>
          </a:p>
        </p:txBody>
      </p:sp>
      <p:sp>
        <p:nvSpPr>
          <p:cNvPr id="6" name="TextBox 5"/>
          <p:cNvSpPr txBox="1"/>
          <p:nvPr/>
        </p:nvSpPr>
        <p:spPr>
          <a:xfrm>
            <a:off x="8595360" y="1965960"/>
            <a:ext cx="3108960" cy="4572000"/>
          </a:xfrm>
          <a:prstGeom prst="rect">
            <a:avLst/>
          </a:prstGeom>
          <a:noFill/>
        </p:spPr>
        <p:txBody>
          <a:bodyPr wrap="square" anchor="t" lIns="0" rIns="0">
            <a:spAutoFit/>
          </a:bodyPr>
          <a:lstStyle/>
          <a:p>
            <a:pPr algn="l">
              <a:spcAft>
                <a:spcPts val="900"/>
              </a:spcAft>
            </a:pPr>
            <a:r>
              <a:rPr sz="1400" b="1" i="0">
                <a:solidFill>
                  <a:srgbClr val="2B3A44"/>
                </a:solidFill>
                <a:latin typeface="Calibri"/>
              </a:rPr>
              <a:t>Below a solid line: </a:t>
            </a:r>
            <a:r>
              <a:rPr sz="1400" b="0" i="0">
                <a:solidFill>
                  <a:srgbClr val="2B3A44"/>
                </a:solidFill>
                <a:latin typeface="Calibri"/>
              </a:rPr>
              <a:t>stable and pins dry, for that direction.</a:t>
            </a:r>
          </a:p>
          <a:p>
            <a:pPr algn="l">
              <a:spcAft>
                <a:spcPts val="900"/>
              </a:spcAft>
            </a:pPr>
            <a:r>
              <a:rPr sz="1400" b="1" i="0">
                <a:solidFill>
                  <a:srgbClr val="2B3A44"/>
                </a:solidFill>
                <a:latin typeface="Calibri"/>
              </a:rPr>
              <a:t>Worst direction: </a:t>
            </a:r>
            <a:r>
              <a:rPr sz="1400" b="0" i="0">
                <a:solidFill>
                  <a:srgbClr val="2B3A44"/>
                </a:solidFill>
                <a:latin typeface="Calibri"/>
              </a:rPr>
              <a:t>towards a hub (red), by up to 19 %.</a:t>
            </a:r>
          </a:p>
          <a:p>
            <a:pPr algn="l">
              <a:spcAft>
                <a:spcPts val="900"/>
              </a:spcAft>
            </a:pPr>
            <a:r>
              <a:rPr sz="1400" b="1" i="0">
                <a:solidFill>
                  <a:srgbClr val="2B3A44"/>
                </a:solidFill>
                <a:latin typeface="Calibri"/>
              </a:rPr>
              <a:t>Every limit: </a:t>
            </a:r>
            <a:r>
              <a:rPr sz="1400" b="0" i="0">
                <a:solidFill>
                  <a:srgbClr val="2B3A44"/>
                </a:solidFill>
                <a:latin typeface="Calibri"/>
              </a:rPr>
              <a:t>one cluster's pins awash; the deck never tips with the mass on it.</a:t>
            </a:r>
          </a:p>
          <a:p>
            <a:pPr algn="l">
              <a:spcAft>
                <a:spcPts val="900"/>
              </a:spcAft>
            </a:pPr>
            <a:r>
              <a:rPr sz="1400" b="1" i="0">
                <a:solidFill>
                  <a:srgbClr val="2B3A44"/>
                </a:solidFill>
                <a:latin typeface="Calibri"/>
              </a:rPr>
              <a:t>Purple: </a:t>
            </a:r>
            <a:r>
              <a:rPr sz="1400" b="0" i="0">
                <a:solidFill>
                  <a:srgbClr val="2B3A44"/>
                </a:solidFill>
                <a:latin typeface="Calibri"/>
              </a:rPr>
              <a:t>CG 0.5 m and 1.0 m above the deck: lower limits, and a tip-over when centred at 1.0 m.</a:t>
            </a:r>
          </a:p>
          <a:p>
            <a:pPr algn="l">
              <a:spcAft>
                <a:spcPts val="900"/>
              </a:spcAft>
            </a:pPr>
            <a:r>
              <a:rPr sz="1400" b="1" i="0">
                <a:solidFill>
                  <a:srgbClr val="2B3A44"/>
                </a:solidFill>
                <a:latin typeface="Calibri"/>
              </a:rPr>
              <a:t>Dashed: </a:t>
            </a:r>
            <a:r>
              <a:rPr sz="1400" b="0" i="0">
                <a:solidFill>
                  <a:srgbClr val="2B3A44"/>
                </a:solidFill>
                <a:latin typeface="Calibri"/>
              </a:rPr>
              <a:t>deck tilt 5° (darkest), 10°,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Mass and CG envelope of the whole platform</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Total mass against the horizontal offset of the platform's CG (unloaded 358.3 kg, level geometry, payload on the deck)</a:t>
            </a:r>
          </a:p>
        </p:txBody>
      </p:sp>
      <p:graphicFrame>
        <p:nvGraphicFramePr>
          <p:cNvPr id="4" name="Chart 3"/>
          <p:cNvGraphicFramePr>
            <a:graphicFrameLocks noGrp="1"/>
          </p:cNvGraphicFramePr>
          <p:nvPr/>
        </p:nvGraphicFramePr>
        <p:xfrm>
          <a:off x="457200" y="1371600"/>
          <a:ext cx="7863840" cy="5257800"/>
        </p:xfrm>
        <a:graphic>
          <a:graphicData uri="http://schemas.openxmlformats.org/drawingml/2006/chart">
            <c:chart xmlns:c="http://schemas.openxmlformats.org/drawingml/2006/chart" r:id="rId3"/>
          </a:graphicData>
        </a:graphic>
      </p:graphicFrame>
      <p:sp>
        <p:nvSpPr>
          <p:cNvPr id="5" name="TextBox 4"/>
          <p:cNvSpPr txBox="1"/>
          <p:nvPr/>
        </p:nvSpPr>
        <p:spPr>
          <a:xfrm>
            <a:off x="8595360" y="1463040"/>
            <a:ext cx="31089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At the limit</a:t>
            </a:r>
          </a:p>
        </p:txBody>
      </p:sp>
      <p:graphicFrame>
        <p:nvGraphicFramePr>
          <p:cNvPr id="6" name="Table 5"/>
          <p:cNvGraphicFramePr>
            <a:graphicFrameLocks noGrp="1"/>
          </p:cNvGraphicFramePr>
          <p:nvPr/>
        </p:nvGraphicFramePr>
        <p:xfrm>
          <a:off x="8595360" y="2011680"/>
          <a:ext cx="3108960" cy="3108960"/>
        </p:xfrm>
        <a:graphic>
          <a:graphicData uri="http://schemas.openxmlformats.org/drawingml/2006/table">
            <a:tbl>
              <a:tblPr firstRow="1" bandRow="1">
                <a:tableStyleId>{5C22544A-7EE6-4342-B048-85BDC9FD1C3A}</a:tableStyleId>
              </a:tblPr>
              <a:tblGrid>
                <a:gridCol w="1036320"/>
                <a:gridCol w="1036320"/>
                <a:gridCol w="1036320"/>
              </a:tblGrid>
              <a:tr h="388620">
                <a:tc>
                  <a:txBody>
                    <a:bodyPr/>
                    <a:lstStyle/>
                    <a:p>
                      <a:r>
                        <a:rPr sz="1300" b="1">
                          <a:solidFill>
                            <a:srgbClr val="FFFFFF"/>
                          </a:solidFill>
                          <a:latin typeface="Calibri"/>
                        </a:rPr>
                        <a:t>Payload at</a:t>
                      </a:r>
                    </a:p>
                  </a:txBody>
                  <a:tcPr>
                    <a:solidFill>
                      <a:srgbClr val="0C8B96"/>
                    </a:solidFill>
                  </a:tcPr>
                </a:tc>
                <a:tc>
                  <a:txBody>
                    <a:bodyPr/>
                    <a:lstStyle/>
                    <a:p>
                      <a:r>
                        <a:rPr sz="1300" b="1">
                          <a:solidFill>
                            <a:srgbClr val="FFFFFF"/>
                          </a:solidFill>
                          <a:latin typeface="Calibri"/>
                        </a:rPr>
                        <a:t>Total mass</a:t>
                      </a:r>
                    </a:p>
                  </a:txBody>
                  <a:tcPr>
                    <a:solidFill>
                      <a:srgbClr val="0C8B96"/>
                    </a:solidFill>
                  </a:tcPr>
                </a:tc>
                <a:tc>
                  <a:txBody>
                    <a:bodyPr/>
                    <a:lstStyle/>
                    <a:p>
                      <a:r>
                        <a:rPr sz="1300" b="1">
                          <a:solidFill>
                            <a:srgbClr val="FFFFFF"/>
                          </a:solidFill>
                          <a:latin typeface="Calibri"/>
                        </a:rPr>
                        <a:t>CG offset</a:t>
                      </a:r>
                    </a:p>
                  </a:txBody>
                  <a:tcPr>
                    <a:solidFill>
                      <a:srgbClr val="0C8B96"/>
                    </a:solidFill>
                  </a:tcPr>
                </a:tc>
              </a:tr>
              <a:tr h="388620">
                <a:tc>
                  <a:txBody>
                    <a:bodyPr/>
                    <a:lstStyle/>
                    <a:p>
                      <a:r>
                        <a:rPr sz="1300" b="0">
                          <a:solidFill>
                            <a:srgbClr val="2B3A44"/>
                          </a:solidFill>
                          <a:latin typeface="Calibri"/>
                        </a:rPr>
                        <a:t>0.0 m</a:t>
                      </a:r>
                    </a:p>
                  </a:txBody>
                  <a:tcPr>
                    <a:solidFill>
                      <a:srgbClr val="E4F2F4"/>
                    </a:solidFill>
                  </a:tcPr>
                </a:tc>
                <a:tc>
                  <a:txBody>
                    <a:bodyPr/>
                    <a:lstStyle/>
                    <a:p>
                      <a:r>
                        <a:rPr sz="1300" b="0">
                          <a:solidFill>
                            <a:srgbClr val="2B3A44"/>
                          </a:solidFill>
                          <a:latin typeface="Calibri"/>
                        </a:rPr>
                        <a:t>571 kg</a:t>
                      </a:r>
                    </a:p>
                  </a:txBody>
                  <a:tcPr>
                    <a:solidFill>
                      <a:srgbClr val="E4F2F4"/>
                    </a:solidFill>
                  </a:tcPr>
                </a:tc>
                <a:tc>
                  <a:txBody>
                    <a:bodyPr/>
                    <a:lstStyle/>
                    <a:p>
                      <a:r>
                        <a:rPr sz="1300" b="0">
                          <a:solidFill>
                            <a:srgbClr val="2B3A44"/>
                          </a:solidFill>
                          <a:latin typeface="Calibri"/>
                        </a:rPr>
                        <a:t>0 mm</a:t>
                      </a:r>
                    </a:p>
                  </a:txBody>
                  <a:tcPr>
                    <a:solidFill>
                      <a:srgbClr val="E4F2F4"/>
                    </a:solidFill>
                  </a:tcPr>
                </a:tc>
              </a:tr>
              <a:tr h="388620">
                <a:tc>
                  <a:txBody>
                    <a:bodyPr/>
                    <a:lstStyle/>
                    <a:p>
                      <a:r>
                        <a:rPr sz="1300" b="0">
                          <a:solidFill>
                            <a:srgbClr val="2B3A44"/>
                          </a:solidFill>
                          <a:latin typeface="Calibri"/>
                        </a:rPr>
                        <a:t>0.2 m</a:t>
                      </a:r>
                    </a:p>
                  </a:txBody>
                  <a:tcPr>
                    <a:solidFill>
                      <a:srgbClr val="FFFFFF"/>
                    </a:solidFill>
                  </a:tcPr>
                </a:tc>
                <a:tc>
                  <a:txBody>
                    <a:bodyPr/>
                    <a:lstStyle/>
                    <a:p>
                      <a:r>
                        <a:rPr sz="1300" b="0">
                          <a:solidFill>
                            <a:srgbClr val="2B3A44"/>
                          </a:solidFill>
                          <a:latin typeface="Calibri"/>
                        </a:rPr>
                        <a:t>509 kg</a:t>
                      </a:r>
                    </a:p>
                  </a:txBody>
                  <a:tcPr>
                    <a:solidFill>
                      <a:srgbClr val="FFFFFF"/>
                    </a:solidFill>
                  </a:tcPr>
                </a:tc>
                <a:tc>
                  <a:txBody>
                    <a:bodyPr/>
                    <a:lstStyle/>
                    <a:p>
                      <a:r>
                        <a:rPr sz="1300" b="0">
                          <a:solidFill>
                            <a:srgbClr val="2B3A44"/>
                          </a:solidFill>
                          <a:latin typeface="Calibri"/>
                        </a:rPr>
                        <a:t>59 mm</a:t>
                      </a:r>
                    </a:p>
                  </a:txBody>
                  <a:tcPr>
                    <a:solidFill>
                      <a:srgbClr val="FFFFFF"/>
                    </a:solidFill>
                  </a:tcPr>
                </a:tc>
              </a:tr>
              <a:tr h="388620">
                <a:tc>
                  <a:txBody>
                    <a:bodyPr/>
                    <a:lstStyle/>
                    <a:p>
                      <a:r>
                        <a:rPr sz="1300" b="0">
                          <a:solidFill>
                            <a:srgbClr val="2B3A44"/>
                          </a:solidFill>
                          <a:latin typeface="Calibri"/>
                        </a:rPr>
                        <a:t>0.4 m</a:t>
                      </a:r>
                    </a:p>
                  </a:txBody>
                  <a:tcPr>
                    <a:solidFill>
                      <a:srgbClr val="E4F2F4"/>
                    </a:solidFill>
                  </a:tcPr>
                </a:tc>
                <a:tc>
                  <a:txBody>
                    <a:bodyPr/>
                    <a:lstStyle/>
                    <a:p>
                      <a:r>
                        <a:rPr sz="1300" b="0">
                          <a:solidFill>
                            <a:srgbClr val="2B3A44"/>
                          </a:solidFill>
                          <a:latin typeface="Calibri"/>
                        </a:rPr>
                        <a:t>477 kg</a:t>
                      </a:r>
                    </a:p>
                  </a:txBody>
                  <a:tcPr>
                    <a:solidFill>
                      <a:srgbClr val="E4F2F4"/>
                    </a:solidFill>
                  </a:tcPr>
                </a:tc>
                <a:tc>
                  <a:txBody>
                    <a:bodyPr/>
                    <a:lstStyle/>
                    <a:p>
                      <a:r>
                        <a:rPr sz="1300" b="0">
                          <a:solidFill>
                            <a:srgbClr val="2B3A44"/>
                          </a:solidFill>
                          <a:latin typeface="Calibri"/>
                        </a:rPr>
                        <a:t>99 mm</a:t>
                      </a:r>
                    </a:p>
                  </a:txBody>
                  <a:tcPr>
                    <a:solidFill>
                      <a:srgbClr val="E4F2F4"/>
                    </a:solidFill>
                  </a:tcPr>
                </a:tc>
              </a:tr>
              <a:tr h="388620">
                <a:tc>
                  <a:txBody>
                    <a:bodyPr/>
                    <a:lstStyle/>
                    <a:p>
                      <a:r>
                        <a:rPr sz="1300" b="0">
                          <a:solidFill>
                            <a:srgbClr val="2B3A44"/>
                          </a:solidFill>
                          <a:latin typeface="Calibri"/>
                        </a:rPr>
                        <a:t>0.6 m</a:t>
                      </a:r>
                    </a:p>
                  </a:txBody>
                  <a:tcPr>
                    <a:solidFill>
                      <a:srgbClr val="FFFFFF"/>
                    </a:solidFill>
                  </a:tcPr>
                </a:tc>
                <a:tc>
                  <a:txBody>
                    <a:bodyPr/>
                    <a:lstStyle/>
                    <a:p>
                      <a:r>
                        <a:rPr sz="1300" b="0">
                          <a:solidFill>
                            <a:srgbClr val="2B3A44"/>
                          </a:solidFill>
                          <a:latin typeface="Calibri"/>
                        </a:rPr>
                        <a:t>456 kg</a:t>
                      </a:r>
                    </a:p>
                  </a:txBody>
                  <a:tcPr>
                    <a:solidFill>
                      <a:srgbClr val="FFFFFF"/>
                    </a:solidFill>
                  </a:tcPr>
                </a:tc>
                <a:tc>
                  <a:txBody>
                    <a:bodyPr/>
                    <a:lstStyle/>
                    <a:p>
                      <a:r>
                        <a:rPr sz="1300" b="0">
                          <a:solidFill>
                            <a:srgbClr val="2B3A44"/>
                          </a:solidFill>
                          <a:latin typeface="Calibri"/>
                        </a:rPr>
                        <a:t>128 mm</a:t>
                      </a:r>
                    </a:p>
                  </a:txBody>
                  <a:tcPr>
                    <a:solidFill>
                      <a:srgbClr val="FFFFFF"/>
                    </a:solidFill>
                  </a:tcPr>
                </a:tc>
              </a:tr>
              <a:tr h="388620">
                <a:tc>
                  <a:txBody>
                    <a:bodyPr/>
                    <a:lstStyle/>
                    <a:p>
                      <a:r>
                        <a:rPr sz="1300" b="0">
                          <a:solidFill>
                            <a:srgbClr val="2B3A44"/>
                          </a:solidFill>
                          <a:latin typeface="Calibri"/>
                        </a:rPr>
                        <a:t>0.8 m</a:t>
                      </a:r>
                    </a:p>
                  </a:txBody>
                  <a:tcPr>
                    <a:solidFill>
                      <a:srgbClr val="E4F2F4"/>
                    </a:solidFill>
                  </a:tcPr>
                </a:tc>
                <a:tc>
                  <a:txBody>
                    <a:bodyPr/>
                    <a:lstStyle/>
                    <a:p>
                      <a:r>
                        <a:rPr sz="1300" b="0">
                          <a:solidFill>
                            <a:srgbClr val="2B3A44"/>
                          </a:solidFill>
                          <a:latin typeface="Calibri"/>
                        </a:rPr>
                        <a:t>442 kg</a:t>
                      </a:r>
                    </a:p>
                  </a:txBody>
                  <a:tcPr>
                    <a:solidFill>
                      <a:srgbClr val="E4F2F4"/>
                    </a:solidFill>
                  </a:tcPr>
                </a:tc>
                <a:tc>
                  <a:txBody>
                    <a:bodyPr/>
                    <a:lstStyle/>
                    <a:p>
                      <a:r>
                        <a:rPr sz="1300" b="0">
                          <a:solidFill>
                            <a:srgbClr val="2B3A44"/>
                          </a:solidFill>
                          <a:latin typeface="Calibri"/>
                        </a:rPr>
                        <a:t>151 mm</a:t>
                      </a:r>
                    </a:p>
                  </a:txBody>
                  <a:tcPr>
                    <a:solidFill>
                      <a:srgbClr val="E4F2F4"/>
                    </a:solidFill>
                  </a:tcPr>
                </a:tc>
              </a:tr>
              <a:tr h="388620">
                <a:tc>
                  <a:txBody>
                    <a:bodyPr/>
                    <a:lstStyle/>
                    <a:p>
                      <a:r>
                        <a:rPr sz="1300" b="0">
                          <a:solidFill>
                            <a:srgbClr val="2B3A44"/>
                          </a:solidFill>
                          <a:latin typeface="Calibri"/>
                        </a:rPr>
                        <a:t>1.0 m</a:t>
                      </a:r>
                    </a:p>
                  </a:txBody>
                  <a:tcPr>
                    <a:solidFill>
                      <a:srgbClr val="FFFFFF"/>
                    </a:solidFill>
                  </a:tcPr>
                </a:tc>
                <a:tc>
                  <a:txBody>
                    <a:bodyPr/>
                    <a:lstStyle/>
                    <a:p>
                      <a:r>
                        <a:rPr sz="1300" b="0">
                          <a:solidFill>
                            <a:srgbClr val="2B3A44"/>
                          </a:solidFill>
                          <a:latin typeface="Calibri"/>
                        </a:rPr>
                        <a:t>431 kg</a:t>
                      </a:r>
                    </a:p>
                  </a:txBody>
                  <a:tcPr>
                    <a:solidFill>
                      <a:srgbClr val="FFFFFF"/>
                    </a:solidFill>
                  </a:tcPr>
                </a:tc>
                <a:tc>
                  <a:txBody>
                    <a:bodyPr/>
                    <a:lstStyle/>
                    <a:p>
                      <a:r>
                        <a:rPr sz="1300" b="0">
                          <a:solidFill>
                            <a:srgbClr val="2B3A44"/>
                          </a:solidFill>
                          <a:latin typeface="Calibri"/>
                        </a:rPr>
                        <a:t>169 mm</a:t>
                      </a:r>
                    </a:p>
                  </a:txBody>
                  <a:tcPr>
                    <a:solidFill>
                      <a:srgbClr val="FFFFFF"/>
                    </a:solidFill>
                  </a:tcPr>
                </a:tc>
              </a:tr>
              <a:tr h="388620">
                <a:tc>
                  <a:txBody>
                    <a:bodyPr/>
                    <a:lstStyle/>
                    <a:p>
                      <a:r>
                        <a:rPr sz="1300" b="0">
                          <a:solidFill>
                            <a:srgbClr val="2B3A44"/>
                          </a:solidFill>
                          <a:latin typeface="Calibri"/>
                        </a:rPr>
                        <a:t>1.2 m</a:t>
                      </a:r>
                    </a:p>
                  </a:txBody>
                  <a:tcPr>
                    <a:solidFill>
                      <a:srgbClr val="E4F2F4"/>
                    </a:solidFill>
                  </a:tcPr>
                </a:tc>
                <a:tc>
                  <a:txBody>
                    <a:bodyPr/>
                    <a:lstStyle/>
                    <a:p>
                      <a:r>
                        <a:rPr sz="1300" b="0">
                          <a:solidFill>
                            <a:srgbClr val="2B3A44"/>
                          </a:solidFill>
                          <a:latin typeface="Calibri"/>
                        </a:rPr>
                        <a:t>423 kg</a:t>
                      </a:r>
                    </a:p>
                  </a:txBody>
                  <a:tcPr>
                    <a:solidFill>
                      <a:srgbClr val="E4F2F4"/>
                    </a:solidFill>
                  </a:tcPr>
                </a:tc>
                <a:tc>
                  <a:txBody>
                    <a:bodyPr/>
                    <a:lstStyle/>
                    <a:p>
                      <a:r>
                        <a:rPr sz="1300" b="0">
                          <a:solidFill>
                            <a:srgbClr val="2B3A44"/>
                          </a:solidFill>
                          <a:latin typeface="Calibri"/>
                        </a:rPr>
                        <a:t>184 mm</a:t>
                      </a:r>
                    </a:p>
                  </a:txBody>
                  <a:tcPr>
                    <a:solidFill>
                      <a:srgbClr val="E4F2F4"/>
                    </a:solidFill>
                  </a:tcPr>
                </a:tc>
              </a:tr>
            </a:tbl>
          </a:graphicData>
        </a:graphic>
      </p:graphicFrame>
      <p:sp>
        <p:nvSpPr>
          <p:cNvPr id="7" name="TextBox 6"/>
          <p:cNvSpPr txBox="1"/>
          <p:nvPr/>
        </p:nvSpPr>
        <p:spPr>
          <a:xfrm>
            <a:off x="8595360" y="5303520"/>
            <a:ext cx="3108960" cy="1280160"/>
          </a:xfrm>
          <a:prstGeom prst="rect">
            <a:avLst/>
          </a:prstGeom>
          <a:noFill/>
        </p:spPr>
        <p:txBody>
          <a:bodyPr wrap="square" anchor="t" lIns="0" rIns="0">
            <a:spAutoFit/>
          </a:bodyPr>
          <a:lstStyle/>
          <a:p>
            <a:pPr algn="l">
              <a:spcAft>
                <a:spcPts val="600"/>
              </a:spcAft>
            </a:pPr>
            <a:r>
              <a:rPr sz="1200" b="0" i="0">
                <a:solidFill>
                  <a:srgbClr val="5C6B75"/>
                </a:solidFill>
                <a:latin typeface="Calibri"/>
              </a:rPr>
              <a:t>Worst direction (towards a hub). The CG offset is that of the whole platform with the payload, before it tilts.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Cluster and platform, side by side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Same buoys, same method; the platform spreads the buoys out and lifts the payload above the pins</a:t>
            </a:r>
          </a:p>
        </p:txBody>
      </p:sp>
      <p:graphicFrame>
        <p:nvGraphicFramePr>
          <p:cNvPr id="4" name="Table 3"/>
          <p:cNvGraphicFramePr>
            <a:graphicFrameLocks noGrp="1"/>
          </p:cNvGraphicFramePr>
          <p:nvPr/>
        </p:nvGraphicFramePr>
        <p:xfrm>
          <a:off x="548640" y="1508760"/>
          <a:ext cx="11064240" cy="4754880"/>
        </p:xfrm>
        <a:graphic>
          <a:graphicData uri="http://schemas.openxmlformats.org/drawingml/2006/table">
            <a:tbl>
              <a:tblPr firstRow="1" bandRow="1">
                <a:tableStyleId>{5C22544A-7EE6-4342-B048-85BDC9FD1C3A}</a:tableStyleId>
              </a:tblPr>
              <a:tblGrid>
                <a:gridCol w="3688080"/>
                <a:gridCol w="3688080"/>
                <a:gridCol w="3688080"/>
              </a:tblGrid>
              <a:tr h="475488">
                <a:tc>
                  <a:txBody>
                    <a:bodyPr/>
                    <a:lstStyle/>
                    <a:p/>
                  </a:txBody>
                  <a:tcPr>
                    <a:solidFill>
                      <a:srgbClr val="0C8B96"/>
                    </a:solidFill>
                  </a:tcPr>
                </a:tc>
                <a:tc>
                  <a:txBody>
                    <a:bodyPr/>
                    <a:lstStyle/>
                    <a:p>
                      <a:r>
                        <a:rPr sz="1500" b="1">
                          <a:solidFill>
                            <a:srgbClr val="FFFFFF"/>
                          </a:solidFill>
                          <a:latin typeface="Calibri"/>
                        </a:rPr>
                        <a:t>Cluster (4 buoys)</a:t>
                      </a:r>
                    </a:p>
                  </a:txBody>
                  <a:tcPr>
                    <a:solidFill>
                      <a:srgbClr val="0C8B96"/>
                    </a:solidFill>
                  </a:tcPr>
                </a:tc>
                <a:tc>
                  <a:txBody>
                    <a:bodyPr/>
                    <a:lstStyle/>
                    <a:p>
                      <a:r>
                        <a:rPr sz="1500" b="1">
                          <a:solidFill>
                            <a:srgbClr val="FFFFFF"/>
                          </a:solidFill>
                          <a:latin typeface="Calibri"/>
                        </a:rPr>
                        <a:t>Platform (16 buoys)</a:t>
                      </a:r>
                    </a:p>
                  </a:txBody>
                  <a:tcPr>
                    <a:solidFill>
                      <a:srgbClr val="0C8B96"/>
                    </a:solidFill>
                  </a:tcPr>
                </a:tc>
              </a:tr>
              <a:tr h="475488">
                <a:tc>
                  <a:txBody>
                    <a:bodyPr/>
                    <a:lstStyle/>
                    <a:p>
                      <a:r>
                        <a:rPr sz="1500" b="0">
                          <a:solidFill>
                            <a:srgbClr val="2B3A44"/>
                          </a:solidFill>
                          <a:latin typeface="Calibri"/>
                        </a:rPr>
                        <a:t>Unloaded mass</a:t>
                      </a:r>
                    </a:p>
                  </a:txBody>
                  <a:tcPr>
                    <a:solidFill>
                      <a:srgbClr val="E4F2F4"/>
                    </a:solidFill>
                  </a:tcPr>
                </a:tc>
                <a:tc>
                  <a:txBody>
                    <a:bodyPr/>
                    <a:lstStyle/>
                    <a:p>
                      <a:r>
                        <a:rPr sz="1500" b="0">
                          <a:solidFill>
                            <a:srgbClr val="2B3A44"/>
                          </a:solidFill>
                          <a:latin typeface="Calibri"/>
                        </a:rPr>
                        <a:t>88.1 kg</a:t>
                      </a:r>
                    </a:p>
                  </a:txBody>
                  <a:tcPr>
                    <a:solidFill>
                      <a:srgbClr val="E4F2F4"/>
                    </a:solidFill>
                  </a:tcPr>
                </a:tc>
                <a:tc>
                  <a:txBody>
                    <a:bodyPr/>
                    <a:lstStyle/>
                    <a:p>
                      <a:r>
                        <a:rPr sz="1500" b="0">
                          <a:solidFill>
                            <a:srgbClr val="2B3A44"/>
                          </a:solidFill>
                          <a:latin typeface="Calibri"/>
                        </a:rPr>
                        <a:t>358.3 kg</a:t>
                      </a:r>
                    </a:p>
                  </a:txBody>
                  <a:tcPr>
                    <a:solidFill>
                      <a:srgbClr val="E4F2F4"/>
                    </a:solidFill>
                  </a:tcPr>
                </a:tc>
              </a:tr>
              <a:tr h="475488">
                <a:tc>
                  <a:txBody>
                    <a:bodyPr/>
                    <a:lstStyle/>
                    <a:p>
                      <a:r>
                        <a:rPr sz="1500" b="0">
                          <a:solidFill>
                            <a:srgbClr val="2B3A44"/>
                          </a:solidFill>
                          <a:latin typeface="Calibri"/>
                        </a:rPr>
                        <a:t>Centred limit (pins awash)</a:t>
                      </a:r>
                    </a:p>
                  </a:txBody>
                  <a:tcPr>
                    <a:solidFill>
                      <a:srgbClr val="FFFFFF"/>
                    </a:solidFill>
                  </a:tcPr>
                </a:tc>
                <a:tc>
                  <a:txBody>
                    <a:bodyPr/>
                    <a:lstStyle/>
                    <a:p>
                      <a:r>
                        <a:rPr sz="1500" b="0">
                          <a:solidFill>
                            <a:srgbClr val="2B3A44"/>
                          </a:solidFill>
                          <a:latin typeface="Calibri"/>
                        </a:rPr>
                        <a:t>54.7 kg</a:t>
                      </a:r>
                    </a:p>
                  </a:txBody>
                  <a:tcPr>
                    <a:solidFill>
                      <a:srgbClr val="FFFFFF"/>
                    </a:solidFill>
                  </a:tcPr>
                </a:tc>
                <a:tc>
                  <a:txBody>
                    <a:bodyPr/>
                    <a:lstStyle/>
                    <a:p>
                      <a:r>
                        <a:rPr sz="1500" b="0">
                          <a:solidFill>
                            <a:srgbClr val="2B3A44"/>
                          </a:solidFill>
                          <a:latin typeface="Calibri"/>
                        </a:rPr>
                        <a:t>212.7 kg</a:t>
                      </a:r>
                    </a:p>
                  </a:txBody>
                  <a:tcPr>
                    <a:solidFill>
                      <a:srgbClr val="FFFFFF"/>
                    </a:solidFill>
                  </a:tcPr>
                </a:tc>
              </a:tr>
              <a:tr h="475488">
                <a:tc>
                  <a:txBody>
                    <a:bodyPr/>
                    <a:lstStyle/>
                    <a:p>
                      <a:r>
                        <a:rPr sz="1500" b="0">
                          <a:solidFill>
                            <a:srgbClr val="2B3A44"/>
                          </a:solidFill>
                          <a:latin typeface="Calibri"/>
                        </a:rPr>
                        <a:t>Sinkage per kg</a:t>
                      </a:r>
                    </a:p>
                  </a:txBody>
                  <a:tcPr>
                    <a:solidFill>
                      <a:srgbClr val="E4F2F4"/>
                    </a:solidFill>
                  </a:tcPr>
                </a:tc>
                <a:tc>
                  <a:txBody>
                    <a:bodyPr/>
                    <a:lstStyle/>
                    <a:p>
                      <a:r>
                        <a:rPr sz="1500" b="0">
                          <a:solidFill>
                            <a:srgbClr val="2B3A44"/>
                          </a:solidFill>
                          <a:latin typeface="Calibri"/>
                        </a:rPr>
                        <a:t>12.6 mm</a:t>
                      </a:r>
                    </a:p>
                  </a:txBody>
                  <a:tcPr>
                    <a:solidFill>
                      <a:srgbClr val="E4F2F4"/>
                    </a:solidFill>
                  </a:tcPr>
                </a:tc>
                <a:tc>
                  <a:txBody>
                    <a:bodyPr/>
                    <a:lstStyle/>
                    <a:p>
                      <a:r>
                        <a:rPr sz="1500" b="0">
                          <a:solidFill>
                            <a:srgbClr val="2B3A44"/>
                          </a:solidFill>
                          <a:latin typeface="Calibri"/>
                        </a:rPr>
                        <a:t>3.16 mm</a:t>
                      </a:r>
                    </a:p>
                  </a:txBody>
                  <a:tcPr>
                    <a:solidFill>
                      <a:srgbClr val="E4F2F4"/>
                    </a:solidFill>
                  </a:tcPr>
                </a:tc>
              </a:tr>
              <a:tr h="475488">
                <a:tc>
                  <a:txBody>
                    <a:bodyPr/>
                    <a:lstStyle/>
                    <a:p>
                      <a:r>
                        <a:rPr sz="1500" b="0">
                          <a:solidFill>
                            <a:srgbClr val="2B3A44"/>
                          </a:solidFill>
                          <a:latin typeface="Calibri"/>
                        </a:rPr>
                        <a:t>Tilt stiffness</a:t>
                      </a:r>
                    </a:p>
                  </a:txBody>
                  <a:tcPr>
                    <a:solidFill>
                      <a:srgbClr val="FFFFFF"/>
                    </a:solidFill>
                  </a:tcPr>
                </a:tc>
                <a:tc>
                  <a:txBody>
                    <a:bodyPr/>
                    <a:lstStyle/>
                    <a:p>
                      <a:r>
                        <a:rPr sz="1500" b="0">
                          <a:solidFill>
                            <a:srgbClr val="2B3A44"/>
                          </a:solidFill>
                          <a:latin typeface="Calibri"/>
                        </a:rPr>
                        <a:t>67 N·m/rad (hub)</a:t>
                      </a:r>
                    </a:p>
                  </a:txBody>
                  <a:tcPr>
                    <a:solidFill>
                      <a:srgbClr val="FFFFFF"/>
                    </a:solidFill>
                  </a:tcPr>
                </a:tc>
                <a:tc>
                  <a:txBody>
                    <a:bodyPr/>
                    <a:lstStyle/>
                    <a:p>
                      <a:r>
                        <a:rPr sz="1500" b="0">
                          <a:solidFill>
                            <a:srgbClr val="2B3A44"/>
                          </a:solidFill>
                          <a:latin typeface="Calibri"/>
                        </a:rPr>
                        <a:t>1987 N·m/rad (deck)</a:t>
                      </a:r>
                    </a:p>
                  </a:txBody>
                  <a:tcPr>
                    <a:solidFill>
                      <a:srgbClr val="FFFFFF"/>
                    </a:solidFill>
                  </a:tcPr>
                </a:tc>
              </a:tr>
              <a:tr h="475488">
                <a:tc>
                  <a:txBody>
                    <a:bodyPr/>
                    <a:lstStyle/>
                    <a:p>
                      <a:r>
                        <a:rPr sz="1500" b="0">
                          <a:solidFill>
                            <a:srgbClr val="2B3A44"/>
                          </a:solidFill>
                          <a:latin typeface="Calibri"/>
                        </a:rPr>
                        <a:t>Mass × offset for 5° of tilt</a:t>
                      </a:r>
                    </a:p>
                  </a:txBody>
                  <a:tcPr>
                    <a:solidFill>
                      <a:srgbClr val="E4F2F4"/>
                    </a:solidFill>
                  </a:tcPr>
                </a:tc>
                <a:tc>
                  <a:txBody>
                    <a:bodyPr/>
                    <a:lstStyle/>
                    <a:p>
                      <a:r>
                        <a:rPr sz="1500" b="0">
                          <a:solidFill>
                            <a:srgbClr val="2B3A44"/>
                          </a:solidFill>
                          <a:latin typeface="Calibri"/>
                        </a:rPr>
                        <a:t>0.60 kg·m</a:t>
                      </a:r>
                    </a:p>
                  </a:txBody>
                  <a:tcPr>
                    <a:solidFill>
                      <a:srgbClr val="E4F2F4"/>
                    </a:solidFill>
                  </a:tcPr>
                </a:tc>
                <a:tc>
                  <a:txBody>
                    <a:bodyPr/>
                    <a:lstStyle/>
                    <a:p>
                      <a:r>
                        <a:rPr sz="1500" b="0">
                          <a:solidFill>
                            <a:srgbClr val="2B3A44"/>
                          </a:solidFill>
                          <a:latin typeface="Calibri"/>
                        </a:rPr>
                        <a:t>15.1 kg·m</a:t>
                      </a:r>
                    </a:p>
                  </a:txBody>
                  <a:tcPr>
                    <a:solidFill>
                      <a:srgbClr val="E4F2F4"/>
                    </a:solidFill>
                  </a:tcPr>
                </a:tc>
              </a:tr>
              <a:tr h="475488">
                <a:tc>
                  <a:txBody>
                    <a:bodyPr/>
                    <a:lstStyle/>
                    <a:p>
                      <a:r>
                        <a:rPr sz="1500" b="0">
                          <a:solidFill>
                            <a:srgbClr val="2B3A44"/>
                          </a:solidFill>
                          <a:latin typeface="Calibri"/>
                        </a:rPr>
                        <a:t>What limits off-centre loads</a:t>
                      </a:r>
                    </a:p>
                  </a:txBody>
                  <a:tcPr>
                    <a:solidFill>
                      <a:srgbClr val="FFFFFF"/>
                    </a:solidFill>
                  </a:tcPr>
                </a:tc>
                <a:tc>
                  <a:txBody>
                    <a:bodyPr/>
                    <a:lstStyle/>
                    <a:p>
                      <a:r>
                        <a:rPr sz="1500" b="0">
                          <a:solidFill>
                            <a:srgbClr val="2B3A44"/>
                          </a:solidFill>
                          <a:latin typeface="Calibri"/>
                        </a:rPr>
                        <a:t>a pin awash; beyond ~0.3 m the hub rolls over</a:t>
                      </a:r>
                    </a:p>
                  </a:txBody>
                  <a:tcPr>
                    <a:solidFill>
                      <a:srgbClr val="FFFFFF"/>
                    </a:solidFill>
                  </a:tcPr>
                </a:tc>
                <a:tc>
                  <a:txBody>
                    <a:bodyPr/>
                    <a:lstStyle/>
                    <a:p>
                      <a:r>
                        <a:rPr sz="1500" b="0">
                          <a:solidFill>
                            <a:srgbClr val="2B3A44"/>
                          </a:solidFill>
                          <a:latin typeface="Calibri"/>
                        </a:rPr>
                        <a:t>a cluster's pins awash, at every offset</a:t>
                      </a:r>
                    </a:p>
                  </a:txBody>
                  <a:tcPr>
                    <a:solidFill>
                      <a:srgbClr val="FFFFFF"/>
                    </a:solidFill>
                  </a:tcPr>
                </a:tc>
              </a:tr>
              <a:tr h="475488">
                <a:tc>
                  <a:txBody>
                    <a:bodyPr/>
                    <a:lstStyle/>
                    <a:p>
                      <a:r>
                        <a:rPr sz="1500" b="0">
                          <a:solidFill>
                            <a:srgbClr val="2B3A44"/>
                          </a:solidFill>
                          <a:latin typeface="Calibri"/>
                        </a:rPr>
                        <a:t>Worst direction</a:t>
                      </a:r>
                    </a:p>
                  </a:txBody>
                  <a:tcPr>
                    <a:solidFill>
                      <a:srgbClr val="E4F2F4"/>
                    </a:solidFill>
                  </a:tcPr>
                </a:tc>
                <a:tc>
                  <a:txBody>
                    <a:bodyPr/>
                    <a:lstStyle/>
                    <a:p>
                      <a:r>
                        <a:rPr sz="1500" b="0">
                          <a:solidFill>
                            <a:srgbClr val="2B3A44"/>
                          </a:solidFill>
                          <a:latin typeface="Calibri"/>
                        </a:rPr>
                        <a:t>towards a buoy</a:t>
                      </a:r>
                    </a:p>
                  </a:txBody>
                  <a:tcPr>
                    <a:solidFill>
                      <a:srgbClr val="E4F2F4"/>
                    </a:solidFill>
                  </a:tcPr>
                </a:tc>
                <a:tc>
                  <a:txBody>
                    <a:bodyPr/>
                    <a:lstStyle/>
                    <a:p>
                      <a:r>
                        <a:rPr sz="1500" b="0">
                          <a:solidFill>
                            <a:srgbClr val="2B3A44"/>
                          </a:solidFill>
                          <a:latin typeface="Calibri"/>
                        </a:rPr>
                        <a:t>towards a hub (the diagonal)</a:t>
                      </a:r>
                    </a:p>
                  </a:txBody>
                  <a:tcPr>
                    <a:solidFill>
                      <a:srgbClr val="E4F2F4"/>
                    </a:solidFill>
                  </a:tcPr>
                </a:tc>
              </a:tr>
              <a:tr h="475488">
                <a:tc>
                  <a:txBody>
                    <a:bodyPr/>
                    <a:lstStyle/>
                    <a:p>
                      <a:r>
                        <a:rPr sz="1500" b="0">
                          <a:solidFill>
                            <a:srgbClr val="2B3A44"/>
                          </a:solidFill>
                          <a:latin typeface="Calibri"/>
                        </a:rPr>
                        <a:t>Raised payload</a:t>
                      </a:r>
                    </a:p>
                  </a:txBody>
                  <a:tcPr>
                    <a:solidFill>
                      <a:srgbClr val="FFFFFF"/>
                    </a:solidFill>
                  </a:tcPr>
                </a:tc>
                <a:tc>
                  <a:txBody>
                    <a:bodyPr/>
                    <a:lstStyle/>
                    <a:p>
                      <a:r>
                        <a:rPr sz="1500" b="0">
                          <a:solidFill>
                            <a:srgbClr val="2B3A44"/>
                          </a:solidFill>
                          <a:latin typeface="Calibri"/>
                        </a:rPr>
                        <a:t>not run (mass in the pin plane)</a:t>
                      </a:r>
                    </a:p>
                  </a:txBody>
                  <a:tcPr>
                    <a:solidFill>
                      <a:srgbClr val="FFFFFF"/>
                    </a:solidFill>
                  </a:tcPr>
                </a:tc>
                <a:tc>
                  <a:txBody>
                    <a:bodyPr/>
                    <a:lstStyle/>
                    <a:p>
                      <a:r>
                        <a:rPr sz="1500" b="0">
                          <a:solidFill>
                            <a:srgbClr val="2B3A44"/>
                          </a:solidFill>
                          <a:latin typeface="Calibri"/>
                        </a:rPr>
                        <a:t>mass × CG height above the pins ≤ 202 kg·m</a:t>
                      </a:r>
                    </a:p>
                  </a:txBody>
                  <a:tcPr>
                    <a:solidFill>
                      <a:srgbClr val="FFFFFF"/>
                    </a:solidFill>
                  </a:tcPr>
                </a:tc>
              </a:tr>
              <a:tr h="475488">
                <a:tc>
                  <a:txBody>
                    <a:bodyPr/>
                    <a:lstStyle/>
                    <a:p>
                      <a:r>
                        <a:rPr sz="1500" b="0">
                          <a:solidFill>
                            <a:srgbClr val="2B3A44"/>
                          </a:solidFill>
                          <a:latin typeface="Calibri"/>
                        </a:rPr>
                        <a:t>Buoys on their gimbals</a:t>
                      </a:r>
                    </a:p>
                  </a:txBody>
                  <a:tcPr>
                    <a:solidFill>
                      <a:srgbClr val="E4F2F4"/>
                    </a:solidFill>
                  </a:tcPr>
                </a:tc>
                <a:tc>
                  <a:txBody>
                    <a:bodyPr/>
                    <a:lstStyle/>
                    <a:p>
                      <a:r>
                        <a:rPr sz="1500" b="0">
                          <a:solidFill>
                            <a:srgbClr val="2B3A44"/>
                          </a:solidFill>
                          <a:latin typeface="Calibri"/>
                        </a:rPr>
                        <a:t>never flop</a:t>
                      </a:r>
                    </a:p>
                  </a:txBody>
                  <a:tcPr>
                    <a:solidFill>
                      <a:srgbClr val="E4F2F4"/>
                    </a:solidFill>
                  </a:tcPr>
                </a:tc>
                <a:tc>
                  <a:txBody>
                    <a:bodyPr/>
                    <a:lstStyle/>
                    <a:p>
                      <a:r>
                        <a:rPr sz="1500" b="0">
                          <a:solidFill>
                            <a:srgbClr val="2B3A44"/>
                          </a:solidFill>
                          <a:latin typeface="Calibri"/>
                        </a:rPr>
                        <a:t>never flop (margin ≥ 24 N·m/rad)</a:t>
                      </a:r>
                    </a:p>
                  </a:txBody>
                  <a:tcPr>
                    <a:solidFill>
                      <a:srgbClr val="E4F2F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Cross-checks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FloatSim's own platform model against the large-angle statics at small tilt</a:t>
            </a:r>
          </a:p>
        </p:txBody>
      </p:sp>
      <p:sp>
        <p:nvSpPr>
          <p:cNvPr id="4" name="Rounded Rectangle 3"/>
          <p:cNvSpPr/>
          <p:nvPr/>
        </p:nvSpPr>
        <p:spPr>
          <a:xfrm>
            <a:off x="548640" y="1645920"/>
            <a:ext cx="3291840" cy="17373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283464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0.001°</a:t>
            </a:r>
          </a:p>
        </p:txBody>
      </p:sp>
      <p:sp>
        <p:nvSpPr>
          <p:cNvPr id="6" name="TextBox 5"/>
          <p:cNvSpPr txBox="1"/>
          <p:nvPr/>
        </p:nvSpPr>
        <p:spPr>
          <a:xfrm>
            <a:off x="777240" y="2450592"/>
            <a:ext cx="2834640" cy="868680"/>
          </a:xfrm>
          <a:prstGeom prst="rect">
            <a:avLst/>
          </a:prstGeom>
          <a:noFill/>
        </p:spPr>
        <p:txBody>
          <a:bodyPr wrap="square" anchor="t" lIns="0" rIns="0">
            <a:spAutoFit/>
          </a:bodyPr>
          <a:lstStyle/>
          <a:p>
            <a:pPr algn="l">
              <a:spcAft>
                <a:spcPts val="600"/>
              </a:spcAft>
            </a:pPr>
            <a:r>
              <a:rPr sz="1300" b="0" i="0">
                <a:solidFill>
                  <a:srgbClr val="2B3A44"/>
                </a:solidFill>
                <a:latin typeface="Calibri"/>
              </a:rPr>
              <a:t>largest tilt difference, like for like (every weight in the pin plane)</a:t>
            </a:r>
          </a:p>
        </p:txBody>
      </p:sp>
      <p:sp>
        <p:nvSpPr>
          <p:cNvPr id="7" name="Rounded Rectangle 6"/>
          <p:cNvSpPr/>
          <p:nvPr/>
        </p:nvSpPr>
        <p:spPr>
          <a:xfrm>
            <a:off x="548640" y="3611880"/>
            <a:ext cx="3291840" cy="17373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749040"/>
            <a:ext cx="283464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+1.6 %</a:t>
            </a:r>
          </a:p>
        </p:txBody>
      </p:sp>
      <p:sp>
        <p:nvSpPr>
          <p:cNvPr id="9" name="TextBox 8"/>
          <p:cNvSpPr txBox="1"/>
          <p:nvPr/>
        </p:nvSpPr>
        <p:spPr>
          <a:xfrm>
            <a:off x="777240" y="4416552"/>
            <a:ext cx="2834640" cy="868680"/>
          </a:xfrm>
          <a:prstGeom prst="rect">
            <a:avLst/>
          </a:prstGeom>
          <a:noFill/>
        </p:spPr>
        <p:txBody>
          <a:bodyPr wrap="square" anchor="t" lIns="0" rIns="0">
            <a:spAutoFit/>
          </a:bodyPr>
          <a:lstStyle/>
          <a:p>
            <a:pPr algn="l">
              <a:spcAft>
                <a:spcPts val="600"/>
              </a:spcAft>
            </a:pPr>
            <a:r>
              <a:rPr sz="1300" b="0" i="0">
                <a:solidFill>
                  <a:srgbClr val="2B3A44"/>
                </a:solidFill>
                <a:latin typeface="Calibri"/>
              </a:rPr>
              <a:t>more tilt with the real deck and payload heights: the weight on top FloatSim omits</a:t>
            </a:r>
          </a:p>
        </p:txBody>
      </p:sp>
      <p:graphicFrame>
        <p:nvGraphicFramePr>
          <p:cNvPr id="10" name="Table 9"/>
          <p:cNvGraphicFramePr>
            <a:graphicFrameLocks noGrp="1"/>
          </p:cNvGraphicFramePr>
          <p:nvPr/>
        </p:nvGraphicFramePr>
        <p:xfrm>
          <a:off x="4206240" y="1645920"/>
          <a:ext cx="7406640" cy="2880360"/>
        </p:xfrm>
        <a:graphic>
          <a:graphicData uri="http://schemas.openxmlformats.org/drawingml/2006/table">
            <a:tbl>
              <a:tblPr firstRow="1" bandRow="1">
                <a:tableStyleId>{5C22544A-7EE6-4342-B048-85BDC9FD1C3A}</a:tableStyleId>
              </a:tblPr>
              <a:tblGrid>
                <a:gridCol w="1481328"/>
                <a:gridCol w="1481328"/>
                <a:gridCol w="1481328"/>
                <a:gridCol w="1481328"/>
                <a:gridCol w="1481328"/>
              </a:tblGrid>
              <a:tr h="411480">
                <a:tc>
                  <a:txBody>
                    <a:bodyPr/>
                    <a:lstStyle/>
                    <a:p>
                      <a:r>
                        <a:rPr sz="1300" b="1">
                          <a:solidFill>
                            <a:srgbClr val="FFFFFF"/>
                          </a:solidFill>
                          <a:latin typeface="Calibri"/>
                        </a:rPr>
                        <a:t>Payload</a:t>
                      </a:r>
                    </a:p>
                  </a:txBody>
                  <a:tcPr>
                    <a:solidFill>
                      <a:srgbClr val="0C8B96"/>
                    </a:solidFill>
                  </a:tcPr>
                </a:tc>
                <a:tc>
                  <a:txBody>
                    <a:bodyPr/>
                    <a:lstStyle/>
                    <a:p>
                      <a:r>
                        <a:rPr sz="1300" b="1">
                          <a:solidFill>
                            <a:srgbClr val="FFFFFF"/>
                          </a:solidFill>
                          <a:latin typeface="Calibri"/>
                        </a:rPr>
                        <a:t>Offset, direction</a:t>
                      </a:r>
                    </a:p>
                  </a:txBody>
                  <a:tcPr>
                    <a:solidFill>
                      <a:srgbClr val="0C8B96"/>
                    </a:solidFill>
                  </a:tcPr>
                </a:tc>
                <a:tc>
                  <a:txBody>
                    <a:bodyPr/>
                    <a:lstStyle/>
                    <a:p>
                      <a:r>
                        <a:rPr sz="1300" b="1">
                          <a:solidFill>
                            <a:srgbClr val="FFFFFF"/>
                          </a:solidFill>
                          <a:latin typeface="Calibri"/>
                        </a:rPr>
                        <a:t>FloatSim sinkage / tilt</a:t>
                      </a:r>
                    </a:p>
                  </a:txBody>
                  <a:tcPr>
                    <a:solidFill>
                      <a:srgbClr val="0C8B96"/>
                    </a:solidFill>
                  </a:tcPr>
                </a:tc>
                <a:tc>
                  <a:txBody>
                    <a:bodyPr/>
                    <a:lstStyle/>
                    <a:p>
                      <a:r>
                        <a:rPr sz="1300" b="1">
                          <a:solidFill>
                            <a:srgbClr val="FFFFFF"/>
                          </a:solidFill>
                          <a:latin typeface="Calibri"/>
                        </a:rPr>
                        <a:t>Statics, like for like</a:t>
                      </a:r>
                    </a:p>
                  </a:txBody>
                  <a:tcPr>
                    <a:solidFill>
                      <a:srgbClr val="0C8B96"/>
                    </a:solidFill>
                  </a:tcPr>
                </a:tc>
                <a:tc>
                  <a:txBody>
                    <a:bodyPr/>
                    <a:lstStyle/>
                    <a:p>
                      <a:r>
                        <a:rPr sz="1300" b="1">
                          <a:solidFill>
                            <a:srgbClr val="FFFFFF"/>
                          </a:solidFill>
                          <a:latin typeface="Calibri"/>
                        </a:rPr>
                        <a:t>Statics, real heights</a:t>
                      </a:r>
                    </a:p>
                  </a:txBody>
                  <a:tcPr>
                    <a:solidFill>
                      <a:srgbClr val="0C8B96"/>
                    </a:solidFill>
                  </a:tcPr>
                </a:tc>
              </a:tr>
              <a:tr h="411480">
                <a:tc>
                  <a:txBody>
                    <a:bodyPr/>
                    <a:lstStyle/>
                    <a:p>
                      <a:r>
                        <a:rPr sz="1300" b="0">
                          <a:solidFill>
                            <a:srgbClr val="2B3A44"/>
                          </a:solidFill>
                          <a:latin typeface="Calibri"/>
                        </a:rPr>
                        <a:t>10 kg</a:t>
                      </a:r>
                    </a:p>
                  </a:txBody>
                  <a:tcPr>
                    <a:solidFill>
                      <a:srgbClr val="E4F2F4"/>
                    </a:solidFill>
                  </a:tcPr>
                </a:tc>
                <a:tc>
                  <a:txBody>
                    <a:bodyPr/>
                    <a:lstStyle/>
                    <a:p>
                      <a:r>
                        <a:rPr sz="1300" b="0">
                          <a:solidFill>
                            <a:srgbClr val="2B3A44"/>
                          </a:solidFill>
                          <a:latin typeface="Calibri"/>
                        </a:rPr>
                        <a:t>0.0 m, 0°</a:t>
                      </a:r>
                    </a:p>
                  </a:txBody>
                  <a:tcPr>
                    <a:solidFill>
                      <a:srgbClr val="E4F2F4"/>
                    </a:solidFill>
                  </a:tcPr>
                </a:tc>
                <a:tc>
                  <a:txBody>
                    <a:bodyPr/>
                    <a:lstStyle/>
                    <a:p>
                      <a:r>
                        <a:rPr sz="1300" b="0">
                          <a:solidFill>
                            <a:srgbClr val="2B3A44"/>
                          </a:solidFill>
                          <a:latin typeface="Calibri"/>
                        </a:rPr>
                        <a:t>79.0 mm / 0.000°</a:t>
                      </a:r>
                    </a:p>
                  </a:txBody>
                  <a:tcPr>
                    <a:solidFill>
                      <a:srgbClr val="E4F2F4"/>
                    </a:solidFill>
                  </a:tcPr>
                </a:tc>
                <a:tc>
                  <a:txBody>
                    <a:bodyPr/>
                    <a:lstStyle/>
                    <a:p>
                      <a:r>
                        <a:rPr sz="1300" b="0">
                          <a:solidFill>
                            <a:srgbClr val="2B3A44"/>
                          </a:solidFill>
                          <a:latin typeface="Calibri"/>
                        </a:rPr>
                        <a:t>79.0 mm / 0.000°</a:t>
                      </a:r>
                    </a:p>
                  </a:txBody>
                  <a:tcPr>
                    <a:solidFill>
                      <a:srgbClr val="E4F2F4"/>
                    </a:solidFill>
                  </a:tcPr>
                </a:tc>
                <a:tc>
                  <a:txBody>
                    <a:bodyPr/>
                    <a:lstStyle/>
                    <a:p>
                      <a:r>
                        <a:rPr sz="1300" b="0">
                          <a:solidFill>
                            <a:srgbClr val="2B3A44"/>
                          </a:solidFill>
                          <a:latin typeface="Calibri"/>
                        </a:rPr>
                        <a:t>79.0 mm / 0.000°</a:t>
                      </a:r>
                    </a:p>
                  </a:txBody>
                  <a:tcPr>
                    <a:solidFill>
                      <a:srgbClr val="E4F2F4"/>
                    </a:solidFill>
                  </a:tcPr>
                </a:tc>
              </a:tr>
              <a:tr h="411480">
                <a:tc>
                  <a:txBody>
                    <a:bodyPr/>
                    <a:lstStyle/>
                    <a:p>
                      <a:r>
                        <a:rPr sz="1300" b="0">
                          <a:solidFill>
                            <a:srgbClr val="2B3A44"/>
                          </a:solidFill>
                          <a:latin typeface="Calibri"/>
                        </a:rPr>
                        <a:t>50 kg</a:t>
                      </a:r>
                    </a:p>
                  </a:txBody>
                  <a:tcPr>
                    <a:solidFill>
                      <a:srgbClr val="FFFFFF"/>
                    </a:solidFill>
                  </a:tcPr>
                </a:tc>
                <a:tc>
                  <a:txBody>
                    <a:bodyPr/>
                    <a:lstStyle/>
                    <a:p>
                      <a:r>
                        <a:rPr sz="1300" b="0">
                          <a:solidFill>
                            <a:srgbClr val="2B3A44"/>
                          </a:solidFill>
                          <a:latin typeface="Calibri"/>
                        </a:rPr>
                        <a:t>0.0 m, 0°</a:t>
                      </a:r>
                    </a:p>
                  </a:txBody>
                  <a:tcPr>
                    <a:solidFill>
                      <a:srgbClr val="FFFFFF"/>
                    </a:solidFill>
                  </a:tcPr>
                </a:tc>
                <a:tc>
                  <a:txBody>
                    <a:bodyPr/>
                    <a:lstStyle/>
                    <a:p>
                      <a:r>
                        <a:rPr sz="1300" b="0">
                          <a:solidFill>
                            <a:srgbClr val="2B3A44"/>
                          </a:solidFill>
                          <a:latin typeface="Calibri"/>
                        </a:rPr>
                        <a:t>210.6 mm / 0.000°</a:t>
                      </a:r>
                    </a:p>
                  </a:txBody>
                  <a:tcPr>
                    <a:solidFill>
                      <a:srgbClr val="FFFFFF"/>
                    </a:solidFill>
                  </a:tcPr>
                </a:tc>
                <a:tc>
                  <a:txBody>
                    <a:bodyPr/>
                    <a:lstStyle/>
                    <a:p>
                      <a:r>
                        <a:rPr sz="1300" b="0">
                          <a:solidFill>
                            <a:srgbClr val="2B3A44"/>
                          </a:solidFill>
                          <a:latin typeface="Calibri"/>
                        </a:rPr>
                        <a:t>210.6 mm / 0.000°</a:t>
                      </a:r>
                    </a:p>
                  </a:txBody>
                  <a:tcPr>
                    <a:solidFill>
                      <a:srgbClr val="FFFFFF"/>
                    </a:solidFill>
                  </a:tcPr>
                </a:tc>
                <a:tc>
                  <a:txBody>
                    <a:bodyPr/>
                    <a:lstStyle/>
                    <a:p>
                      <a:r>
                        <a:rPr sz="1300" b="0">
                          <a:solidFill>
                            <a:srgbClr val="2B3A44"/>
                          </a:solidFill>
                          <a:latin typeface="Calibri"/>
                        </a:rPr>
                        <a:t>210.6 mm / 0.000°</a:t>
                      </a:r>
                    </a:p>
                  </a:txBody>
                  <a:tcPr>
                    <a:solidFill>
                      <a:srgbClr val="FFFFFF"/>
                    </a:solidFill>
                  </a:tcPr>
                </a:tc>
              </a:tr>
              <a:tr h="411480">
                <a:tc>
                  <a:txBody>
                    <a:bodyPr/>
                    <a:lstStyle/>
                    <a:p>
                      <a:r>
                        <a:rPr sz="1300" b="0">
                          <a:solidFill>
                            <a:srgbClr val="2B3A44"/>
                          </a:solidFill>
                          <a:latin typeface="Calibri"/>
                        </a:rPr>
                        <a:t>5 kg</a:t>
                      </a:r>
                    </a:p>
                  </a:txBody>
                  <a:tcPr>
                    <a:solidFill>
                      <a:srgbClr val="E4F2F4"/>
                    </a:solidFill>
                  </a:tcPr>
                </a:tc>
                <a:tc>
                  <a:txBody>
                    <a:bodyPr/>
                    <a:lstStyle/>
                    <a:p>
                      <a:r>
                        <a:rPr sz="1300" b="0">
                          <a:solidFill>
                            <a:srgbClr val="2B3A44"/>
                          </a:solidFill>
                          <a:latin typeface="Calibri"/>
                        </a:rPr>
                        <a:t>0.5 m, 0°</a:t>
                      </a:r>
                    </a:p>
                  </a:txBody>
                  <a:tcPr>
                    <a:solidFill>
                      <a:srgbClr val="E4F2F4"/>
                    </a:solidFill>
                  </a:tcPr>
                </a:tc>
                <a:tc>
                  <a:txBody>
                    <a:bodyPr/>
                    <a:lstStyle/>
                    <a:p>
                      <a:r>
                        <a:rPr sz="1300" b="0">
                          <a:solidFill>
                            <a:srgbClr val="2B3A44"/>
                          </a:solidFill>
                          <a:latin typeface="Calibri"/>
                        </a:rPr>
                        <a:t>62.5 mm / 0.736°</a:t>
                      </a:r>
                    </a:p>
                  </a:txBody>
                  <a:tcPr>
                    <a:solidFill>
                      <a:srgbClr val="E4F2F4"/>
                    </a:solidFill>
                  </a:tcPr>
                </a:tc>
                <a:tc>
                  <a:txBody>
                    <a:bodyPr/>
                    <a:lstStyle/>
                    <a:p>
                      <a:r>
                        <a:rPr sz="1300" b="0">
                          <a:solidFill>
                            <a:srgbClr val="2B3A44"/>
                          </a:solidFill>
                          <a:latin typeface="Calibri"/>
                        </a:rPr>
                        <a:t>62.5 mm / 0.736°</a:t>
                      </a:r>
                    </a:p>
                  </a:txBody>
                  <a:tcPr>
                    <a:solidFill>
                      <a:srgbClr val="E4F2F4"/>
                    </a:solidFill>
                  </a:tcPr>
                </a:tc>
                <a:tc>
                  <a:txBody>
                    <a:bodyPr/>
                    <a:lstStyle/>
                    <a:p>
                      <a:r>
                        <a:rPr sz="1300" b="0">
                          <a:solidFill>
                            <a:srgbClr val="2B3A44"/>
                          </a:solidFill>
                          <a:latin typeface="Calibri"/>
                        </a:rPr>
                        <a:t>62.5 mm / 0.744°</a:t>
                      </a:r>
                    </a:p>
                  </a:txBody>
                  <a:tcPr>
                    <a:solidFill>
                      <a:srgbClr val="E4F2F4"/>
                    </a:solidFill>
                  </a:tcPr>
                </a:tc>
              </a:tr>
              <a:tr h="411480">
                <a:tc>
                  <a:txBody>
                    <a:bodyPr/>
                    <a:lstStyle/>
                    <a:p>
                      <a:r>
                        <a:rPr sz="1300" b="0">
                          <a:solidFill>
                            <a:srgbClr val="2B3A44"/>
                          </a:solidFill>
                          <a:latin typeface="Calibri"/>
                        </a:rPr>
                        <a:t>5 kg</a:t>
                      </a:r>
                    </a:p>
                  </a:txBody>
                  <a:tcPr>
                    <a:solidFill>
                      <a:srgbClr val="FFFFFF"/>
                    </a:solidFill>
                  </a:tcPr>
                </a:tc>
                <a:tc>
                  <a:txBody>
                    <a:bodyPr/>
                    <a:lstStyle/>
                    <a:p>
                      <a:r>
                        <a:rPr sz="1300" b="0">
                          <a:solidFill>
                            <a:srgbClr val="2B3A44"/>
                          </a:solidFill>
                          <a:latin typeface="Calibri"/>
                        </a:rPr>
                        <a:t>0.5 m, 45°</a:t>
                      </a:r>
                    </a:p>
                  </a:txBody>
                  <a:tcPr>
                    <a:solidFill>
                      <a:srgbClr val="FFFFFF"/>
                    </a:solidFill>
                  </a:tcPr>
                </a:tc>
                <a:tc>
                  <a:txBody>
                    <a:bodyPr/>
                    <a:lstStyle/>
                    <a:p>
                      <a:r>
                        <a:rPr sz="1300" b="0">
                          <a:solidFill>
                            <a:srgbClr val="2B3A44"/>
                          </a:solidFill>
                          <a:latin typeface="Calibri"/>
                        </a:rPr>
                        <a:t>62.5 mm / 0.736°</a:t>
                      </a:r>
                    </a:p>
                  </a:txBody>
                  <a:tcPr>
                    <a:solidFill>
                      <a:srgbClr val="FFFFFF"/>
                    </a:solidFill>
                  </a:tcPr>
                </a:tc>
                <a:tc>
                  <a:txBody>
                    <a:bodyPr/>
                    <a:lstStyle/>
                    <a:p>
                      <a:r>
                        <a:rPr sz="1300" b="0">
                          <a:solidFill>
                            <a:srgbClr val="2B3A44"/>
                          </a:solidFill>
                          <a:latin typeface="Calibri"/>
                        </a:rPr>
                        <a:t>62.5 mm / 0.736°</a:t>
                      </a:r>
                    </a:p>
                  </a:txBody>
                  <a:tcPr>
                    <a:solidFill>
                      <a:srgbClr val="FFFFFF"/>
                    </a:solidFill>
                  </a:tcPr>
                </a:tc>
                <a:tc>
                  <a:txBody>
                    <a:bodyPr/>
                    <a:lstStyle/>
                    <a:p>
                      <a:r>
                        <a:rPr sz="1300" b="0">
                          <a:solidFill>
                            <a:srgbClr val="2B3A44"/>
                          </a:solidFill>
                          <a:latin typeface="Calibri"/>
                        </a:rPr>
                        <a:t>62.5 mm / 0.744°</a:t>
                      </a:r>
                    </a:p>
                  </a:txBody>
                  <a:tcPr>
                    <a:solidFill>
                      <a:srgbClr val="FFFFFF"/>
                    </a:solidFill>
                  </a:tcPr>
                </a:tc>
              </a:tr>
              <a:tr h="411480">
                <a:tc>
                  <a:txBody>
                    <a:bodyPr/>
                    <a:lstStyle/>
                    <a:p>
                      <a:r>
                        <a:rPr sz="1300" b="0">
                          <a:solidFill>
                            <a:srgbClr val="2B3A44"/>
                          </a:solidFill>
                          <a:latin typeface="Calibri"/>
                        </a:rPr>
                        <a:t>10 kg</a:t>
                      </a:r>
                    </a:p>
                  </a:txBody>
                  <a:tcPr>
                    <a:solidFill>
                      <a:srgbClr val="E4F2F4"/>
                    </a:solidFill>
                  </a:tcPr>
                </a:tc>
                <a:tc>
                  <a:txBody>
                    <a:bodyPr/>
                    <a:lstStyle/>
                    <a:p>
                      <a:r>
                        <a:rPr sz="1300" b="0">
                          <a:solidFill>
                            <a:srgbClr val="2B3A44"/>
                          </a:solidFill>
                          <a:latin typeface="Calibri"/>
                        </a:rPr>
                        <a:t>1.0 m, 0°</a:t>
                      </a:r>
                    </a:p>
                  </a:txBody>
                  <a:tcPr>
                    <a:solidFill>
                      <a:srgbClr val="E4F2F4"/>
                    </a:solidFill>
                  </a:tcPr>
                </a:tc>
                <a:tc>
                  <a:txBody>
                    <a:bodyPr/>
                    <a:lstStyle/>
                    <a:p>
                      <a:r>
                        <a:rPr sz="1300" b="0">
                          <a:solidFill>
                            <a:srgbClr val="2B3A44"/>
                          </a:solidFill>
                          <a:latin typeface="Calibri"/>
                        </a:rPr>
                        <a:t>79.0 mm / 2.946°</a:t>
                      </a:r>
                    </a:p>
                  </a:txBody>
                  <a:tcPr>
                    <a:solidFill>
                      <a:srgbClr val="E4F2F4"/>
                    </a:solidFill>
                  </a:tcPr>
                </a:tc>
                <a:tc>
                  <a:txBody>
                    <a:bodyPr/>
                    <a:lstStyle/>
                    <a:p>
                      <a:r>
                        <a:rPr sz="1300" b="0">
                          <a:solidFill>
                            <a:srgbClr val="2B3A44"/>
                          </a:solidFill>
                          <a:latin typeface="Calibri"/>
                        </a:rPr>
                        <a:t>79.0 mm / 2.947°</a:t>
                      </a:r>
                    </a:p>
                  </a:txBody>
                  <a:tcPr>
                    <a:solidFill>
                      <a:srgbClr val="E4F2F4"/>
                    </a:solidFill>
                  </a:tcPr>
                </a:tc>
                <a:tc>
                  <a:txBody>
                    <a:bodyPr/>
                    <a:lstStyle/>
                    <a:p>
                      <a:r>
                        <a:rPr sz="1300" b="0">
                          <a:solidFill>
                            <a:srgbClr val="2B3A44"/>
                          </a:solidFill>
                          <a:latin typeface="Calibri"/>
                        </a:rPr>
                        <a:t>79.0 mm / 2.992°</a:t>
                      </a:r>
                    </a:p>
                  </a:txBody>
                  <a:tcPr>
                    <a:solidFill>
                      <a:srgbClr val="E4F2F4"/>
                    </a:solidFill>
                  </a:tcPr>
                </a:tc>
              </a:tr>
              <a:tr h="411480">
                <a:tc>
                  <a:txBody>
                    <a:bodyPr/>
                    <a:lstStyle/>
                    <a:p>
                      <a:r>
                        <a:rPr sz="1300" b="0">
                          <a:solidFill>
                            <a:srgbClr val="2B3A44"/>
                          </a:solidFill>
                          <a:latin typeface="Calibri"/>
                        </a:rPr>
                        <a:t>10 kg</a:t>
                      </a:r>
                    </a:p>
                  </a:txBody>
                  <a:tcPr>
                    <a:solidFill>
                      <a:srgbClr val="FFFFFF"/>
                    </a:solidFill>
                  </a:tcPr>
                </a:tc>
                <a:tc>
                  <a:txBody>
                    <a:bodyPr/>
                    <a:lstStyle/>
                    <a:p>
                      <a:r>
                        <a:rPr sz="1300" b="0">
                          <a:solidFill>
                            <a:srgbClr val="2B3A44"/>
                          </a:solidFill>
                          <a:latin typeface="Calibri"/>
                        </a:rPr>
                        <a:t>1.0 m, 30°</a:t>
                      </a:r>
                    </a:p>
                  </a:txBody>
                  <a:tcPr>
                    <a:solidFill>
                      <a:srgbClr val="FFFFFF"/>
                    </a:solidFill>
                  </a:tcPr>
                </a:tc>
                <a:tc>
                  <a:txBody>
                    <a:bodyPr/>
                    <a:lstStyle/>
                    <a:p>
                      <a:r>
                        <a:rPr sz="1300" b="0">
                          <a:solidFill>
                            <a:srgbClr val="2B3A44"/>
                          </a:solidFill>
                          <a:latin typeface="Calibri"/>
                        </a:rPr>
                        <a:t>79.0 mm / 2.946°</a:t>
                      </a:r>
                    </a:p>
                  </a:txBody>
                  <a:tcPr>
                    <a:solidFill>
                      <a:srgbClr val="FFFFFF"/>
                    </a:solidFill>
                  </a:tcPr>
                </a:tc>
                <a:tc>
                  <a:txBody>
                    <a:bodyPr/>
                    <a:lstStyle/>
                    <a:p>
                      <a:r>
                        <a:rPr sz="1300" b="0">
                          <a:solidFill>
                            <a:srgbClr val="2B3A44"/>
                          </a:solidFill>
                          <a:latin typeface="Calibri"/>
                        </a:rPr>
                        <a:t>79.0 mm / 2.947°</a:t>
                      </a:r>
                    </a:p>
                  </a:txBody>
                  <a:tcPr>
                    <a:solidFill>
                      <a:srgbClr val="FFFFFF"/>
                    </a:solidFill>
                  </a:tcPr>
                </a:tc>
                <a:tc>
                  <a:txBody>
                    <a:bodyPr/>
                    <a:lstStyle/>
                    <a:p>
                      <a:r>
                        <a:rPr sz="1300" b="0">
                          <a:solidFill>
                            <a:srgbClr val="2B3A44"/>
                          </a:solidFill>
                          <a:latin typeface="Calibri"/>
                        </a:rPr>
                        <a:t>79.0 mm / 2.992°</a:t>
                      </a:r>
                    </a:p>
                  </a:txBody>
                  <a:tcPr>
                    <a:solidFill>
                      <a:srgbClr val="FFFFFF"/>
                    </a:solidFill>
                  </a:tcPr>
                </a:tc>
              </a:tr>
            </a:tbl>
          </a:graphicData>
        </a:graphic>
      </p:graphicFrame>
      <p:sp>
        <p:nvSpPr>
          <p:cNvPr id="11" name="TextBox 10"/>
          <p:cNvSpPr txBox="1"/>
          <p:nvPr/>
        </p:nvSpPr>
        <p:spPr>
          <a:xfrm>
            <a:off x="4206240" y="4663440"/>
            <a:ext cx="7406640" cy="1097280"/>
          </a:xfrm>
          <a:prstGeom prst="rect">
            <a:avLst/>
          </a:prstGeom>
          <a:noFill/>
        </p:spPr>
        <p:txBody>
          <a:bodyPr wrap="square" anchor="t" lIns="0" rIns="0">
            <a:spAutoFit/>
          </a:bodyPr>
          <a:lstStyle/>
          <a:p>
            <a:pPr algn="l">
              <a:spcAft>
                <a:spcPts val="600"/>
              </a:spcAft>
            </a:pPr>
            <a:r>
              <a:rPr sz="1200" b="0" i="0">
                <a:solidFill>
                  <a:srgbClr val="5C6B75"/>
                </a:solidFill>
                <a:latin typeface="Calibri"/>
              </a:rPr>
              <a:t>Both on FloatSim's 12-panel hydrostatics (C33 186.3 N/m per buoy). Sinkage is measured from the unloaded draft and includes the deck's and hubs' 14 kg.</a:t>
            </a:r>
          </a:p>
        </p:txBody>
      </p:sp>
      <p:sp>
        <p:nvSpPr>
          <p:cNvPr id="12" name="Rounded Rectangle 11"/>
          <p:cNvSpPr/>
          <p:nvPr/>
        </p:nvSpPr>
        <p:spPr>
          <a:xfrm>
            <a:off x="4206240" y="5257800"/>
            <a:ext cx="7406640" cy="1463040"/>
          </a:xfrm>
          <a:prstGeom prst="roundRect">
            <a:avLst>
              <a:gd name="adj" fmla="val 6000"/>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5349240"/>
            <a:ext cx="6949440" cy="1325880"/>
          </a:xfrm>
          <a:prstGeom prst="rect">
            <a:avLst/>
          </a:prstGeom>
          <a:noFill/>
        </p:spPr>
        <p:txBody>
          <a:bodyPr wrap="square" anchor="t" lIns="0" rIns="0">
            <a:spAutoFit/>
          </a:bodyPr>
          <a:lstStyle/>
          <a:p>
            <a:pPr algn="l">
              <a:spcAft>
                <a:spcPts val="600"/>
              </a:spcAft>
            </a:pPr>
            <a:r>
              <a:rPr sz="1300" b="1" i="0">
                <a:solidFill>
                  <a:srgbClr val="2B3A44"/>
                </a:solidFill>
                <a:latin typeface="Calibri"/>
              </a:rPr>
              <a:t>Like for like: </a:t>
            </a:r>
            <a:r>
              <a:rPr sz="1300" b="0" i="0">
                <a:solidFill>
                  <a:srgbClr val="2B3A44"/>
                </a:solidFill>
                <a:latin typeface="Calibri"/>
              </a:rPr>
              <a:t>FloatSim's linear model has no weight term, so the statics put every weight in the pin plane too; then the two agree exactly.</a:t>
            </a:r>
          </a:p>
          <a:p>
            <a:pPr algn="l">
              <a:spcAft>
                <a:spcPts val="600"/>
              </a:spcAft>
            </a:pPr>
            <a:r>
              <a:rPr sz="1300" b="1" i="0">
                <a:solidFill>
                  <a:srgbClr val="2B3A44"/>
                </a:solidFill>
                <a:latin typeface="Calibri"/>
              </a:rPr>
              <a:t>Real heights: </a:t>
            </a:r>
            <a:r>
              <a:rPr sz="1300" b="0" i="0">
                <a:solidFill>
                  <a:srgbClr val="2B3A44"/>
                </a:solidFill>
                <a:latin typeface="Calibri"/>
              </a:rPr>
              <a:t>the deck 0.18 m above the pins and the payload on it. The extra tilt is the m g h effect FloatSim omits: small for these loads, but the effect that tips a raised payload.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What it means for loading the platform</a:t>
            </a:r>
          </a:p>
        </p:txBody>
      </p:sp>
      <p:sp>
        <p:nvSpPr>
          <p:cNvPr id="3" name="Rounded Rectangle 2"/>
          <p:cNvSpPr/>
          <p:nvPr/>
        </p:nvSpPr>
        <p:spPr>
          <a:xfrm>
            <a:off x="548640" y="1371600"/>
            <a:ext cx="5440680" cy="42062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5029200" cy="457200"/>
          </a:xfrm>
          <a:prstGeom prst="rect">
            <a:avLst/>
          </a:prstGeom>
          <a:noFill/>
        </p:spPr>
        <p:txBody>
          <a:bodyPr wrap="square" anchor="t" lIns="0" rIns="0">
            <a:spAutoFit/>
          </a:bodyPr>
          <a:lstStyle/>
          <a:p>
            <a:pPr algn="l">
              <a:spcAft>
                <a:spcPts val="600"/>
              </a:spcAft>
            </a:pPr>
            <a:r>
              <a:rPr sz="2000" b="1" i="0">
                <a:solidFill>
                  <a:srgbClr val="0C8B96"/>
                </a:solidFill>
                <a:latin typeface="Calibri"/>
              </a:rPr>
              <a:t>Guidance</a:t>
            </a:r>
          </a:p>
        </p:txBody>
      </p:sp>
      <p:sp>
        <p:nvSpPr>
          <p:cNvPr id="5" name="TextBox 4"/>
          <p:cNvSpPr txBox="1"/>
          <p:nvPr/>
        </p:nvSpPr>
        <p:spPr>
          <a:xfrm>
            <a:off x="777240" y="2103120"/>
            <a:ext cx="5029200" cy="3840480"/>
          </a:xfrm>
          <a:prstGeom prst="rect">
            <a:avLst/>
          </a:prstGeom>
          <a:noFill/>
        </p:spPr>
        <p:txBody>
          <a:bodyPr wrap="square" anchor="t" lIns="0" rIns="0">
            <a:spAutoFit/>
          </a:bodyPr>
          <a:lstStyle/>
          <a:p>
            <a:pPr algn="l">
              <a:spcAft>
                <a:spcPts val="900"/>
              </a:spcAft>
            </a:pPr>
            <a:r>
              <a:rPr sz="1500" b="1" i="0">
                <a:solidFill>
                  <a:srgbClr val="2B3A44"/>
                </a:solidFill>
                <a:latin typeface="Calibri"/>
              </a:rPr>
              <a:t>Keep the mass central and low. </a:t>
            </a:r>
            <a:r>
              <a:rPr sz="1500" b="0" i="0">
                <a:solidFill>
                  <a:srgbClr val="2B3A44"/>
                </a:solidFill>
                <a:latin typeface="Calibri"/>
              </a:rPr>
              <a:t>Centred on the deck: 213 kg before the pins are awash; it only sinks, 3.16 mm per kg.</a:t>
            </a:r>
          </a:p>
          <a:p>
            <a:pPr algn="l">
              <a:spcAft>
                <a:spcPts val="900"/>
              </a:spcAft>
            </a:pPr>
            <a:r>
              <a:rPr sz="1500" b="1" i="0">
                <a:solidFill>
                  <a:srgbClr val="2B3A44"/>
                </a:solidFill>
                <a:latin typeface="Calibri"/>
              </a:rPr>
              <a:t>Plan off-centre loads by deck tilt. </a:t>
            </a:r>
            <a:r>
              <a:rPr sz="1500" b="0" i="0">
                <a:solidFill>
                  <a:srgbClr val="2B3A44"/>
                </a:solidFill>
                <a:latin typeface="Calibri"/>
              </a:rPr>
              <a:t>5° ↔ 15 kg·m, 10° ↔ 30 kg·m, in every direction.</a:t>
            </a:r>
          </a:p>
          <a:p>
            <a:pPr algn="l">
              <a:spcAft>
                <a:spcPts val="900"/>
              </a:spcAft>
            </a:pPr>
            <a:r>
              <a:rPr sz="1500" b="1" i="0">
                <a:solidFill>
                  <a:srgbClr val="2B3A44"/>
                </a:solidFill>
                <a:latin typeface="Calibri"/>
              </a:rPr>
              <a:t>Mind the payload's CG height. </a:t>
            </a:r>
            <a:r>
              <a:rPr sz="1500" b="0" i="0">
                <a:solidFill>
                  <a:srgbClr val="2B3A44"/>
                </a:solidFill>
                <a:latin typeface="Calibri"/>
              </a:rPr>
              <a:t>Mass × CG height above the pins must stay well below 202 kg·m: e.g. 150 kg with its CG no more than 1.2 m above the deck, as a stability limit.</a:t>
            </a:r>
          </a:p>
          <a:p>
            <a:pPr algn="l">
              <a:spcAft>
                <a:spcPts val="900"/>
              </a:spcAft>
            </a:pPr>
            <a:r>
              <a:rPr sz="1500" b="1" i="0">
                <a:solidFill>
                  <a:srgbClr val="2B3A44"/>
                </a:solidFill>
                <a:latin typeface="Calibri"/>
              </a:rPr>
              <a:t>Worst direction: </a:t>
            </a:r>
            <a:r>
              <a:rPr sz="1500" b="0" i="0">
                <a:solidFill>
                  <a:srgbClr val="2B3A44"/>
                </a:solidFill>
                <a:latin typeface="Calibri"/>
              </a:rPr>
              <a:t>towards a hub, by up to 19 % on the limit.</a:t>
            </a:r>
          </a:p>
        </p:txBody>
      </p:sp>
      <p:sp>
        <p:nvSpPr>
          <p:cNvPr id="6" name="Rounded Rectangle 5"/>
          <p:cNvSpPr/>
          <p:nvPr/>
        </p:nvSpPr>
        <p:spPr>
          <a:xfrm>
            <a:off x="6217920" y="1371600"/>
            <a:ext cx="5440680" cy="420624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5029200" cy="457200"/>
          </a:xfrm>
          <a:prstGeom prst="rect">
            <a:avLst/>
          </a:prstGeom>
          <a:noFill/>
        </p:spPr>
        <p:txBody>
          <a:bodyPr wrap="square" anchor="t" lIns="0" rIns="0">
            <a:spAutoFit/>
          </a:bodyPr>
          <a:lstStyle/>
          <a:p>
            <a:pPr algn="l">
              <a:spcAft>
                <a:spcPts val="600"/>
              </a:spcAft>
            </a:pPr>
            <a:r>
              <a:rPr sz="2000" b="1" i="0">
                <a:solidFill>
                  <a:srgbClr val="B2432C"/>
                </a:solidFill>
                <a:latin typeface="Calibri"/>
              </a:rPr>
              <a:t>Not included</a:t>
            </a:r>
          </a:p>
        </p:txBody>
      </p:sp>
      <p:sp>
        <p:nvSpPr>
          <p:cNvPr id="8" name="TextBox 7"/>
          <p:cNvSpPr txBox="1"/>
          <p:nvPr/>
        </p:nvSpPr>
        <p:spPr>
          <a:xfrm>
            <a:off x="6446520" y="2103120"/>
            <a:ext cx="5029200" cy="3840480"/>
          </a:xfrm>
          <a:prstGeom prst="rect">
            <a:avLst/>
          </a:prstGeom>
          <a:noFill/>
        </p:spPr>
        <p:txBody>
          <a:bodyPr wrap="square" anchor="t" lIns="0" rIns="0">
            <a:spAutoFit/>
          </a:bodyPr>
          <a:lstStyle/>
          <a:p>
            <a:pPr algn="l">
              <a:spcAft>
                <a:spcPts val="900"/>
              </a:spcAft>
            </a:pPr>
            <a:r>
              <a:rPr sz="1500" b="1" i="0">
                <a:solidFill>
                  <a:srgbClr val="2B3A44"/>
                </a:solidFill>
                <a:latin typeface="Calibri"/>
              </a:rPr>
              <a:t>Waves and dynamics: </a:t>
            </a:r>
            <a:r>
              <a:rPr sz="1500" b="0" i="0">
                <a:solidFill>
                  <a:srgbClr val="2B3A44"/>
                </a:solidFill>
                <a:latin typeface="Calibri"/>
              </a:rPr>
              <a:t>calm-water statics; waves reduce the margins, most for raised payloads.</a:t>
            </a:r>
          </a:p>
          <a:p>
            <a:pPr algn="l">
              <a:spcAft>
                <a:spcPts val="900"/>
              </a:spcAft>
            </a:pPr>
            <a:r>
              <a:rPr sz="1500" b="1" i="0">
                <a:solidFill>
                  <a:srgbClr val="2B3A44"/>
                </a:solidFill>
                <a:latin typeface="Calibri"/>
              </a:rPr>
              <a:t>The mooring: </a:t>
            </a:r>
            <a:r>
              <a:rPr sz="1500" b="0" i="0">
                <a:solidFill>
                  <a:srgbClr val="2B3A44"/>
                </a:solidFill>
                <a:latin typeface="Calibri"/>
              </a:rPr>
              <a:t>free-floating; the mooring's lean and line loads are not included.</a:t>
            </a:r>
          </a:p>
          <a:p>
            <a:pPr algn="l">
              <a:spcAft>
                <a:spcPts val="900"/>
              </a:spcAft>
            </a:pPr>
            <a:r>
              <a:rPr sz="1500" b="1" i="0">
                <a:solidFill>
                  <a:srgbClr val="2B3A44"/>
                </a:solidFill>
                <a:latin typeface="Calibri"/>
              </a:rPr>
              <a:t>Payload shape: </a:t>
            </a:r>
            <a:r>
              <a:rPr sz="1500" b="0" i="0">
                <a:solidFill>
                  <a:srgbClr val="2B3A44"/>
                </a:solidFill>
                <a:latin typeface="Calibri"/>
              </a:rPr>
              <a:t>a point mass; a wide payload spreads its load, which the envelope treats as its CG.</a:t>
            </a:r>
          </a:p>
          <a:p>
            <a:pPr algn="l">
              <a:spcAft>
                <a:spcPts val="900"/>
              </a:spcAft>
            </a:pPr>
            <a:r>
              <a:rPr sz="1500" b="1" i="0">
                <a:solidFill>
                  <a:srgbClr val="2B3A44"/>
                </a:solidFill>
                <a:latin typeface="Calibri"/>
              </a:rPr>
              <a:t>Hardware: </a:t>
            </a:r>
            <a:r>
              <a:rPr sz="1500" b="0" i="0">
                <a:solidFill>
                  <a:srgbClr val="2B3A44"/>
                </a:solidFill>
                <a:latin typeface="Calibri"/>
              </a:rPr>
              <a:t>gimbal travel, the deck's own stiffness and payload retention are not modelled. The buoys never come close to touching (0.47 m between axes at worst).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